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6164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_rect_001"/>
          <p:cNvSpPr/>
          <p:nvPr/>
        </p:nvSpPr>
        <p:spPr>
          <a:xfrm>
            <a:off x="0" y="0"/>
            <a:ext cx="12191999" cy="68616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pi_mscl_figure__panel_a__rect_002"/>
          <p:cNvSpPr/>
          <p:nvPr/>
        </p:nvSpPr>
        <p:spPr>
          <a:xfrm>
            <a:off x="72918" y="72918"/>
            <a:ext cx="12046162" cy="3463636"/>
          </a:xfrm>
          <a:prstGeom prst="roundRect">
            <a:avLst>
              <a:gd name="adj" fmla="val 273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module__pi_mscl_figure__panel_a__model_connectors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" name="pi_mscl_figure__panel_a__model_connectors__polyline_001"/>
            <p:cNvSpPr/>
            <p:nvPr/>
          </p:nvSpPr>
          <p:spPr>
            <a:xfrm>
              <a:off x="1793586" y="1035322"/>
              <a:ext cx="554116" cy="845756"/>
            </a:xfrm>
            <a:custGeom>
              <a:avLst/>
              <a:gdLst/>
              <a:ahLst/>
              <a:cxnLst/>
              <a:rect l="l" t="t" r="r" b="b"/>
              <a:pathLst>
                <a:path w="76" h="116">
                  <a:moveTo>
                    <a:pt x="0" y="116"/>
                  </a:moveTo>
                  <a:lnTo>
                    <a:pt x="0" y="0"/>
                  </a:lnTo>
                  <a:lnTo>
                    <a:pt x="76" y="0"/>
                  </a:lnTo>
                </a:path>
              </a:pathLst>
            </a:custGeom>
            <a:noFill/>
            <a:ln w="13125">
              <a:solidFill>
                <a:srgbClr val="0A5AA6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pi_mscl_figure__panel_a__model_connectors__polygon_001"/>
            <p:cNvSpPr/>
            <p:nvPr/>
          </p:nvSpPr>
          <p:spPr>
            <a:xfrm>
              <a:off x="2289374" y="1006158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0A5A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pi_mscl_figure__panel_a__model_connectors__polyline_002"/>
            <p:cNvSpPr/>
            <p:nvPr/>
          </p:nvSpPr>
          <p:spPr>
            <a:xfrm>
              <a:off x="1509237" y="1881078"/>
              <a:ext cx="838465" cy="0"/>
            </a:xfrm>
            <a:custGeom>
              <a:avLst/>
              <a:gdLst/>
              <a:ahLst/>
              <a:cxnLst/>
              <a:rect l="l" t="t" r="r" b="b"/>
              <a:pathLst>
                <a:path w="115" h="0">
                  <a:moveTo>
                    <a:pt x="0" y="0"/>
                  </a:moveTo>
                  <a:lnTo>
                    <a:pt x="115" y="0"/>
                  </a:lnTo>
                </a:path>
              </a:pathLst>
            </a:custGeom>
            <a:noFill/>
            <a:ln w="13125">
              <a:solidFill>
                <a:srgbClr val="14812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pi_mscl_figure__panel_a__model_connectors__polygon_002"/>
            <p:cNvSpPr/>
            <p:nvPr/>
          </p:nvSpPr>
          <p:spPr>
            <a:xfrm>
              <a:off x="2289374" y="1851914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14812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pi_mscl_figure__panel_a__model_connectors__polyline_003"/>
            <p:cNvSpPr/>
            <p:nvPr/>
          </p:nvSpPr>
          <p:spPr>
            <a:xfrm>
              <a:off x="1793586" y="1881078"/>
              <a:ext cx="554116" cy="838465"/>
            </a:xfrm>
            <a:custGeom>
              <a:avLst/>
              <a:gdLst/>
              <a:ahLst/>
              <a:cxnLst/>
              <a:rect l="l" t="t" r="r" b="b"/>
              <a:pathLst>
                <a:path w="76" h="115">
                  <a:moveTo>
                    <a:pt x="0" y="0"/>
                  </a:moveTo>
                  <a:lnTo>
                    <a:pt x="0" y="115"/>
                  </a:lnTo>
                  <a:lnTo>
                    <a:pt x="76" y="115"/>
                  </a:lnTo>
                </a:path>
              </a:pathLst>
            </a:custGeom>
            <a:noFill/>
            <a:ln w="13125">
              <a:solidFill>
                <a:srgbClr val="6842A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pi_mscl_figure__panel_a__model_connectors__polygon_003"/>
            <p:cNvSpPr/>
            <p:nvPr/>
          </p:nvSpPr>
          <p:spPr>
            <a:xfrm>
              <a:off x="2289374" y="2690379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6842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pi_mscl_figure__panel_a__model_connectors__polyline_004"/>
            <p:cNvSpPr/>
            <p:nvPr/>
          </p:nvSpPr>
          <p:spPr>
            <a:xfrm>
              <a:off x="5089118" y="1035322"/>
              <a:ext cx="597862" cy="845756"/>
            </a:xfrm>
            <a:custGeom>
              <a:avLst/>
              <a:gdLst/>
              <a:ahLst/>
              <a:cxnLst/>
              <a:rect l="l" t="t" r="r" b="b"/>
              <a:pathLst>
                <a:path w="82" h="116">
                  <a:moveTo>
                    <a:pt x="0" y="0"/>
                  </a:moveTo>
                  <a:lnTo>
                    <a:pt x="42" y="0"/>
                  </a:lnTo>
                  <a:lnTo>
                    <a:pt x="42" y="104"/>
                  </a:lnTo>
                  <a:lnTo>
                    <a:pt x="62" y="116"/>
                  </a:lnTo>
                  <a:lnTo>
                    <a:pt x="82" y="116"/>
                  </a:lnTo>
                </a:path>
              </a:pathLst>
            </a:custGeom>
            <a:noFill/>
            <a:ln w="13125">
              <a:solidFill>
                <a:srgbClr val="0A5AA6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pi_mscl_figure__panel_a__model_connectors__polygon_004"/>
            <p:cNvSpPr/>
            <p:nvPr/>
          </p:nvSpPr>
          <p:spPr>
            <a:xfrm>
              <a:off x="5628652" y="1851914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0A5A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pi_mscl_figure__panel_a__model_connectors__polyline_005"/>
            <p:cNvSpPr/>
            <p:nvPr/>
          </p:nvSpPr>
          <p:spPr>
            <a:xfrm>
              <a:off x="5089118" y="1881078"/>
              <a:ext cx="597862" cy="0"/>
            </a:xfrm>
            <a:custGeom>
              <a:avLst/>
              <a:gdLst/>
              <a:ahLst/>
              <a:cxnLst/>
              <a:rect l="l" t="t" r="r" b="b"/>
              <a:pathLst>
                <a:path w="82" h="0">
                  <a:moveTo>
                    <a:pt x="0" y="0"/>
                  </a:moveTo>
                  <a:lnTo>
                    <a:pt x="82" y="0"/>
                  </a:lnTo>
                </a:path>
              </a:pathLst>
            </a:custGeom>
            <a:noFill/>
            <a:ln w="13125">
              <a:solidFill>
                <a:srgbClr val="14812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pi_mscl_figure__panel_a__model_connectors__polygon_005"/>
            <p:cNvSpPr/>
            <p:nvPr/>
          </p:nvSpPr>
          <p:spPr>
            <a:xfrm>
              <a:off x="5628652" y="1851914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14812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pi_mscl_figure__panel_a__model_connectors__polyline_006"/>
            <p:cNvSpPr/>
            <p:nvPr/>
          </p:nvSpPr>
          <p:spPr>
            <a:xfrm>
              <a:off x="5089118" y="1881078"/>
              <a:ext cx="597862" cy="838465"/>
            </a:xfrm>
            <a:custGeom>
              <a:avLst/>
              <a:gdLst/>
              <a:ahLst/>
              <a:cxnLst/>
              <a:rect l="l" t="t" r="r" b="b"/>
              <a:pathLst>
                <a:path w="82" h="115">
                  <a:moveTo>
                    <a:pt x="0" y="115"/>
                  </a:moveTo>
                  <a:lnTo>
                    <a:pt x="42" y="115"/>
                  </a:lnTo>
                  <a:lnTo>
                    <a:pt x="42" y="12"/>
                  </a:lnTo>
                  <a:lnTo>
                    <a:pt x="62" y="0"/>
                  </a:lnTo>
                  <a:lnTo>
                    <a:pt x="82" y="0"/>
                  </a:lnTo>
                </a:path>
              </a:pathLst>
            </a:custGeom>
            <a:noFill/>
            <a:ln w="13125">
              <a:solidFill>
                <a:srgbClr val="6842A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pi_mscl_figure__panel_a__model_connectors__polygon_006"/>
            <p:cNvSpPr/>
            <p:nvPr/>
          </p:nvSpPr>
          <p:spPr>
            <a:xfrm>
              <a:off x="5628652" y="1851914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6842A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pi_mscl_figure__panel_a__model_connectors__polyline_007"/>
            <p:cNvSpPr/>
            <p:nvPr/>
          </p:nvSpPr>
          <p:spPr>
            <a:xfrm>
              <a:off x="6430662" y="1917533"/>
              <a:ext cx="291640" cy="0"/>
            </a:xfrm>
            <a:custGeom>
              <a:avLst/>
              <a:gdLst/>
              <a:ahLst/>
              <a:cxnLst/>
              <a:rect l="l" t="t" r="r" b="b"/>
              <a:pathLst>
                <a:path w="40" h="0">
                  <a:moveTo>
                    <a:pt x="0" y="0"/>
                  </a:moveTo>
                  <a:lnTo>
                    <a:pt x="40" y="0"/>
                  </a:lnTo>
                </a:path>
              </a:pathLst>
            </a:custGeom>
            <a:noFill/>
            <a:ln w="11666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pi_mscl_figure__panel_a__model_connectors__polygon_007"/>
            <p:cNvSpPr/>
            <p:nvPr/>
          </p:nvSpPr>
          <p:spPr>
            <a:xfrm>
              <a:off x="6663974" y="1888369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pi_mscl_figure__panel_a__model_connectors__polyline_008"/>
            <p:cNvSpPr/>
            <p:nvPr/>
          </p:nvSpPr>
          <p:spPr>
            <a:xfrm>
              <a:off x="7247254" y="1917533"/>
              <a:ext cx="160402" cy="0"/>
            </a:xfrm>
            <a:custGeom>
              <a:avLst/>
              <a:gdLst/>
              <a:ahLst/>
              <a:cxnLst/>
              <a:rect l="l" t="t" r="r" b="b"/>
              <a:pathLst>
                <a:path w="22" h="0">
                  <a:moveTo>
                    <a:pt x="0" y="0"/>
                  </a:moveTo>
                  <a:lnTo>
                    <a:pt x="22" y="0"/>
                  </a:lnTo>
                </a:path>
              </a:pathLst>
            </a:custGeom>
            <a:noFill/>
            <a:ln w="11666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pi_mscl_figure__panel_a__model_connectors__polygon_008"/>
            <p:cNvSpPr/>
            <p:nvPr/>
          </p:nvSpPr>
          <p:spPr>
            <a:xfrm>
              <a:off x="7349328" y="1888369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pi_mscl_figure__panel_a__model_connectors__polyline_009"/>
            <p:cNvSpPr/>
            <p:nvPr/>
          </p:nvSpPr>
          <p:spPr>
            <a:xfrm>
              <a:off x="9609538" y="1895660"/>
              <a:ext cx="138529" cy="0"/>
            </a:xfrm>
            <a:custGeom>
              <a:avLst/>
              <a:gdLst/>
              <a:ahLst/>
              <a:cxnLst/>
              <a:rect l="l" t="t" r="r" b="b"/>
              <a:pathLst>
                <a:path w="19" h="0">
                  <a:moveTo>
                    <a:pt x="0" y="0"/>
                  </a:moveTo>
                  <a:lnTo>
                    <a:pt x="19" y="0"/>
                  </a:lnTo>
                </a:path>
              </a:pathLst>
            </a:custGeom>
            <a:noFill/>
            <a:ln w="11666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pi_mscl_figure__panel_a__model_connectors__polygon_009"/>
            <p:cNvSpPr/>
            <p:nvPr/>
          </p:nvSpPr>
          <p:spPr>
            <a:xfrm>
              <a:off x="9689739" y="1866496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pi_mscl_figure__panel_a__model_connectors__polyline_010"/>
            <p:cNvSpPr/>
            <p:nvPr/>
          </p:nvSpPr>
          <p:spPr>
            <a:xfrm>
              <a:off x="10695897" y="1895660"/>
              <a:ext cx="153111" cy="0"/>
            </a:xfrm>
            <a:custGeom>
              <a:avLst/>
              <a:gdLst/>
              <a:ahLst/>
              <a:cxnLst/>
              <a:rect l="l" t="t" r="r" b="b"/>
              <a:pathLst>
                <a:path w="21" h="0">
                  <a:moveTo>
                    <a:pt x="0" y="0"/>
                  </a:moveTo>
                  <a:lnTo>
                    <a:pt x="21" y="0"/>
                  </a:lnTo>
                </a:path>
              </a:pathLst>
            </a:custGeom>
            <a:noFill/>
            <a:ln w="11666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pi_mscl_figure__panel_a__model_connectors__polygon_010"/>
            <p:cNvSpPr/>
            <p:nvPr/>
          </p:nvSpPr>
          <p:spPr>
            <a:xfrm>
              <a:off x="10790680" y="1866496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" name="module__pi_mscl_figure__panel_a__panel_a_header"/>
          <p:cNvGrpSpPr/>
          <p:nvPr/>
        </p:nvGrpSpPr>
        <p:grpSpPr>
          <a:xfrm>
            <a:off x="167712" y="175004"/>
            <a:ext cx="2036472" cy="234506"/>
            <a:chOff x="167712" y="175004"/>
            <a:chExt cx="2036472" cy="234506"/>
          </a:xfrm>
        </p:grpSpPr>
        <p:sp>
          <p:nvSpPr>
            <p:cNvPr id="26" name="pi_mscl_figure__panel_a__panel_a_header__rect_003"/>
            <p:cNvSpPr/>
            <p:nvPr/>
          </p:nvSpPr>
          <p:spPr>
            <a:xfrm>
              <a:off x="167712" y="175004"/>
              <a:ext cx="218755" cy="218755"/>
            </a:xfrm>
            <a:prstGeom prst="roundRect">
              <a:avLst>
                <a:gd name="adj" fmla="val 3333"/>
              </a:avLst>
            </a:prstGeom>
            <a:solidFill>
              <a:srgbClr val="11111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pi_mscl_figure__panel_a__panel_a_header__text_001"/>
            <p:cNvSpPr txBox="1"/>
            <p:nvPr/>
          </p:nvSpPr>
          <p:spPr>
            <a:xfrm>
              <a:off x="224881" y="211464"/>
              <a:ext cx="104419" cy="16800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033" b="1" i="0">
                  <a:solidFill>
                    <a:srgbClr val="FFFFFF"/>
                  </a:solidFill>
                  <a:latin typeface="Arial"/>
                </a:rPr>
                <a:t>a</a:t>
              </a:r>
            </a:p>
          </p:txBody>
        </p:sp>
        <p:sp>
          <p:nvSpPr>
            <p:cNvPr id="28" name="pi_mscl_figure__panel_a__panel_a_header__text_002"/>
            <p:cNvSpPr txBox="1"/>
            <p:nvPr/>
          </p:nvSpPr>
          <p:spPr>
            <a:xfrm>
              <a:off x="510430" y="204172"/>
              <a:ext cx="1693754" cy="20533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263" b="1" i="0">
                  <a:solidFill>
                    <a:srgbClr val="111111"/>
                  </a:solidFill>
                  <a:latin typeface="Arial"/>
                </a:rPr>
                <a:t>PI–MSCL architecture</a:t>
              </a:r>
            </a:p>
          </p:txBody>
        </p:sp>
      </p:grpSp>
      <p:grpSp>
        <p:nvGrpSpPr>
          <p:cNvPr id="29" name="module__pi_mscl_figure__panel_a__input_sequence"/>
          <p:cNvGrpSpPr/>
          <p:nvPr/>
        </p:nvGrpSpPr>
        <p:grpSpPr>
          <a:xfrm>
            <a:off x="40105" y="634392"/>
            <a:ext cx="1403513" cy="2384439"/>
            <a:chOff x="40105" y="634392"/>
            <a:chExt cx="1403513" cy="2384439"/>
          </a:xfrm>
        </p:grpSpPr>
        <p:sp>
          <p:nvSpPr>
            <p:cNvPr id="30" name="pi_mscl_figure__panel_a__input_sequence__text_003"/>
            <p:cNvSpPr txBox="1"/>
            <p:nvPr/>
          </p:nvSpPr>
          <p:spPr>
            <a:xfrm>
              <a:off x="820334" y="634392"/>
              <a:ext cx="298966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1" i="0">
                  <a:solidFill>
                    <a:srgbClr val="111111"/>
                  </a:solidFill>
                  <a:latin typeface="Arial"/>
                </a:rPr>
                <a:t>Input</a:t>
              </a:r>
            </a:p>
          </p:txBody>
        </p:sp>
        <p:sp>
          <p:nvSpPr>
            <p:cNvPr id="31" name="pi_mscl_figure__panel_a__input_sequence__text_004"/>
            <p:cNvSpPr txBox="1"/>
            <p:nvPr/>
          </p:nvSpPr>
          <p:spPr>
            <a:xfrm>
              <a:off x="787521" y="838564"/>
              <a:ext cx="364593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0" i="0">
                  <a:solidFill>
                    <a:srgbClr val="111111"/>
                  </a:solidFill>
                  <a:latin typeface="Times New Roman"/>
                </a:rPr>
                <a:t>40 × 14</a:t>
              </a:r>
            </a:p>
          </p:txBody>
        </p:sp>
        <p:sp>
          <p:nvSpPr>
            <p:cNvPr id="32" name="pi_mscl_figure__panel_a__input_sequence__rect_004"/>
            <p:cNvSpPr/>
            <p:nvPr/>
          </p:nvSpPr>
          <p:spPr>
            <a:xfrm>
              <a:off x="510430" y="1093779"/>
              <a:ext cx="926066" cy="1618794"/>
            </a:xfrm>
            <a:prstGeom prst="rect">
              <a:avLst/>
            </a:prstGeom>
            <a:solidFill>
              <a:srgbClr val="FFFFFF"/>
            </a:solidFill>
            <a:ln w="11666">
              <a:solidFill>
                <a:srgbClr val="20262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pi_mscl_figure__panel_a__input_sequence__rect_005"/>
            <p:cNvSpPr/>
            <p:nvPr/>
          </p:nvSpPr>
          <p:spPr>
            <a:xfrm>
              <a:off x="568765" y="1130239"/>
              <a:ext cx="123961" cy="123961"/>
            </a:xfrm>
            <a:prstGeom prst="rect">
              <a:avLst/>
            </a:prstGeom>
            <a:solidFill>
              <a:srgbClr val="82ACD8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pi_mscl_figure__panel_a__input_sequence__rect_006"/>
            <p:cNvSpPr/>
            <p:nvPr/>
          </p:nvSpPr>
          <p:spPr>
            <a:xfrm>
              <a:off x="707310" y="1130239"/>
              <a:ext cx="123961" cy="123961"/>
            </a:xfrm>
            <a:prstGeom prst="rect">
              <a:avLst/>
            </a:prstGeom>
            <a:solidFill>
              <a:srgbClr val="91B8DD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pi_mscl_figure__panel_a__input_sequence__rect_007"/>
            <p:cNvSpPr/>
            <p:nvPr/>
          </p:nvSpPr>
          <p:spPr>
            <a:xfrm>
              <a:off x="845856" y="1130239"/>
              <a:ext cx="123961" cy="123961"/>
            </a:xfrm>
            <a:prstGeom prst="rect">
              <a:avLst/>
            </a:prstGeom>
            <a:solidFill>
              <a:srgbClr val="A5C7E4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pi_mscl_figure__panel_a__input_sequence__rect_008"/>
            <p:cNvSpPr/>
            <p:nvPr/>
          </p:nvSpPr>
          <p:spPr>
            <a:xfrm>
              <a:off x="984401" y="1130239"/>
              <a:ext cx="123961" cy="123961"/>
            </a:xfrm>
            <a:prstGeom prst="rect">
              <a:avLst/>
            </a:prstGeom>
            <a:solidFill>
              <a:srgbClr val="8FC3AF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pi_mscl_figure__panel_a__input_sequence__rect_009"/>
            <p:cNvSpPr/>
            <p:nvPr/>
          </p:nvSpPr>
          <p:spPr>
            <a:xfrm>
              <a:off x="1122947" y="1130239"/>
              <a:ext cx="123961" cy="123961"/>
            </a:xfrm>
            <a:prstGeom prst="rect">
              <a:avLst/>
            </a:prstGeom>
            <a:solidFill>
              <a:srgbClr val="A4CEBC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pi_mscl_figure__panel_a__input_sequence__rect_010"/>
            <p:cNvSpPr/>
            <p:nvPr/>
          </p:nvSpPr>
          <p:spPr>
            <a:xfrm>
              <a:off x="1261492" y="1130239"/>
              <a:ext cx="123961" cy="123961"/>
            </a:xfrm>
            <a:prstGeom prst="rect">
              <a:avLst/>
            </a:prstGeom>
            <a:solidFill>
              <a:srgbClr val="B8D9C8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pi_mscl_figure__panel_a__input_sequence__rect_011"/>
            <p:cNvSpPr/>
            <p:nvPr/>
          </p:nvSpPr>
          <p:spPr>
            <a:xfrm>
              <a:off x="568765" y="1268784"/>
              <a:ext cx="123961" cy="123961"/>
            </a:xfrm>
            <a:prstGeom prst="rect">
              <a:avLst/>
            </a:prstGeom>
            <a:solidFill>
              <a:srgbClr val="91B8DD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pi_mscl_figure__panel_a__input_sequence__rect_012"/>
            <p:cNvSpPr/>
            <p:nvPr/>
          </p:nvSpPr>
          <p:spPr>
            <a:xfrm>
              <a:off x="707310" y="1268784"/>
              <a:ext cx="123961" cy="123961"/>
            </a:xfrm>
            <a:prstGeom prst="rect">
              <a:avLst/>
            </a:prstGeom>
            <a:solidFill>
              <a:srgbClr val="82ACD8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pi_mscl_figure__panel_a__input_sequence__rect_013"/>
            <p:cNvSpPr/>
            <p:nvPr/>
          </p:nvSpPr>
          <p:spPr>
            <a:xfrm>
              <a:off x="845856" y="1268784"/>
              <a:ext cx="123961" cy="123961"/>
            </a:xfrm>
            <a:prstGeom prst="rect">
              <a:avLst/>
            </a:prstGeom>
            <a:solidFill>
              <a:srgbClr val="91B8DD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pi_mscl_figure__panel_a__input_sequence__rect_014"/>
            <p:cNvSpPr/>
            <p:nvPr/>
          </p:nvSpPr>
          <p:spPr>
            <a:xfrm>
              <a:off x="984401" y="1268784"/>
              <a:ext cx="123961" cy="123961"/>
            </a:xfrm>
            <a:prstGeom prst="rect">
              <a:avLst/>
            </a:prstGeom>
            <a:solidFill>
              <a:srgbClr val="A4CEBC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pi_mscl_figure__panel_a__input_sequence__rect_015"/>
            <p:cNvSpPr/>
            <p:nvPr/>
          </p:nvSpPr>
          <p:spPr>
            <a:xfrm>
              <a:off x="1122947" y="1268784"/>
              <a:ext cx="123961" cy="123961"/>
            </a:xfrm>
            <a:prstGeom prst="rect">
              <a:avLst/>
            </a:prstGeom>
            <a:solidFill>
              <a:srgbClr val="8FC3AF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pi_mscl_figure__panel_a__input_sequence__rect_016"/>
            <p:cNvSpPr/>
            <p:nvPr/>
          </p:nvSpPr>
          <p:spPr>
            <a:xfrm>
              <a:off x="1261492" y="1268784"/>
              <a:ext cx="123961" cy="123961"/>
            </a:xfrm>
            <a:prstGeom prst="rect">
              <a:avLst/>
            </a:prstGeom>
            <a:solidFill>
              <a:srgbClr val="B8D9C8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pi_mscl_figure__panel_a__input_sequence__rect_017"/>
            <p:cNvSpPr/>
            <p:nvPr/>
          </p:nvSpPr>
          <p:spPr>
            <a:xfrm>
              <a:off x="568765" y="1407330"/>
              <a:ext cx="123961" cy="123961"/>
            </a:xfrm>
            <a:prstGeom prst="rect">
              <a:avLst/>
            </a:prstGeom>
            <a:solidFill>
              <a:srgbClr val="82ACD8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pi_mscl_figure__panel_a__input_sequence__rect_018"/>
            <p:cNvSpPr/>
            <p:nvPr/>
          </p:nvSpPr>
          <p:spPr>
            <a:xfrm>
              <a:off x="707310" y="1407330"/>
              <a:ext cx="123961" cy="123961"/>
            </a:xfrm>
            <a:prstGeom prst="rect">
              <a:avLst/>
            </a:prstGeom>
            <a:solidFill>
              <a:srgbClr val="91B8DD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pi_mscl_figure__panel_a__input_sequence__rect_019"/>
            <p:cNvSpPr/>
            <p:nvPr/>
          </p:nvSpPr>
          <p:spPr>
            <a:xfrm>
              <a:off x="845856" y="1407330"/>
              <a:ext cx="123961" cy="123961"/>
            </a:xfrm>
            <a:prstGeom prst="rect">
              <a:avLst/>
            </a:prstGeom>
            <a:solidFill>
              <a:srgbClr val="A5C7E4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pi_mscl_figure__panel_a__input_sequence__rect_020"/>
            <p:cNvSpPr/>
            <p:nvPr/>
          </p:nvSpPr>
          <p:spPr>
            <a:xfrm>
              <a:off x="984401" y="1407330"/>
              <a:ext cx="123961" cy="123961"/>
            </a:xfrm>
            <a:prstGeom prst="rect">
              <a:avLst/>
            </a:prstGeom>
            <a:solidFill>
              <a:srgbClr val="8FC3AF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pi_mscl_figure__panel_a__input_sequence__rect_021"/>
            <p:cNvSpPr/>
            <p:nvPr/>
          </p:nvSpPr>
          <p:spPr>
            <a:xfrm>
              <a:off x="1122947" y="1407330"/>
              <a:ext cx="123961" cy="123961"/>
            </a:xfrm>
            <a:prstGeom prst="rect">
              <a:avLst/>
            </a:prstGeom>
            <a:solidFill>
              <a:srgbClr val="A4CEBC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pi_mscl_figure__panel_a__input_sequence__rect_022"/>
            <p:cNvSpPr/>
            <p:nvPr/>
          </p:nvSpPr>
          <p:spPr>
            <a:xfrm>
              <a:off x="1261492" y="1407330"/>
              <a:ext cx="123961" cy="123961"/>
            </a:xfrm>
            <a:prstGeom prst="rect">
              <a:avLst/>
            </a:prstGeom>
            <a:solidFill>
              <a:srgbClr val="B8D9C8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pi_mscl_figure__panel_a__input_sequence__rect_023"/>
            <p:cNvSpPr/>
            <p:nvPr/>
          </p:nvSpPr>
          <p:spPr>
            <a:xfrm>
              <a:off x="568765" y="1545875"/>
              <a:ext cx="123961" cy="123961"/>
            </a:xfrm>
            <a:prstGeom prst="rect">
              <a:avLst/>
            </a:prstGeom>
            <a:solidFill>
              <a:srgbClr val="91B8DD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pi_mscl_figure__panel_a__input_sequence__rect_024"/>
            <p:cNvSpPr/>
            <p:nvPr/>
          </p:nvSpPr>
          <p:spPr>
            <a:xfrm>
              <a:off x="707310" y="1545875"/>
              <a:ext cx="123961" cy="123961"/>
            </a:xfrm>
            <a:prstGeom prst="rect">
              <a:avLst/>
            </a:prstGeom>
            <a:solidFill>
              <a:srgbClr val="82ACD8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pi_mscl_figure__panel_a__input_sequence__rect_025"/>
            <p:cNvSpPr/>
            <p:nvPr/>
          </p:nvSpPr>
          <p:spPr>
            <a:xfrm>
              <a:off x="845856" y="1545875"/>
              <a:ext cx="123961" cy="123961"/>
            </a:xfrm>
            <a:prstGeom prst="rect">
              <a:avLst/>
            </a:prstGeom>
            <a:solidFill>
              <a:srgbClr val="91B8DD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pi_mscl_figure__panel_a__input_sequence__rect_026"/>
            <p:cNvSpPr/>
            <p:nvPr/>
          </p:nvSpPr>
          <p:spPr>
            <a:xfrm>
              <a:off x="984401" y="1545875"/>
              <a:ext cx="123961" cy="123961"/>
            </a:xfrm>
            <a:prstGeom prst="rect">
              <a:avLst/>
            </a:prstGeom>
            <a:solidFill>
              <a:srgbClr val="A4CEBC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pi_mscl_figure__panel_a__input_sequence__rect_027"/>
            <p:cNvSpPr/>
            <p:nvPr/>
          </p:nvSpPr>
          <p:spPr>
            <a:xfrm>
              <a:off x="1122947" y="1545875"/>
              <a:ext cx="123961" cy="123961"/>
            </a:xfrm>
            <a:prstGeom prst="rect">
              <a:avLst/>
            </a:prstGeom>
            <a:solidFill>
              <a:srgbClr val="B8D9C8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pi_mscl_figure__panel_a__input_sequence__rect_028"/>
            <p:cNvSpPr/>
            <p:nvPr/>
          </p:nvSpPr>
          <p:spPr>
            <a:xfrm>
              <a:off x="1261492" y="1545875"/>
              <a:ext cx="123961" cy="123961"/>
            </a:xfrm>
            <a:prstGeom prst="rect">
              <a:avLst/>
            </a:prstGeom>
            <a:solidFill>
              <a:srgbClr val="8FC3AF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pi_mscl_figure__panel_a__input_sequence__rect_029"/>
            <p:cNvSpPr/>
            <p:nvPr/>
          </p:nvSpPr>
          <p:spPr>
            <a:xfrm>
              <a:off x="568765" y="1684421"/>
              <a:ext cx="123961" cy="123961"/>
            </a:xfrm>
            <a:prstGeom prst="rect">
              <a:avLst/>
            </a:prstGeom>
            <a:solidFill>
              <a:srgbClr val="9684C8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pi_mscl_figure__panel_a__input_sequence__rect_030"/>
            <p:cNvSpPr/>
            <p:nvPr/>
          </p:nvSpPr>
          <p:spPr>
            <a:xfrm>
              <a:off x="707310" y="1684421"/>
              <a:ext cx="123961" cy="123961"/>
            </a:xfrm>
            <a:prstGeom prst="rect">
              <a:avLst/>
            </a:prstGeom>
            <a:solidFill>
              <a:srgbClr val="91B8DD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pi_mscl_figure__panel_a__input_sequence__rect_031"/>
            <p:cNvSpPr/>
            <p:nvPr/>
          </p:nvSpPr>
          <p:spPr>
            <a:xfrm>
              <a:off x="845856" y="1684421"/>
              <a:ext cx="123961" cy="123961"/>
            </a:xfrm>
            <a:prstGeom prst="rect">
              <a:avLst/>
            </a:prstGeom>
            <a:solidFill>
              <a:srgbClr val="A5C7E4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pi_mscl_figure__panel_a__input_sequence__rect_032"/>
            <p:cNvSpPr/>
            <p:nvPr/>
          </p:nvSpPr>
          <p:spPr>
            <a:xfrm>
              <a:off x="984401" y="1684421"/>
              <a:ext cx="123961" cy="123961"/>
            </a:xfrm>
            <a:prstGeom prst="rect">
              <a:avLst/>
            </a:prstGeom>
            <a:solidFill>
              <a:srgbClr val="8FC3AF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pi_mscl_figure__panel_a__input_sequence__rect_033"/>
            <p:cNvSpPr/>
            <p:nvPr/>
          </p:nvSpPr>
          <p:spPr>
            <a:xfrm>
              <a:off x="1122947" y="1684421"/>
              <a:ext cx="123961" cy="123961"/>
            </a:xfrm>
            <a:prstGeom prst="rect">
              <a:avLst/>
            </a:prstGeom>
            <a:solidFill>
              <a:srgbClr val="A4CEBC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pi_mscl_figure__panel_a__input_sequence__rect_034"/>
            <p:cNvSpPr/>
            <p:nvPr/>
          </p:nvSpPr>
          <p:spPr>
            <a:xfrm>
              <a:off x="1261492" y="1684421"/>
              <a:ext cx="123961" cy="123961"/>
            </a:xfrm>
            <a:prstGeom prst="rect">
              <a:avLst/>
            </a:prstGeom>
            <a:solidFill>
              <a:srgbClr val="B8D9C8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pi_mscl_figure__panel_a__input_sequence__rect_035"/>
            <p:cNvSpPr/>
            <p:nvPr/>
          </p:nvSpPr>
          <p:spPr>
            <a:xfrm>
              <a:off x="568765" y="1822966"/>
              <a:ext cx="123961" cy="123961"/>
            </a:xfrm>
            <a:prstGeom prst="rect">
              <a:avLst/>
            </a:prstGeom>
            <a:solidFill>
              <a:srgbClr val="A996D2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pi_mscl_figure__panel_a__input_sequence__rect_036"/>
            <p:cNvSpPr/>
            <p:nvPr/>
          </p:nvSpPr>
          <p:spPr>
            <a:xfrm>
              <a:off x="707310" y="1822966"/>
              <a:ext cx="123961" cy="123961"/>
            </a:xfrm>
            <a:prstGeom prst="rect">
              <a:avLst/>
            </a:prstGeom>
            <a:solidFill>
              <a:srgbClr val="9684C8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pi_mscl_figure__panel_a__input_sequence__rect_037"/>
            <p:cNvSpPr/>
            <p:nvPr/>
          </p:nvSpPr>
          <p:spPr>
            <a:xfrm>
              <a:off x="845856" y="1822966"/>
              <a:ext cx="123961" cy="123961"/>
            </a:xfrm>
            <a:prstGeom prst="rect">
              <a:avLst/>
            </a:prstGeom>
            <a:solidFill>
              <a:srgbClr val="91B8DD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" name="pi_mscl_figure__panel_a__input_sequence__rect_038"/>
            <p:cNvSpPr/>
            <p:nvPr/>
          </p:nvSpPr>
          <p:spPr>
            <a:xfrm>
              <a:off x="984401" y="1822966"/>
              <a:ext cx="123961" cy="123961"/>
            </a:xfrm>
            <a:prstGeom prst="rect">
              <a:avLst/>
            </a:prstGeom>
            <a:solidFill>
              <a:srgbClr val="A5C7E4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" name="pi_mscl_figure__panel_a__input_sequence__rect_039"/>
            <p:cNvSpPr/>
            <p:nvPr/>
          </p:nvSpPr>
          <p:spPr>
            <a:xfrm>
              <a:off x="1122947" y="1822966"/>
              <a:ext cx="123961" cy="123961"/>
            </a:xfrm>
            <a:prstGeom prst="rect">
              <a:avLst/>
            </a:prstGeom>
            <a:solidFill>
              <a:srgbClr val="8FC3AF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pi_mscl_figure__panel_a__input_sequence__rect_040"/>
            <p:cNvSpPr/>
            <p:nvPr/>
          </p:nvSpPr>
          <p:spPr>
            <a:xfrm>
              <a:off x="1261492" y="1822966"/>
              <a:ext cx="123961" cy="123961"/>
            </a:xfrm>
            <a:prstGeom prst="rect">
              <a:avLst/>
            </a:prstGeom>
            <a:solidFill>
              <a:srgbClr val="A4CEBC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pi_mscl_figure__panel_a__input_sequence__rect_041"/>
            <p:cNvSpPr/>
            <p:nvPr/>
          </p:nvSpPr>
          <p:spPr>
            <a:xfrm>
              <a:off x="568765" y="1961511"/>
              <a:ext cx="123961" cy="123961"/>
            </a:xfrm>
            <a:prstGeom prst="rect">
              <a:avLst/>
            </a:prstGeom>
            <a:solidFill>
              <a:srgbClr val="BBAADD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pi_mscl_figure__panel_a__input_sequence__rect_042"/>
            <p:cNvSpPr/>
            <p:nvPr/>
          </p:nvSpPr>
          <p:spPr>
            <a:xfrm>
              <a:off x="707310" y="1961511"/>
              <a:ext cx="123961" cy="123961"/>
            </a:xfrm>
            <a:prstGeom prst="rect">
              <a:avLst/>
            </a:prstGeom>
            <a:solidFill>
              <a:srgbClr val="A996D2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" name="pi_mscl_figure__panel_a__input_sequence__rect_043"/>
            <p:cNvSpPr/>
            <p:nvPr/>
          </p:nvSpPr>
          <p:spPr>
            <a:xfrm>
              <a:off x="845856" y="1961511"/>
              <a:ext cx="123961" cy="123961"/>
            </a:xfrm>
            <a:prstGeom prst="rect">
              <a:avLst/>
            </a:prstGeom>
            <a:solidFill>
              <a:srgbClr val="9684C8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pi_mscl_figure__panel_a__input_sequence__rect_044"/>
            <p:cNvSpPr/>
            <p:nvPr/>
          </p:nvSpPr>
          <p:spPr>
            <a:xfrm>
              <a:off x="984401" y="1961511"/>
              <a:ext cx="123961" cy="123961"/>
            </a:xfrm>
            <a:prstGeom prst="rect">
              <a:avLst/>
            </a:prstGeom>
            <a:solidFill>
              <a:srgbClr val="91B8DD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pi_mscl_figure__panel_a__input_sequence__rect_045"/>
            <p:cNvSpPr/>
            <p:nvPr/>
          </p:nvSpPr>
          <p:spPr>
            <a:xfrm>
              <a:off x="1122947" y="1961511"/>
              <a:ext cx="123961" cy="123961"/>
            </a:xfrm>
            <a:prstGeom prst="rect">
              <a:avLst/>
            </a:prstGeom>
            <a:solidFill>
              <a:srgbClr val="A4CEBC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pi_mscl_figure__panel_a__input_sequence__rect_046"/>
            <p:cNvSpPr/>
            <p:nvPr/>
          </p:nvSpPr>
          <p:spPr>
            <a:xfrm>
              <a:off x="1261492" y="1961511"/>
              <a:ext cx="123961" cy="123961"/>
            </a:xfrm>
            <a:prstGeom prst="rect">
              <a:avLst/>
            </a:prstGeom>
            <a:solidFill>
              <a:srgbClr val="B8D9C8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" name="pi_mscl_figure__panel_a__input_sequence__rect_047"/>
            <p:cNvSpPr/>
            <p:nvPr/>
          </p:nvSpPr>
          <p:spPr>
            <a:xfrm>
              <a:off x="568765" y="2100057"/>
              <a:ext cx="123961" cy="123961"/>
            </a:xfrm>
            <a:prstGeom prst="rect">
              <a:avLst/>
            </a:prstGeom>
            <a:solidFill>
              <a:srgbClr val="9684C8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" name="pi_mscl_figure__panel_a__input_sequence__rect_048"/>
            <p:cNvSpPr/>
            <p:nvPr/>
          </p:nvSpPr>
          <p:spPr>
            <a:xfrm>
              <a:off x="707310" y="2100057"/>
              <a:ext cx="123961" cy="123961"/>
            </a:xfrm>
            <a:prstGeom prst="rect">
              <a:avLst/>
            </a:prstGeom>
            <a:solidFill>
              <a:srgbClr val="BBAADD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pi_mscl_figure__panel_a__input_sequence__rect_049"/>
            <p:cNvSpPr/>
            <p:nvPr/>
          </p:nvSpPr>
          <p:spPr>
            <a:xfrm>
              <a:off x="845856" y="2100057"/>
              <a:ext cx="123961" cy="123961"/>
            </a:xfrm>
            <a:prstGeom prst="rect">
              <a:avLst/>
            </a:prstGeom>
            <a:solidFill>
              <a:srgbClr val="A996D2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" name="pi_mscl_figure__panel_a__input_sequence__rect_050"/>
            <p:cNvSpPr/>
            <p:nvPr/>
          </p:nvSpPr>
          <p:spPr>
            <a:xfrm>
              <a:off x="984401" y="2100057"/>
              <a:ext cx="123961" cy="123961"/>
            </a:xfrm>
            <a:prstGeom prst="rect">
              <a:avLst/>
            </a:prstGeom>
            <a:solidFill>
              <a:srgbClr val="A5C7E4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" name="pi_mscl_figure__panel_a__input_sequence__rect_051"/>
            <p:cNvSpPr/>
            <p:nvPr/>
          </p:nvSpPr>
          <p:spPr>
            <a:xfrm>
              <a:off x="1122947" y="2100057"/>
              <a:ext cx="123961" cy="123961"/>
            </a:xfrm>
            <a:prstGeom prst="rect">
              <a:avLst/>
            </a:prstGeom>
            <a:solidFill>
              <a:srgbClr val="8FC3AF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" name="pi_mscl_figure__panel_a__input_sequence__rect_052"/>
            <p:cNvSpPr/>
            <p:nvPr/>
          </p:nvSpPr>
          <p:spPr>
            <a:xfrm>
              <a:off x="1261492" y="2100057"/>
              <a:ext cx="123961" cy="123961"/>
            </a:xfrm>
            <a:prstGeom prst="rect">
              <a:avLst/>
            </a:prstGeom>
            <a:solidFill>
              <a:srgbClr val="A4CEBC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" name="pi_mscl_figure__panel_a__input_sequence__text_005"/>
            <p:cNvSpPr txBox="1"/>
            <p:nvPr/>
          </p:nvSpPr>
          <p:spPr>
            <a:xfrm>
              <a:off x="555056" y="2194851"/>
              <a:ext cx="173254" cy="22400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377" b="0" i="0">
                  <a:solidFill>
                    <a:srgbClr val="111111"/>
                  </a:solidFill>
                  <a:latin typeface="Arial"/>
                </a:rPr>
                <a:t>⋮</a:t>
              </a:r>
            </a:p>
          </p:txBody>
        </p:sp>
        <p:sp>
          <p:nvSpPr>
            <p:cNvPr id="82" name="pi_mscl_figure__panel_a__input_sequence__text_006"/>
            <p:cNvSpPr txBox="1"/>
            <p:nvPr/>
          </p:nvSpPr>
          <p:spPr>
            <a:xfrm>
              <a:off x="832147" y="2194851"/>
              <a:ext cx="173254" cy="22400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377" b="0" i="0">
                  <a:solidFill>
                    <a:srgbClr val="111111"/>
                  </a:solidFill>
                  <a:latin typeface="Arial"/>
                </a:rPr>
                <a:t>⋮</a:t>
              </a:r>
            </a:p>
          </p:txBody>
        </p:sp>
        <p:sp>
          <p:nvSpPr>
            <p:cNvPr id="83" name="pi_mscl_figure__panel_a__input_sequence__text_007"/>
            <p:cNvSpPr txBox="1"/>
            <p:nvPr/>
          </p:nvSpPr>
          <p:spPr>
            <a:xfrm>
              <a:off x="1109238" y="2194851"/>
              <a:ext cx="173254" cy="22400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377" b="0" i="0">
                  <a:solidFill>
                    <a:srgbClr val="111111"/>
                  </a:solidFill>
                  <a:latin typeface="Arial"/>
                </a:rPr>
                <a:t>⋮</a:t>
              </a:r>
            </a:p>
          </p:txBody>
        </p:sp>
        <p:sp>
          <p:nvSpPr>
            <p:cNvPr id="84" name="pi_mscl_figure__panel_a__input_sequence__rect_053"/>
            <p:cNvSpPr/>
            <p:nvPr/>
          </p:nvSpPr>
          <p:spPr>
            <a:xfrm>
              <a:off x="568765" y="2435483"/>
              <a:ext cx="123961" cy="123961"/>
            </a:xfrm>
            <a:prstGeom prst="rect">
              <a:avLst/>
            </a:prstGeom>
            <a:solidFill>
              <a:srgbClr val="D8DC9C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" name="pi_mscl_figure__panel_a__input_sequence__rect_054"/>
            <p:cNvSpPr/>
            <p:nvPr/>
          </p:nvSpPr>
          <p:spPr>
            <a:xfrm>
              <a:off x="707310" y="2435483"/>
              <a:ext cx="123961" cy="123961"/>
            </a:xfrm>
            <a:prstGeom prst="rect">
              <a:avLst/>
            </a:prstGeom>
            <a:solidFill>
              <a:srgbClr val="DDE1A3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" name="pi_mscl_figure__panel_a__input_sequence__rect_055"/>
            <p:cNvSpPr/>
            <p:nvPr/>
          </p:nvSpPr>
          <p:spPr>
            <a:xfrm>
              <a:off x="845856" y="2435483"/>
              <a:ext cx="123961" cy="123961"/>
            </a:xfrm>
            <a:prstGeom prst="rect">
              <a:avLst/>
            </a:prstGeom>
            <a:solidFill>
              <a:srgbClr val="E4E8B0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" name="pi_mscl_figure__panel_a__input_sequence__rect_056"/>
            <p:cNvSpPr/>
            <p:nvPr/>
          </p:nvSpPr>
          <p:spPr>
            <a:xfrm>
              <a:off x="984401" y="2435483"/>
              <a:ext cx="123961" cy="123961"/>
            </a:xfrm>
            <a:prstGeom prst="rect">
              <a:avLst/>
            </a:prstGeom>
            <a:solidFill>
              <a:srgbClr val="C4DCCB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" name="pi_mscl_figure__panel_a__input_sequence__rect_057"/>
            <p:cNvSpPr/>
            <p:nvPr/>
          </p:nvSpPr>
          <p:spPr>
            <a:xfrm>
              <a:off x="1122947" y="2435483"/>
              <a:ext cx="123961" cy="123961"/>
            </a:xfrm>
            <a:prstGeom prst="rect">
              <a:avLst/>
            </a:prstGeom>
            <a:solidFill>
              <a:srgbClr val="CEE4D4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" name="pi_mscl_figure__panel_a__input_sequence__rect_058"/>
            <p:cNvSpPr/>
            <p:nvPr/>
          </p:nvSpPr>
          <p:spPr>
            <a:xfrm>
              <a:off x="1261492" y="2435483"/>
              <a:ext cx="123961" cy="123961"/>
            </a:xfrm>
            <a:prstGeom prst="rect">
              <a:avLst/>
            </a:prstGeom>
            <a:solidFill>
              <a:srgbClr val="D8EADD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" name="pi_mscl_figure__panel_a__input_sequence__rect_059"/>
            <p:cNvSpPr/>
            <p:nvPr/>
          </p:nvSpPr>
          <p:spPr>
            <a:xfrm>
              <a:off x="568765" y="2574028"/>
              <a:ext cx="123961" cy="123961"/>
            </a:xfrm>
            <a:prstGeom prst="rect">
              <a:avLst/>
            </a:prstGeom>
            <a:solidFill>
              <a:srgbClr val="D8DC9C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" name="pi_mscl_figure__panel_a__input_sequence__rect_060"/>
            <p:cNvSpPr/>
            <p:nvPr/>
          </p:nvSpPr>
          <p:spPr>
            <a:xfrm>
              <a:off x="707310" y="2574028"/>
              <a:ext cx="123961" cy="123961"/>
            </a:xfrm>
            <a:prstGeom prst="rect">
              <a:avLst/>
            </a:prstGeom>
            <a:solidFill>
              <a:srgbClr val="DDE1A3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" name="pi_mscl_figure__panel_a__input_sequence__rect_061"/>
            <p:cNvSpPr/>
            <p:nvPr/>
          </p:nvSpPr>
          <p:spPr>
            <a:xfrm>
              <a:off x="845856" y="2574028"/>
              <a:ext cx="123961" cy="123961"/>
            </a:xfrm>
            <a:prstGeom prst="rect">
              <a:avLst/>
            </a:prstGeom>
            <a:solidFill>
              <a:srgbClr val="E4E8B0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" name="pi_mscl_figure__panel_a__input_sequence__rect_062"/>
            <p:cNvSpPr/>
            <p:nvPr/>
          </p:nvSpPr>
          <p:spPr>
            <a:xfrm>
              <a:off x="984401" y="2574028"/>
              <a:ext cx="123961" cy="123961"/>
            </a:xfrm>
            <a:prstGeom prst="rect">
              <a:avLst/>
            </a:prstGeom>
            <a:solidFill>
              <a:srgbClr val="C4DCCB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" name="pi_mscl_figure__panel_a__input_sequence__rect_063"/>
            <p:cNvSpPr/>
            <p:nvPr/>
          </p:nvSpPr>
          <p:spPr>
            <a:xfrm>
              <a:off x="1122947" y="2574028"/>
              <a:ext cx="123961" cy="123961"/>
            </a:xfrm>
            <a:prstGeom prst="rect">
              <a:avLst/>
            </a:prstGeom>
            <a:solidFill>
              <a:srgbClr val="CEE4D4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" name="pi_mscl_figure__panel_a__input_sequence__rect_064"/>
            <p:cNvSpPr/>
            <p:nvPr/>
          </p:nvSpPr>
          <p:spPr>
            <a:xfrm>
              <a:off x="1261492" y="2574028"/>
              <a:ext cx="123961" cy="123961"/>
            </a:xfrm>
            <a:prstGeom prst="rect">
              <a:avLst/>
            </a:prstGeom>
            <a:solidFill>
              <a:srgbClr val="D8EADD"/>
            </a:solidFill>
            <a:ln w="5833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96" name="pi_mscl_figure__panel_a__input_sequence__line_001"/>
            <p:cNvCxnSpPr/>
            <p:nvPr/>
          </p:nvCxnSpPr>
          <p:spPr>
            <a:xfrm>
              <a:off x="386468" y="1093779"/>
              <a:ext cx="0" cy="1589627"/>
            </a:xfrm>
            <a:prstGeom prst="line">
              <a:avLst/>
            </a:prstGeom>
            <a:ln w="8750">
              <a:solidFill>
                <a:srgbClr val="333333"/>
              </a:solidFill>
              <a:prstDash val="solid"/>
            </a:ln>
          </p:spPr>
        </p:cxnSp>
        <p:sp>
          <p:nvSpPr>
            <p:cNvPr id="97" name="pi_mscl_figure__panel_a__input_sequence__polyline_011"/>
            <p:cNvSpPr/>
            <p:nvPr/>
          </p:nvSpPr>
          <p:spPr>
            <a:xfrm>
              <a:off x="386423" y="1093650"/>
              <a:ext cx="0" cy="1589438"/>
            </a:xfrm>
            <a:custGeom>
              <a:avLst/>
              <a:gdLst/>
              <a:ahLst/>
              <a:cxnLst/>
              <a:rect l="l" t="t" r="r" b="b"/>
              <a:pathLst>
                <a:path w="0" h="218">
                  <a:moveTo>
                    <a:pt x="0" y="0"/>
                  </a:moveTo>
                  <a:lnTo>
                    <a:pt x="0" y="218"/>
                  </a:lnTo>
                </a:path>
              </a:pathLst>
            </a:custGeom>
            <a:noFill/>
            <a:ln w="8750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" name="pi_mscl_figure__panel_a__input_sequence__polygon_011"/>
            <p:cNvSpPr/>
            <p:nvPr/>
          </p:nvSpPr>
          <p:spPr>
            <a:xfrm>
              <a:off x="364550" y="2632051"/>
              <a:ext cx="43746" cy="51037"/>
            </a:xfrm>
            <a:custGeom>
              <a:avLst/>
              <a:gdLst/>
              <a:ahLst/>
              <a:cxnLst/>
              <a:rect l="l" t="t" r="r" b="b"/>
              <a:pathLst>
                <a:path w="6" h="7">
                  <a:moveTo>
                    <a:pt x="3" y="7"/>
                  </a:moveTo>
                  <a:lnTo>
                    <a:pt x="0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" name="pi_mscl_figure__panel_a__input_sequence__text_008"/>
            <p:cNvSpPr txBox="1"/>
            <p:nvPr/>
          </p:nvSpPr>
          <p:spPr>
            <a:xfrm rot="16200000">
              <a:off x="40105" y="1848487"/>
              <a:ext cx="488555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features (14)</a:t>
              </a:r>
            </a:p>
          </p:txBody>
        </p:sp>
        <p:sp>
          <p:nvSpPr>
            <p:cNvPr id="100" name="pi_mscl_figure__panel_a__input_sequence__polyline_012"/>
            <p:cNvSpPr/>
            <p:nvPr/>
          </p:nvSpPr>
          <p:spPr>
            <a:xfrm>
              <a:off x="510370" y="2821617"/>
              <a:ext cx="933248" cy="0"/>
            </a:xfrm>
            <a:custGeom>
              <a:avLst/>
              <a:gdLst/>
              <a:ahLst/>
              <a:cxnLst/>
              <a:rect l="l" t="t" r="r" b="b"/>
              <a:pathLst>
                <a:path w="128" h="0">
                  <a:moveTo>
                    <a:pt x="0" y="0"/>
                  </a:moveTo>
                  <a:lnTo>
                    <a:pt x="128" y="0"/>
                  </a:lnTo>
                </a:path>
              </a:pathLst>
            </a:custGeom>
            <a:noFill/>
            <a:ln w="8750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" name="pi_mscl_figure__panel_a__input_sequence__polygon_012"/>
            <p:cNvSpPr/>
            <p:nvPr/>
          </p:nvSpPr>
          <p:spPr>
            <a:xfrm>
              <a:off x="1392581" y="2799744"/>
              <a:ext cx="51037" cy="43746"/>
            </a:xfrm>
            <a:custGeom>
              <a:avLst/>
              <a:gdLst/>
              <a:ahLst/>
              <a:cxnLst/>
              <a:rect l="l" t="t" r="r" b="b"/>
              <a:pathLst>
                <a:path w="7" h="6">
                  <a:moveTo>
                    <a:pt x="7" y="3"/>
                  </a:move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" name="pi_mscl_figure__panel_a__input_sequence__text_009"/>
            <p:cNvSpPr txBox="1"/>
            <p:nvPr/>
          </p:nvSpPr>
          <p:spPr>
            <a:xfrm>
              <a:off x="663559" y="2909454"/>
              <a:ext cx="627100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1" i="0">
                  <a:solidFill>
                    <a:srgbClr val="111111"/>
                  </a:solidFill>
                  <a:latin typeface="Arial"/>
                </a:rPr>
                <a:t>time (40 cycles)</a:t>
              </a:r>
            </a:p>
          </p:txBody>
        </p:sp>
      </p:grpSp>
      <p:sp>
        <p:nvSpPr>
          <p:cNvPr id="103" name="pi_mscl_figure__panel_a__multiscale_cnn__text_010"/>
          <p:cNvSpPr txBox="1"/>
          <p:nvPr/>
        </p:nvSpPr>
        <p:spPr>
          <a:xfrm>
            <a:off x="3135502" y="393760"/>
            <a:ext cx="875023" cy="15312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18" b="1" i="0">
                <a:solidFill>
                  <a:srgbClr val="0756A0"/>
                </a:solidFill>
                <a:latin typeface="Arial"/>
              </a:rPr>
              <a:t>Conv1D blocks</a:t>
            </a:r>
          </a:p>
        </p:txBody>
      </p:sp>
      <p:sp>
        <p:nvSpPr>
          <p:cNvPr id="104" name="pi_mscl_figure__panel_a__multiscale_cnn__text_011"/>
          <p:cNvSpPr txBox="1"/>
          <p:nvPr/>
        </p:nvSpPr>
        <p:spPr>
          <a:xfrm>
            <a:off x="3379779" y="583349"/>
            <a:ext cx="386468" cy="13125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3" b="1" i="0">
                <a:solidFill>
                  <a:srgbClr val="0756A0"/>
                </a:solidFill>
                <a:latin typeface="Arial"/>
              </a:rPr>
              <a:t>(64 ch.)</a:t>
            </a:r>
          </a:p>
        </p:txBody>
      </p:sp>
      <p:grpSp>
        <p:nvGrpSpPr>
          <p:cNvPr id="105" name="module__pi_mscl_figure__panel_a__multiscale_cnn__cnn_k3"/>
          <p:cNvGrpSpPr/>
          <p:nvPr/>
        </p:nvGrpSpPr>
        <p:grpSpPr>
          <a:xfrm>
            <a:off x="0" y="0"/>
            <a:ext cx="4958467" cy="1341702"/>
            <a:chOff x="0" y="0"/>
            <a:chExt cx="4958467" cy="1341702"/>
          </a:xfrm>
        </p:grpSpPr>
        <p:sp>
          <p:nvSpPr>
            <p:cNvPr id="106" name="panel_a__multiscale_cnn__cnn_k3__text_012"/>
            <p:cNvSpPr txBox="1"/>
            <p:nvPr/>
          </p:nvSpPr>
          <p:spPr>
            <a:xfrm>
              <a:off x="1954220" y="838564"/>
              <a:ext cx="262507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0" i="1">
                  <a:solidFill>
                    <a:srgbClr val="0A5AA6"/>
                  </a:solidFill>
                  <a:latin typeface="Times New Roman"/>
                </a:rPr>
                <a:t>k = 3</a:t>
              </a:r>
            </a:p>
          </p:txBody>
        </p:sp>
        <p:grpSp>
          <p:nvGrpSpPr>
            <p:cNvPr id="107" name="module__pi_mscl_figure__panel_a__multiscale_cnn__cnn_k3__cnn_k3_4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08" name="multiscale_cnn__cnn_k3__cnn_k3_40__polygon_013"/>
              <p:cNvSpPr/>
              <p:nvPr/>
            </p:nvSpPr>
            <p:spPr>
              <a:xfrm>
                <a:off x="2369575" y="612444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30000"/>
                </a:srgbClr>
              </a:solidFill>
              <a:ln w="5833">
                <a:solidFill>
                  <a:srgbClr val="2E6DA4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" name="multiscale_cnn__cnn_k3__cnn_k3_40__polygon_014"/>
              <p:cNvSpPr/>
              <p:nvPr/>
            </p:nvSpPr>
            <p:spPr>
              <a:xfrm>
                <a:off x="2406030" y="634317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43000"/>
                </a:srgbClr>
              </a:solidFill>
              <a:ln w="5833">
                <a:solidFill>
                  <a:srgbClr val="2E6DA4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" name="multiscale_cnn__cnn_k3__cnn_k3_40__polygon_015"/>
              <p:cNvSpPr/>
              <p:nvPr/>
            </p:nvSpPr>
            <p:spPr>
              <a:xfrm>
                <a:off x="2442485" y="656190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56000"/>
                </a:srgbClr>
              </a:solidFill>
              <a:ln w="5833">
                <a:solidFill>
                  <a:srgbClr val="2E6DA4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" name="multiscale_cnn__cnn_k3__cnn_k3_40__polygon_016"/>
              <p:cNvSpPr/>
              <p:nvPr/>
            </p:nvSpPr>
            <p:spPr>
              <a:xfrm>
                <a:off x="2478940" y="678063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69000"/>
                </a:srgbClr>
              </a:solidFill>
              <a:ln w="5833">
                <a:solidFill>
                  <a:srgbClr val="2E6DA4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" name="multiscale_cnn__cnn_k3__cnn_k3_40__polygon_017"/>
              <p:cNvSpPr/>
              <p:nvPr/>
            </p:nvSpPr>
            <p:spPr>
              <a:xfrm>
                <a:off x="2515395" y="699936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82000"/>
                </a:srgbClr>
              </a:solidFill>
              <a:ln w="5833">
                <a:solidFill>
                  <a:srgbClr val="2E6DA4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" name="multiscale_cnn__cnn_k3__cnn_k3_40__polygon_018"/>
              <p:cNvSpPr/>
              <p:nvPr/>
            </p:nvSpPr>
            <p:spPr>
              <a:xfrm>
                <a:off x="2515395" y="736391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6A9FD2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" name="multiscale_cnn__cnn_k3__cnn_k3_40__polygon_019"/>
              <p:cNvSpPr/>
              <p:nvPr/>
            </p:nvSpPr>
            <p:spPr>
              <a:xfrm>
                <a:off x="2610178" y="729100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6FA3D4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" name="multiscale_cnn__cnn_k3__cnn_k3_40__polygon_020"/>
              <p:cNvSpPr/>
              <p:nvPr/>
            </p:nvSpPr>
            <p:spPr>
              <a:xfrm>
                <a:off x="2697670" y="729100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75A6D6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" name="multiscale_cnn__cnn_k3__cnn_k3_40__polygon_021"/>
              <p:cNvSpPr/>
              <p:nvPr/>
            </p:nvSpPr>
            <p:spPr>
              <a:xfrm>
                <a:off x="2785162" y="721809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7AAAD7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" name="multiscale_cnn__cnn_k3__cnn_k3_40__polygon_022"/>
              <p:cNvSpPr/>
              <p:nvPr/>
            </p:nvSpPr>
            <p:spPr>
              <a:xfrm>
                <a:off x="2879945" y="714518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80ADD9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" name="multiscale_cnn__cnn_k3__cnn_k3_40__polygon_023"/>
              <p:cNvSpPr/>
              <p:nvPr/>
            </p:nvSpPr>
            <p:spPr>
              <a:xfrm>
                <a:off x="2974728" y="707227"/>
                <a:ext cx="87492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2" h="21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5B1DB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" name="multiscale_cnn__cnn_k3__cnn_k3_40__polygon_024"/>
              <p:cNvSpPr/>
              <p:nvPr/>
            </p:nvSpPr>
            <p:spPr>
              <a:xfrm>
                <a:off x="3062220" y="707227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8BB5DD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" name="multiscale_cnn__cnn_k3__cnn_k3_40__polygon_025"/>
              <p:cNvSpPr/>
              <p:nvPr/>
            </p:nvSpPr>
            <p:spPr>
              <a:xfrm>
                <a:off x="3149712" y="699936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0B8DE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" name="multiscale_cnn__cnn_k3__cnn_k3_40__polygon_026"/>
              <p:cNvSpPr/>
              <p:nvPr/>
            </p:nvSpPr>
            <p:spPr>
              <a:xfrm>
                <a:off x="2515395" y="874920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6BCE0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" name="multiscale_cnn__cnn_k3__cnn_k3_40__polygon_027"/>
              <p:cNvSpPr/>
              <p:nvPr/>
            </p:nvSpPr>
            <p:spPr>
              <a:xfrm>
                <a:off x="2610178" y="874920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BBFE2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" name="multiscale_cnn__cnn_k3__cnn_k3_40__polygon_028"/>
              <p:cNvSpPr/>
              <p:nvPr/>
            </p:nvSpPr>
            <p:spPr>
              <a:xfrm>
                <a:off x="2697670" y="867629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1C3E4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" name="multiscale_cnn__cnn_k3__cnn_k3_40__polygon_029"/>
              <p:cNvSpPr/>
              <p:nvPr/>
            </p:nvSpPr>
            <p:spPr>
              <a:xfrm>
                <a:off x="2785162" y="860338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6C7E6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" name="multiscale_cnn__cnn_k3__cnn_k3_40__polygon_030"/>
              <p:cNvSpPr/>
              <p:nvPr/>
            </p:nvSpPr>
            <p:spPr>
              <a:xfrm>
                <a:off x="2879945" y="860338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CCAE7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" name="multiscale_cnn__cnn_k3__cnn_k3_40__polygon_031"/>
              <p:cNvSpPr/>
              <p:nvPr/>
            </p:nvSpPr>
            <p:spPr>
              <a:xfrm>
                <a:off x="2974728" y="853047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1CEE9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" name="multiscale_cnn__cnn_k3__cnn_k3_40__polygon_032"/>
              <p:cNvSpPr/>
              <p:nvPr/>
            </p:nvSpPr>
            <p:spPr>
              <a:xfrm>
                <a:off x="3062220" y="845756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7D2EB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" name="multiscale_cnn__cnn_k3__cnn_k3_40__polygon_033"/>
              <p:cNvSpPr/>
              <p:nvPr/>
            </p:nvSpPr>
            <p:spPr>
              <a:xfrm>
                <a:off x="3149712" y="838465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CD5ED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" name="multiscale_cnn__cnn_k3__cnn_k3_40__polygon_034"/>
              <p:cNvSpPr/>
              <p:nvPr/>
            </p:nvSpPr>
            <p:spPr>
              <a:xfrm>
                <a:off x="2515395" y="1020740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2D9EF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" name="multiscale_cnn__cnn_k3__cnn_k3_40__polygon_035"/>
              <p:cNvSpPr/>
              <p:nvPr/>
            </p:nvSpPr>
            <p:spPr>
              <a:xfrm>
                <a:off x="2610178" y="1013449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7DCF0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" name="multiscale_cnn__cnn_k3__cnn_k3_40__polygon_036"/>
              <p:cNvSpPr/>
              <p:nvPr/>
            </p:nvSpPr>
            <p:spPr>
              <a:xfrm>
                <a:off x="2697670" y="1006158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DE0F2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" name="multiscale_cnn__cnn_k3__cnn_k3_40__polygon_037"/>
              <p:cNvSpPr/>
              <p:nvPr/>
            </p:nvSpPr>
            <p:spPr>
              <a:xfrm>
                <a:off x="2785162" y="1006158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2E4F4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" name="multiscale_cnn__cnn_k3__cnn_k3_40__polygon_038"/>
              <p:cNvSpPr/>
              <p:nvPr/>
            </p:nvSpPr>
            <p:spPr>
              <a:xfrm>
                <a:off x="2879945" y="998867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8E7F6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" name="multiscale_cnn__cnn_k3__cnn_k3_40__polygon_039"/>
              <p:cNvSpPr/>
              <p:nvPr/>
            </p:nvSpPr>
            <p:spPr>
              <a:xfrm>
                <a:off x="2974728" y="991576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DEBF7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" name="multiscale_cnn__cnn_k3__cnn_k3_40__polygon_040"/>
              <p:cNvSpPr/>
              <p:nvPr/>
            </p:nvSpPr>
            <p:spPr>
              <a:xfrm>
                <a:off x="3062220" y="984285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3EEF9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" name="multiscale_cnn__cnn_k3__cnn_k3_40__polygon_041"/>
              <p:cNvSpPr/>
              <p:nvPr/>
            </p:nvSpPr>
            <p:spPr>
              <a:xfrm>
                <a:off x="3149712" y="984285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8F2FB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" name="multiscale_cnn__cnn_k3__cnn_k3_40__polygon_042"/>
              <p:cNvSpPr/>
              <p:nvPr/>
            </p:nvSpPr>
            <p:spPr>
              <a:xfrm>
                <a:off x="2515395" y="699936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2E6DA4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38" name="panel_a__multiscale_cnn__cnn_k3__polyline_013"/>
            <p:cNvSpPr/>
            <p:nvPr/>
          </p:nvSpPr>
          <p:spPr>
            <a:xfrm>
              <a:off x="3244495" y="911375"/>
              <a:ext cx="328095" cy="0"/>
            </a:xfrm>
            <a:custGeom>
              <a:avLst/>
              <a:gdLst/>
              <a:ahLst/>
              <a:cxnLst/>
              <a:rect l="l" t="t" r="r" b="b"/>
              <a:pathLst>
                <a:path w="45" h="0">
                  <a:moveTo>
                    <a:pt x="0" y="0"/>
                  </a:moveTo>
                  <a:lnTo>
                    <a:pt x="45" y="0"/>
                  </a:lnTo>
                </a:path>
              </a:pathLst>
            </a:custGeom>
            <a:noFill/>
            <a:ln w="9479">
              <a:solidFill>
                <a:srgbClr val="111111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9" name="panel_a__multiscale_cnn__cnn_k3__polygon_043"/>
            <p:cNvSpPr/>
            <p:nvPr/>
          </p:nvSpPr>
          <p:spPr>
            <a:xfrm>
              <a:off x="3521553" y="889502"/>
              <a:ext cx="51037" cy="43746"/>
            </a:xfrm>
            <a:custGeom>
              <a:avLst/>
              <a:gdLst/>
              <a:ahLst/>
              <a:cxnLst/>
              <a:rect l="l" t="t" r="r" b="b"/>
              <a:pathLst>
                <a:path w="7" h="6">
                  <a:moveTo>
                    <a:pt x="7" y="3"/>
                  </a:move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40" name="module__pi_mscl_figure__panel_a__multiscale_cnn__cnn_k3__cnn_k3_2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41" name="multiscale_cnn__cnn_k3__cnn_k3_20__polygon_044"/>
              <p:cNvSpPr/>
              <p:nvPr/>
            </p:nvSpPr>
            <p:spPr>
              <a:xfrm>
                <a:off x="3499680" y="612444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30000"/>
                </a:srgbClr>
              </a:solidFill>
              <a:ln w="5833">
                <a:solidFill>
                  <a:srgbClr val="2E6DA4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" name="multiscale_cnn__cnn_k3__cnn_k3_20__polygon_045"/>
              <p:cNvSpPr/>
              <p:nvPr/>
            </p:nvSpPr>
            <p:spPr>
              <a:xfrm>
                <a:off x="3536135" y="634317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43000"/>
                </a:srgbClr>
              </a:solidFill>
              <a:ln w="5833">
                <a:solidFill>
                  <a:srgbClr val="2E6DA4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" name="multiscale_cnn__cnn_k3__cnn_k3_20__polygon_046"/>
              <p:cNvSpPr/>
              <p:nvPr/>
            </p:nvSpPr>
            <p:spPr>
              <a:xfrm>
                <a:off x="3572590" y="656190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56000"/>
                </a:srgbClr>
              </a:solidFill>
              <a:ln w="5833">
                <a:solidFill>
                  <a:srgbClr val="2E6DA4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" name="multiscale_cnn__cnn_k3__cnn_k3_20__polygon_047"/>
              <p:cNvSpPr/>
              <p:nvPr/>
            </p:nvSpPr>
            <p:spPr>
              <a:xfrm>
                <a:off x="3609045" y="678063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69000"/>
                </a:srgbClr>
              </a:solidFill>
              <a:ln w="5833">
                <a:solidFill>
                  <a:srgbClr val="2E6DA4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" name="multiscale_cnn__cnn_k3__cnn_k3_20__polygon_048"/>
              <p:cNvSpPr/>
              <p:nvPr/>
            </p:nvSpPr>
            <p:spPr>
              <a:xfrm>
                <a:off x="3645500" y="699936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82000"/>
                </a:srgbClr>
              </a:solidFill>
              <a:ln w="5833">
                <a:solidFill>
                  <a:srgbClr val="2E6DA4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" name="multiscale_cnn__cnn_k3__cnn_k3_20__polygon_049"/>
              <p:cNvSpPr/>
              <p:nvPr/>
            </p:nvSpPr>
            <p:spPr>
              <a:xfrm>
                <a:off x="3645500" y="729100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6A9FD2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" name="multiscale_cnn__cnn_k3__cnn_k3_20__polygon_050"/>
              <p:cNvSpPr/>
              <p:nvPr/>
            </p:nvSpPr>
            <p:spPr>
              <a:xfrm>
                <a:off x="3784029" y="721809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75A7D6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" name="multiscale_cnn__cnn_k3__cnn_k3_20__polygon_051"/>
              <p:cNvSpPr/>
              <p:nvPr/>
            </p:nvSpPr>
            <p:spPr>
              <a:xfrm>
                <a:off x="3922558" y="707227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1AED9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" name="multiscale_cnn__cnn_k3__cnn_k3_20__polygon_052"/>
              <p:cNvSpPr/>
              <p:nvPr/>
            </p:nvSpPr>
            <p:spPr>
              <a:xfrm>
                <a:off x="4061087" y="699936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CB6DD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" name="multiscale_cnn__cnn_k3__cnn_k3_20__polygon_053"/>
              <p:cNvSpPr/>
              <p:nvPr/>
            </p:nvSpPr>
            <p:spPr>
              <a:xfrm>
                <a:off x="3645500" y="874920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8BDE1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" name="multiscale_cnn__cnn_k3__cnn_k3_20__polygon_054"/>
              <p:cNvSpPr/>
              <p:nvPr/>
            </p:nvSpPr>
            <p:spPr>
              <a:xfrm>
                <a:off x="3784029" y="860338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A3C5E5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" name="multiscale_cnn__cnn_k3__cnn_k3_20__polygon_055"/>
              <p:cNvSpPr/>
              <p:nvPr/>
            </p:nvSpPr>
            <p:spPr>
              <a:xfrm>
                <a:off x="3922558" y="853047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AFCCE8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" name="multiscale_cnn__cnn_k3__cnn_k3_20__polygon_056"/>
              <p:cNvSpPr/>
              <p:nvPr/>
            </p:nvSpPr>
            <p:spPr>
              <a:xfrm>
                <a:off x="4061087" y="838465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BAD4EC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" name="multiscale_cnn__cnn_k3__cnn_k3_20__polygon_057"/>
              <p:cNvSpPr/>
              <p:nvPr/>
            </p:nvSpPr>
            <p:spPr>
              <a:xfrm>
                <a:off x="3645500" y="1013449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C6DBF0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" name="multiscale_cnn__cnn_k3__cnn_k3_20__polygon_058"/>
              <p:cNvSpPr/>
              <p:nvPr/>
            </p:nvSpPr>
            <p:spPr>
              <a:xfrm>
                <a:off x="3784029" y="1006158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1E3F4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" name="multiscale_cnn__cnn_k3__cnn_k3_20__polygon_059"/>
              <p:cNvSpPr/>
              <p:nvPr/>
            </p:nvSpPr>
            <p:spPr>
              <a:xfrm>
                <a:off x="3922558" y="991576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DDEAF7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" name="multiscale_cnn__cnn_k3__cnn_k3_20__polygon_060"/>
              <p:cNvSpPr/>
              <p:nvPr/>
            </p:nvSpPr>
            <p:spPr>
              <a:xfrm>
                <a:off x="4061087" y="984285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8F2FB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" name="multiscale_cnn__cnn_k3__cnn_k3_20__polygon_061"/>
              <p:cNvSpPr/>
              <p:nvPr/>
            </p:nvSpPr>
            <p:spPr>
              <a:xfrm>
                <a:off x="3645500" y="699936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2E6DA4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59" name="panel_a__multiscale_cnn__cnn_k3__polyline_014"/>
            <p:cNvSpPr/>
            <p:nvPr/>
          </p:nvSpPr>
          <p:spPr>
            <a:xfrm>
              <a:off x="4199616" y="911375"/>
              <a:ext cx="437460" cy="0"/>
            </a:xfrm>
            <a:custGeom>
              <a:avLst/>
              <a:gdLst/>
              <a:ahLst/>
              <a:cxnLst/>
              <a:rect l="l" t="t" r="r" b="b"/>
              <a:pathLst>
                <a:path w="60" h="0">
                  <a:moveTo>
                    <a:pt x="0" y="0"/>
                  </a:moveTo>
                  <a:lnTo>
                    <a:pt x="60" y="0"/>
                  </a:lnTo>
                </a:path>
              </a:pathLst>
            </a:custGeom>
            <a:noFill/>
            <a:ln w="9479">
              <a:solidFill>
                <a:srgbClr val="111111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0" name="panel_a__multiscale_cnn__cnn_k3__polygon_062"/>
            <p:cNvSpPr/>
            <p:nvPr/>
          </p:nvSpPr>
          <p:spPr>
            <a:xfrm>
              <a:off x="4586039" y="889502"/>
              <a:ext cx="51037" cy="43746"/>
            </a:xfrm>
            <a:custGeom>
              <a:avLst/>
              <a:gdLst/>
              <a:ahLst/>
              <a:cxnLst/>
              <a:rect l="l" t="t" r="r" b="b"/>
              <a:pathLst>
                <a:path w="7" h="6">
                  <a:moveTo>
                    <a:pt x="7" y="3"/>
                  </a:move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61" name="module__pi_mscl_figure__panel_a__multiscale_cnn__cnn_k3__cnn_k3_1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62" name="multiscale_cnn__cnn_k3__cnn_k3_10__polygon_063"/>
              <p:cNvSpPr/>
              <p:nvPr/>
            </p:nvSpPr>
            <p:spPr>
              <a:xfrm>
                <a:off x="4564166" y="612444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30000"/>
                </a:srgbClr>
              </a:solidFill>
              <a:ln w="5833">
                <a:solidFill>
                  <a:srgbClr val="2E6DA4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" name="multiscale_cnn__cnn_k3__cnn_k3_10__polygon_064"/>
              <p:cNvSpPr/>
              <p:nvPr/>
            </p:nvSpPr>
            <p:spPr>
              <a:xfrm>
                <a:off x="4600621" y="634317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43000"/>
                </a:srgbClr>
              </a:solidFill>
              <a:ln w="5833">
                <a:solidFill>
                  <a:srgbClr val="2E6DA4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" name="multiscale_cnn__cnn_k3__cnn_k3_10__polygon_065"/>
              <p:cNvSpPr/>
              <p:nvPr/>
            </p:nvSpPr>
            <p:spPr>
              <a:xfrm>
                <a:off x="4637076" y="656190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56000"/>
                </a:srgbClr>
              </a:solidFill>
              <a:ln w="5833">
                <a:solidFill>
                  <a:srgbClr val="2E6DA4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" name="multiscale_cnn__cnn_k3__cnn_k3_10__polygon_066"/>
              <p:cNvSpPr/>
              <p:nvPr/>
            </p:nvSpPr>
            <p:spPr>
              <a:xfrm>
                <a:off x="4673531" y="678063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69000"/>
                </a:srgbClr>
              </a:solidFill>
              <a:ln w="5833">
                <a:solidFill>
                  <a:srgbClr val="2E6DA4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" name="multiscale_cnn__cnn_k3__cnn_k3_10__polygon_067"/>
              <p:cNvSpPr/>
              <p:nvPr/>
            </p:nvSpPr>
            <p:spPr>
              <a:xfrm>
                <a:off x="4709986" y="699936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6E7F8">
                  <a:alpha val="82000"/>
                </a:srgbClr>
              </a:solidFill>
              <a:ln w="5833">
                <a:solidFill>
                  <a:srgbClr val="2E6DA4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" name="multiscale_cnn__cnn_k3__cnn_k3_10__polygon_068"/>
              <p:cNvSpPr/>
              <p:nvPr/>
            </p:nvSpPr>
            <p:spPr>
              <a:xfrm>
                <a:off x="4709986" y="721809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6A9FD2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" name="multiscale_cnn__cnn_k3__cnn_k3_10__polygon_069"/>
              <p:cNvSpPr/>
              <p:nvPr/>
            </p:nvSpPr>
            <p:spPr>
              <a:xfrm>
                <a:off x="4899552" y="699936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83B0DA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" name="multiscale_cnn__cnn_k3__cnn_k3_10__polygon_070"/>
              <p:cNvSpPr/>
              <p:nvPr/>
            </p:nvSpPr>
            <p:spPr>
              <a:xfrm>
                <a:off x="4709986" y="860338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2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9CC0E2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" name="multiscale_cnn__cnn_k3__cnn_k3_10__polygon_071"/>
              <p:cNvSpPr/>
              <p:nvPr/>
            </p:nvSpPr>
            <p:spPr>
              <a:xfrm>
                <a:off x="4899552" y="838465"/>
                <a:ext cx="189566" cy="167693"/>
              </a:xfrm>
              <a:custGeom>
                <a:avLst/>
                <a:gdLst/>
                <a:ahLst/>
                <a:cxnLst/>
                <a:rect l="l" t="t" r="r" b="b"/>
                <a:pathLst>
                  <a:path w="26" h="23">
                    <a:moveTo>
                      <a:pt x="0" y="3"/>
                    </a:moveTo>
                    <a:lnTo>
                      <a:pt x="26" y="0"/>
                    </a:lnTo>
                    <a:lnTo>
                      <a:pt x="26" y="20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B6D1EB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" name="multiscale_cnn__cnn_k3__cnn_k3_10__polygon_072"/>
              <p:cNvSpPr/>
              <p:nvPr/>
            </p:nvSpPr>
            <p:spPr>
              <a:xfrm>
                <a:off x="4709986" y="1006158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2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CFE1F3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" name="multiscale_cnn__cnn_k3__cnn_k3_10__polygon_073"/>
              <p:cNvSpPr/>
              <p:nvPr/>
            </p:nvSpPr>
            <p:spPr>
              <a:xfrm>
                <a:off x="4899552" y="984285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E8F2FB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" name="multiscale_cnn__cnn_k3__cnn_k3_10__polygon_074"/>
              <p:cNvSpPr/>
              <p:nvPr/>
            </p:nvSpPr>
            <p:spPr>
              <a:xfrm>
                <a:off x="4709986" y="699936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2E6DA4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74" name="panel_a__multiscale_cnn__cnn_k3__text_013"/>
            <p:cNvSpPr txBox="1"/>
            <p:nvPr/>
          </p:nvSpPr>
          <p:spPr>
            <a:xfrm>
              <a:off x="2821952" y="1232325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40</a:t>
              </a:r>
            </a:p>
          </p:txBody>
        </p:sp>
        <p:sp>
          <p:nvSpPr>
            <p:cNvPr id="175" name="panel_a__multiscale_cnn__cnn_k3__text_014"/>
            <p:cNvSpPr txBox="1"/>
            <p:nvPr/>
          </p:nvSpPr>
          <p:spPr>
            <a:xfrm>
              <a:off x="3864688" y="1232325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20</a:t>
              </a:r>
            </a:p>
          </p:txBody>
        </p:sp>
        <p:sp>
          <p:nvSpPr>
            <p:cNvPr id="176" name="panel_a__multiscale_cnn__cnn_k3__text_015"/>
            <p:cNvSpPr txBox="1"/>
            <p:nvPr/>
          </p:nvSpPr>
          <p:spPr>
            <a:xfrm>
              <a:off x="4841798" y="1232325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10</a:t>
              </a:r>
            </a:p>
          </p:txBody>
        </p:sp>
      </p:grpSp>
      <p:grpSp>
        <p:nvGrpSpPr>
          <p:cNvPr id="177" name="module__pi_mscl_figure__panel_a__multiscale_cnn__cnn_k7"/>
          <p:cNvGrpSpPr/>
          <p:nvPr/>
        </p:nvGrpSpPr>
        <p:grpSpPr>
          <a:xfrm>
            <a:off x="0" y="0"/>
            <a:ext cx="4958467" cy="2180266"/>
            <a:chOff x="0" y="0"/>
            <a:chExt cx="4958467" cy="2180266"/>
          </a:xfrm>
        </p:grpSpPr>
        <p:sp>
          <p:nvSpPr>
            <p:cNvPr id="178" name="panel_a__multiscale_cnn__cnn_k7__text_016"/>
            <p:cNvSpPr txBox="1"/>
            <p:nvPr/>
          </p:nvSpPr>
          <p:spPr>
            <a:xfrm>
              <a:off x="1954220" y="1677129"/>
              <a:ext cx="262507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0" i="1">
                  <a:solidFill>
                    <a:srgbClr val="148129"/>
                  </a:solidFill>
                  <a:latin typeface="Times New Roman"/>
                </a:rPr>
                <a:t>k = 7</a:t>
              </a:r>
            </a:p>
          </p:txBody>
        </p:sp>
        <p:grpSp>
          <p:nvGrpSpPr>
            <p:cNvPr id="179" name="module__pi_mscl_figure__panel_a__multiscale_cnn__cnn_k7__cnn_k7_4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80" name="multiscale_cnn__cnn_k7__cnn_k7_40__polygon_075"/>
              <p:cNvSpPr/>
              <p:nvPr/>
            </p:nvSpPr>
            <p:spPr>
              <a:xfrm>
                <a:off x="2369575" y="1450909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30000"/>
                </a:srgbClr>
              </a:solidFill>
              <a:ln w="5833">
                <a:solidFill>
                  <a:srgbClr val="398C43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" name="multiscale_cnn__cnn_k7__cnn_k7_40__polygon_076"/>
              <p:cNvSpPr/>
              <p:nvPr/>
            </p:nvSpPr>
            <p:spPr>
              <a:xfrm>
                <a:off x="2406030" y="1472782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43000"/>
                </a:srgbClr>
              </a:solidFill>
              <a:ln w="5833">
                <a:solidFill>
                  <a:srgbClr val="398C43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" name="multiscale_cnn__cnn_k7__cnn_k7_40__polygon_077"/>
              <p:cNvSpPr/>
              <p:nvPr/>
            </p:nvSpPr>
            <p:spPr>
              <a:xfrm>
                <a:off x="2442485" y="1494655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56000"/>
                </a:srgbClr>
              </a:solidFill>
              <a:ln w="5833">
                <a:solidFill>
                  <a:srgbClr val="398C43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" name="multiscale_cnn__cnn_k7__cnn_k7_40__polygon_078"/>
              <p:cNvSpPr/>
              <p:nvPr/>
            </p:nvSpPr>
            <p:spPr>
              <a:xfrm>
                <a:off x="2478940" y="1516528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69000"/>
                </a:srgbClr>
              </a:solidFill>
              <a:ln w="5833">
                <a:solidFill>
                  <a:srgbClr val="398C43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" name="multiscale_cnn__cnn_k7__cnn_k7_40__polygon_079"/>
              <p:cNvSpPr/>
              <p:nvPr/>
            </p:nvSpPr>
            <p:spPr>
              <a:xfrm>
                <a:off x="2515395" y="1538401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82000"/>
                </a:srgbClr>
              </a:solidFill>
              <a:ln w="5833">
                <a:solidFill>
                  <a:srgbClr val="398C43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" name="multiscale_cnn__cnn_k7__cnn_k7_40__polygon_080"/>
              <p:cNvSpPr/>
              <p:nvPr/>
            </p:nvSpPr>
            <p:spPr>
              <a:xfrm>
                <a:off x="2515395" y="1574856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66AA6B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" name="multiscale_cnn__cnn_k7__cnn_k7_40__polygon_081"/>
              <p:cNvSpPr/>
              <p:nvPr/>
            </p:nvSpPr>
            <p:spPr>
              <a:xfrm>
                <a:off x="2610178" y="1567565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6CAD71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" name="multiscale_cnn__cnn_k7__cnn_k7_40__polygon_082"/>
              <p:cNvSpPr/>
              <p:nvPr/>
            </p:nvSpPr>
            <p:spPr>
              <a:xfrm>
                <a:off x="2697670" y="1567565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71B176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" name="multiscale_cnn__cnn_k7__cnn_k7_40__polygon_083"/>
              <p:cNvSpPr/>
              <p:nvPr/>
            </p:nvSpPr>
            <p:spPr>
              <a:xfrm>
                <a:off x="2785162" y="1560274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77B47C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" name="multiscale_cnn__cnn_k7__cnn_k7_40__polygon_084"/>
              <p:cNvSpPr/>
              <p:nvPr/>
            </p:nvSpPr>
            <p:spPr>
              <a:xfrm>
                <a:off x="2879945" y="1552983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7DB781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" name="multiscale_cnn__cnn_k7__cnn_k7_40__polygon_085"/>
              <p:cNvSpPr/>
              <p:nvPr/>
            </p:nvSpPr>
            <p:spPr>
              <a:xfrm>
                <a:off x="2974728" y="1545692"/>
                <a:ext cx="87492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2" h="21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3BA87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" name="multiscale_cnn__cnn_k7__cnn_k7_40__polygon_086"/>
              <p:cNvSpPr/>
              <p:nvPr/>
            </p:nvSpPr>
            <p:spPr>
              <a:xfrm>
                <a:off x="3062220" y="1545692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88BE8C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" name="multiscale_cnn__cnn_k7__cnn_k7_40__polygon_087"/>
              <p:cNvSpPr/>
              <p:nvPr/>
            </p:nvSpPr>
            <p:spPr>
              <a:xfrm>
                <a:off x="3149712" y="1538401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8EC192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" name="multiscale_cnn__cnn_k7__cnn_k7_40__polygon_088"/>
              <p:cNvSpPr/>
              <p:nvPr/>
            </p:nvSpPr>
            <p:spPr>
              <a:xfrm>
                <a:off x="2515395" y="1713385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4C497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" name="multiscale_cnn__cnn_k7__cnn_k7_40__polygon_089"/>
              <p:cNvSpPr/>
              <p:nvPr/>
            </p:nvSpPr>
            <p:spPr>
              <a:xfrm>
                <a:off x="2610178" y="1713385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AC79D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" name="multiscale_cnn__cnn_k7__cnn_k7_40__polygon_090"/>
              <p:cNvSpPr/>
              <p:nvPr/>
            </p:nvSpPr>
            <p:spPr>
              <a:xfrm>
                <a:off x="2697670" y="1706094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FCBA2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" name="multiscale_cnn__cnn_k7__cnn_k7_40__polygon_091"/>
              <p:cNvSpPr/>
              <p:nvPr/>
            </p:nvSpPr>
            <p:spPr>
              <a:xfrm>
                <a:off x="2785162" y="1698803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5CEA8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" name="multiscale_cnn__cnn_k7__cnn_k7_40__polygon_092"/>
              <p:cNvSpPr/>
              <p:nvPr/>
            </p:nvSpPr>
            <p:spPr>
              <a:xfrm>
                <a:off x="2879945" y="1698803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BD1AD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" name="multiscale_cnn__cnn_k7__cnn_k7_40__polygon_093"/>
              <p:cNvSpPr/>
              <p:nvPr/>
            </p:nvSpPr>
            <p:spPr>
              <a:xfrm>
                <a:off x="2974728" y="1691512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1D4B3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" name="multiscale_cnn__cnn_k7__cnn_k7_40__polygon_094"/>
              <p:cNvSpPr/>
              <p:nvPr/>
            </p:nvSpPr>
            <p:spPr>
              <a:xfrm>
                <a:off x="3062220" y="1684221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6D8B8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" name="multiscale_cnn__cnn_k7__cnn_k7_40__polygon_095"/>
              <p:cNvSpPr/>
              <p:nvPr/>
            </p:nvSpPr>
            <p:spPr>
              <a:xfrm>
                <a:off x="3149712" y="1676930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CDBBE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" name="multiscale_cnn__cnn_k7__cnn_k7_40__polygon_096"/>
              <p:cNvSpPr/>
              <p:nvPr/>
            </p:nvSpPr>
            <p:spPr>
              <a:xfrm>
                <a:off x="2515395" y="1859205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2DEC3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" name="multiscale_cnn__cnn_k7__cnn_k7_40__polygon_097"/>
              <p:cNvSpPr/>
              <p:nvPr/>
            </p:nvSpPr>
            <p:spPr>
              <a:xfrm>
                <a:off x="2610178" y="1851914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8E1C9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" name="multiscale_cnn__cnn_k7__cnn_k7_40__polygon_098"/>
              <p:cNvSpPr/>
              <p:nvPr/>
            </p:nvSpPr>
            <p:spPr>
              <a:xfrm>
                <a:off x="2697670" y="1844623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DE5CE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" name="multiscale_cnn__cnn_k7__cnn_k7_40__polygon_099"/>
              <p:cNvSpPr/>
              <p:nvPr/>
            </p:nvSpPr>
            <p:spPr>
              <a:xfrm>
                <a:off x="2785162" y="1844623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3E8D4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" name="multiscale_cnn__cnn_k7__cnn_k7_40__polygon_100"/>
              <p:cNvSpPr/>
              <p:nvPr/>
            </p:nvSpPr>
            <p:spPr>
              <a:xfrm>
                <a:off x="2879945" y="1837332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9EBD9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" name="multiscale_cnn__cnn_k7__cnn_k7_40__polygon_101"/>
              <p:cNvSpPr/>
              <p:nvPr/>
            </p:nvSpPr>
            <p:spPr>
              <a:xfrm>
                <a:off x="2974728" y="1830041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FEEDF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" name="multiscale_cnn__cnn_k7__cnn_k7_40__polygon_102"/>
              <p:cNvSpPr/>
              <p:nvPr/>
            </p:nvSpPr>
            <p:spPr>
              <a:xfrm>
                <a:off x="3062220" y="1822750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4F2E4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8" name="multiscale_cnn__cnn_k7__cnn_k7_40__polygon_103"/>
              <p:cNvSpPr/>
              <p:nvPr/>
            </p:nvSpPr>
            <p:spPr>
              <a:xfrm>
                <a:off x="3149712" y="1822750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AF5EA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9" name="multiscale_cnn__cnn_k7__cnn_k7_40__polygon_104"/>
              <p:cNvSpPr/>
              <p:nvPr/>
            </p:nvSpPr>
            <p:spPr>
              <a:xfrm>
                <a:off x="2515395" y="1538401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398C43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10" name="panel_a__multiscale_cnn__cnn_k7__polyline_015"/>
            <p:cNvSpPr/>
            <p:nvPr/>
          </p:nvSpPr>
          <p:spPr>
            <a:xfrm>
              <a:off x="3244495" y="1749840"/>
              <a:ext cx="328095" cy="0"/>
            </a:xfrm>
            <a:custGeom>
              <a:avLst/>
              <a:gdLst/>
              <a:ahLst/>
              <a:cxnLst/>
              <a:rect l="l" t="t" r="r" b="b"/>
              <a:pathLst>
                <a:path w="45" h="0">
                  <a:moveTo>
                    <a:pt x="0" y="0"/>
                  </a:moveTo>
                  <a:lnTo>
                    <a:pt x="45" y="0"/>
                  </a:lnTo>
                </a:path>
              </a:pathLst>
            </a:custGeom>
            <a:noFill/>
            <a:ln w="9479">
              <a:solidFill>
                <a:srgbClr val="111111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1" name="panel_a__multiscale_cnn__cnn_k7__polygon_105"/>
            <p:cNvSpPr/>
            <p:nvPr/>
          </p:nvSpPr>
          <p:spPr>
            <a:xfrm>
              <a:off x="3521553" y="1720676"/>
              <a:ext cx="51037" cy="58328"/>
            </a:xfrm>
            <a:custGeom>
              <a:avLst/>
              <a:gdLst/>
              <a:ahLst/>
              <a:cxnLst/>
              <a:rect l="l" t="t" r="r" b="b"/>
              <a:pathLst>
                <a:path w="7" h="8">
                  <a:moveTo>
                    <a:pt x="7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212" name="module__pi_mscl_figure__panel_a__multiscale_cnn__cnn_k7__cnn_k7_2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13" name="multiscale_cnn__cnn_k7__cnn_k7_20__polygon_106"/>
              <p:cNvSpPr/>
              <p:nvPr/>
            </p:nvSpPr>
            <p:spPr>
              <a:xfrm>
                <a:off x="3499680" y="1450909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30000"/>
                </a:srgbClr>
              </a:solidFill>
              <a:ln w="5833">
                <a:solidFill>
                  <a:srgbClr val="398C43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4" name="multiscale_cnn__cnn_k7__cnn_k7_20__polygon_107"/>
              <p:cNvSpPr/>
              <p:nvPr/>
            </p:nvSpPr>
            <p:spPr>
              <a:xfrm>
                <a:off x="3536135" y="1472782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43000"/>
                </a:srgbClr>
              </a:solidFill>
              <a:ln w="5833">
                <a:solidFill>
                  <a:srgbClr val="398C43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5" name="multiscale_cnn__cnn_k7__cnn_k7_20__polygon_108"/>
              <p:cNvSpPr/>
              <p:nvPr/>
            </p:nvSpPr>
            <p:spPr>
              <a:xfrm>
                <a:off x="3572590" y="1494655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56000"/>
                </a:srgbClr>
              </a:solidFill>
              <a:ln w="5833">
                <a:solidFill>
                  <a:srgbClr val="398C43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6" name="multiscale_cnn__cnn_k7__cnn_k7_20__polygon_109"/>
              <p:cNvSpPr/>
              <p:nvPr/>
            </p:nvSpPr>
            <p:spPr>
              <a:xfrm>
                <a:off x="3609045" y="1516528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69000"/>
                </a:srgbClr>
              </a:solidFill>
              <a:ln w="5833">
                <a:solidFill>
                  <a:srgbClr val="398C43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" name="multiscale_cnn__cnn_k7__cnn_k7_20__polygon_110"/>
              <p:cNvSpPr/>
              <p:nvPr/>
            </p:nvSpPr>
            <p:spPr>
              <a:xfrm>
                <a:off x="3645500" y="1538401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82000"/>
                </a:srgbClr>
              </a:solidFill>
              <a:ln w="5833">
                <a:solidFill>
                  <a:srgbClr val="398C43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" name="multiscale_cnn__cnn_k7__cnn_k7_20__polygon_111"/>
              <p:cNvSpPr/>
              <p:nvPr/>
            </p:nvSpPr>
            <p:spPr>
              <a:xfrm>
                <a:off x="3645500" y="1567565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66AA6B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9" name="multiscale_cnn__cnn_k7__cnn_k7_20__polygon_112"/>
              <p:cNvSpPr/>
              <p:nvPr/>
            </p:nvSpPr>
            <p:spPr>
              <a:xfrm>
                <a:off x="3784029" y="1560274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72B177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0" name="multiscale_cnn__cnn_k7__cnn_k7_20__polygon_113"/>
              <p:cNvSpPr/>
              <p:nvPr/>
            </p:nvSpPr>
            <p:spPr>
              <a:xfrm>
                <a:off x="3922558" y="1545692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7EB882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1" name="multiscale_cnn__cnn_k7__cnn_k7_20__polygon_114"/>
              <p:cNvSpPr/>
              <p:nvPr/>
            </p:nvSpPr>
            <p:spPr>
              <a:xfrm>
                <a:off x="4061087" y="1538401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ABE8E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2" name="multiscale_cnn__cnn_k7__cnn_k7_20__polygon_115"/>
              <p:cNvSpPr/>
              <p:nvPr/>
            </p:nvSpPr>
            <p:spPr>
              <a:xfrm>
                <a:off x="3645500" y="1713385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6C599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3" name="multiscale_cnn__cnn_k7__cnn_k7_20__polygon_116"/>
              <p:cNvSpPr/>
              <p:nvPr/>
            </p:nvSpPr>
            <p:spPr>
              <a:xfrm>
                <a:off x="3784029" y="1698803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A2CCA5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" name="multiscale_cnn__cnn_k7__cnn_k7_20__polygon_117"/>
              <p:cNvSpPr/>
              <p:nvPr/>
            </p:nvSpPr>
            <p:spPr>
              <a:xfrm>
                <a:off x="3922558" y="1691512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AED3B0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" name="multiscale_cnn__cnn_k7__cnn_k7_20__polygon_118"/>
              <p:cNvSpPr/>
              <p:nvPr/>
            </p:nvSpPr>
            <p:spPr>
              <a:xfrm>
                <a:off x="4061087" y="1676930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BADABC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" name="multiscale_cnn__cnn_k7__cnn_k7_20__polygon_119"/>
              <p:cNvSpPr/>
              <p:nvPr/>
            </p:nvSpPr>
            <p:spPr>
              <a:xfrm>
                <a:off x="3645500" y="1851914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C6E1C7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" name="multiscale_cnn__cnn_k7__cnn_k7_20__polygon_120"/>
              <p:cNvSpPr/>
              <p:nvPr/>
            </p:nvSpPr>
            <p:spPr>
              <a:xfrm>
                <a:off x="3784029" y="1844623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2E7D3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8" name="multiscale_cnn__cnn_k7__cnn_k7_20__polygon_121"/>
              <p:cNvSpPr/>
              <p:nvPr/>
            </p:nvSpPr>
            <p:spPr>
              <a:xfrm>
                <a:off x="3922558" y="1830041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DEEEDE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9" name="multiscale_cnn__cnn_k7__cnn_k7_20__polygon_122"/>
              <p:cNvSpPr/>
              <p:nvPr/>
            </p:nvSpPr>
            <p:spPr>
              <a:xfrm>
                <a:off x="4061087" y="1822750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AF5EA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" name="multiscale_cnn__cnn_k7__cnn_k7_20__polygon_123"/>
              <p:cNvSpPr/>
              <p:nvPr/>
            </p:nvSpPr>
            <p:spPr>
              <a:xfrm>
                <a:off x="3645500" y="1538401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398C43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31" name="panel_a__multiscale_cnn__cnn_k7__polyline_016"/>
            <p:cNvSpPr/>
            <p:nvPr/>
          </p:nvSpPr>
          <p:spPr>
            <a:xfrm>
              <a:off x="4199616" y="1749840"/>
              <a:ext cx="437460" cy="0"/>
            </a:xfrm>
            <a:custGeom>
              <a:avLst/>
              <a:gdLst/>
              <a:ahLst/>
              <a:cxnLst/>
              <a:rect l="l" t="t" r="r" b="b"/>
              <a:pathLst>
                <a:path w="60" h="0">
                  <a:moveTo>
                    <a:pt x="0" y="0"/>
                  </a:moveTo>
                  <a:lnTo>
                    <a:pt x="60" y="0"/>
                  </a:lnTo>
                </a:path>
              </a:pathLst>
            </a:custGeom>
            <a:noFill/>
            <a:ln w="9479">
              <a:solidFill>
                <a:srgbClr val="111111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2" name="panel_a__multiscale_cnn__cnn_k7__polygon_124"/>
            <p:cNvSpPr/>
            <p:nvPr/>
          </p:nvSpPr>
          <p:spPr>
            <a:xfrm>
              <a:off x="4586039" y="1720676"/>
              <a:ext cx="51037" cy="58328"/>
            </a:xfrm>
            <a:custGeom>
              <a:avLst/>
              <a:gdLst/>
              <a:ahLst/>
              <a:cxnLst/>
              <a:rect l="l" t="t" r="r" b="b"/>
              <a:pathLst>
                <a:path w="7" h="8">
                  <a:moveTo>
                    <a:pt x="7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233" name="module__pi_mscl_figure__panel_a__multiscale_cnn__cnn_k7__cnn_k7_1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34" name="multiscale_cnn__cnn_k7__cnn_k7_10__polygon_125"/>
              <p:cNvSpPr/>
              <p:nvPr/>
            </p:nvSpPr>
            <p:spPr>
              <a:xfrm>
                <a:off x="4564166" y="1450909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30000"/>
                </a:srgbClr>
              </a:solidFill>
              <a:ln w="5833">
                <a:solidFill>
                  <a:srgbClr val="398C43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" name="multiscale_cnn__cnn_k7__cnn_k7_10__polygon_126"/>
              <p:cNvSpPr/>
              <p:nvPr/>
            </p:nvSpPr>
            <p:spPr>
              <a:xfrm>
                <a:off x="4600621" y="1472782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43000"/>
                </a:srgbClr>
              </a:solidFill>
              <a:ln w="5833">
                <a:solidFill>
                  <a:srgbClr val="398C43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" name="multiscale_cnn__cnn_k7__cnn_k7_10__polygon_127"/>
              <p:cNvSpPr/>
              <p:nvPr/>
            </p:nvSpPr>
            <p:spPr>
              <a:xfrm>
                <a:off x="4637076" y="1494655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56000"/>
                </a:srgbClr>
              </a:solidFill>
              <a:ln w="5833">
                <a:solidFill>
                  <a:srgbClr val="398C43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" name="multiscale_cnn__cnn_k7__cnn_k7_10__polygon_128"/>
              <p:cNvSpPr/>
              <p:nvPr/>
            </p:nvSpPr>
            <p:spPr>
              <a:xfrm>
                <a:off x="4673531" y="1516528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69000"/>
                </a:srgbClr>
              </a:solidFill>
              <a:ln w="5833">
                <a:solidFill>
                  <a:srgbClr val="398C43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" name="multiscale_cnn__cnn_k7__cnn_k7_10__polygon_129"/>
              <p:cNvSpPr/>
              <p:nvPr/>
            </p:nvSpPr>
            <p:spPr>
              <a:xfrm>
                <a:off x="4709986" y="1538401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D9EFD9">
                  <a:alpha val="82000"/>
                </a:srgbClr>
              </a:solidFill>
              <a:ln w="5833">
                <a:solidFill>
                  <a:srgbClr val="398C43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" name="multiscale_cnn__cnn_k7__cnn_k7_10__polygon_130"/>
              <p:cNvSpPr/>
              <p:nvPr/>
            </p:nvSpPr>
            <p:spPr>
              <a:xfrm>
                <a:off x="4709986" y="1560274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66AA6B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" name="multiscale_cnn__cnn_k7__cnn_k7_10__polygon_131"/>
              <p:cNvSpPr/>
              <p:nvPr/>
            </p:nvSpPr>
            <p:spPr>
              <a:xfrm>
                <a:off x="4899552" y="1538401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80B984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" name="multiscale_cnn__cnn_k7__cnn_k7_10__polygon_132"/>
              <p:cNvSpPr/>
              <p:nvPr/>
            </p:nvSpPr>
            <p:spPr>
              <a:xfrm>
                <a:off x="4709986" y="1698803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2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9BC89E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2" name="multiscale_cnn__cnn_k7__cnn_k7_10__polygon_133"/>
              <p:cNvSpPr/>
              <p:nvPr/>
            </p:nvSpPr>
            <p:spPr>
              <a:xfrm>
                <a:off x="4899552" y="1676930"/>
                <a:ext cx="189566" cy="167693"/>
              </a:xfrm>
              <a:custGeom>
                <a:avLst/>
                <a:gdLst/>
                <a:ahLst/>
                <a:cxnLst/>
                <a:rect l="l" t="t" r="r" b="b"/>
                <a:pathLst>
                  <a:path w="26" h="23">
                    <a:moveTo>
                      <a:pt x="0" y="3"/>
                    </a:moveTo>
                    <a:lnTo>
                      <a:pt x="26" y="0"/>
                    </a:lnTo>
                    <a:lnTo>
                      <a:pt x="26" y="20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B5D7B7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3" name="multiscale_cnn__cnn_k7__cnn_k7_10__polygon_134"/>
              <p:cNvSpPr/>
              <p:nvPr/>
            </p:nvSpPr>
            <p:spPr>
              <a:xfrm>
                <a:off x="4709986" y="1844623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2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D0E6D1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" name="multiscale_cnn__cnn_k7__cnn_k7_10__polygon_135"/>
              <p:cNvSpPr/>
              <p:nvPr/>
            </p:nvSpPr>
            <p:spPr>
              <a:xfrm>
                <a:off x="4899552" y="1822750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EAF5EA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" name="multiscale_cnn__cnn_k7__cnn_k7_10__polygon_136"/>
              <p:cNvSpPr/>
              <p:nvPr/>
            </p:nvSpPr>
            <p:spPr>
              <a:xfrm>
                <a:off x="4709986" y="1538401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398C43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46" name="panel_a__multiscale_cnn__cnn_k7__text_017"/>
            <p:cNvSpPr txBox="1"/>
            <p:nvPr/>
          </p:nvSpPr>
          <p:spPr>
            <a:xfrm>
              <a:off x="2821952" y="2070889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40</a:t>
              </a:r>
            </a:p>
          </p:txBody>
        </p:sp>
        <p:sp>
          <p:nvSpPr>
            <p:cNvPr id="247" name="panel_a__multiscale_cnn__cnn_k7__text_018"/>
            <p:cNvSpPr txBox="1"/>
            <p:nvPr/>
          </p:nvSpPr>
          <p:spPr>
            <a:xfrm>
              <a:off x="3864688" y="2070889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20</a:t>
              </a:r>
            </a:p>
          </p:txBody>
        </p:sp>
        <p:sp>
          <p:nvSpPr>
            <p:cNvPr id="248" name="panel_a__multiscale_cnn__cnn_k7__text_019"/>
            <p:cNvSpPr txBox="1"/>
            <p:nvPr/>
          </p:nvSpPr>
          <p:spPr>
            <a:xfrm>
              <a:off x="4841798" y="2070889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10</a:t>
              </a:r>
            </a:p>
          </p:txBody>
        </p:sp>
      </p:grpSp>
      <p:grpSp>
        <p:nvGrpSpPr>
          <p:cNvPr id="249" name="module__pi_mscl_figure__panel_a__multiscale_cnn__cnn_k15"/>
          <p:cNvGrpSpPr/>
          <p:nvPr/>
        </p:nvGrpSpPr>
        <p:grpSpPr>
          <a:xfrm>
            <a:off x="0" y="0"/>
            <a:ext cx="4958467" cy="3018831"/>
            <a:chOff x="0" y="0"/>
            <a:chExt cx="4958467" cy="3018831"/>
          </a:xfrm>
        </p:grpSpPr>
        <p:sp>
          <p:nvSpPr>
            <p:cNvPr id="250" name="panel_a__multiscale_cnn__cnn_k15__text_020"/>
            <p:cNvSpPr txBox="1"/>
            <p:nvPr/>
          </p:nvSpPr>
          <p:spPr>
            <a:xfrm>
              <a:off x="1895885" y="2515693"/>
              <a:ext cx="320842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0" i="1">
                  <a:solidFill>
                    <a:srgbClr val="6842A2"/>
                  </a:solidFill>
                  <a:latin typeface="Times New Roman"/>
                </a:rPr>
                <a:t>k = 15</a:t>
              </a:r>
            </a:p>
          </p:txBody>
        </p:sp>
        <p:grpSp>
          <p:nvGrpSpPr>
            <p:cNvPr id="251" name="module__pi_mscl_figure__panel_a__multiscale_cnn__cnn_k15__cnn_k15_4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52" name="multiscale_cnn__cnn_k15__cnn_k15_40__polygon_137"/>
              <p:cNvSpPr/>
              <p:nvPr/>
            </p:nvSpPr>
            <p:spPr>
              <a:xfrm>
                <a:off x="2369575" y="2289374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30000"/>
                </a:srgbClr>
              </a:solidFill>
              <a:ln w="5833">
                <a:solidFill>
                  <a:srgbClr val="7251A7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" name="multiscale_cnn__cnn_k15__cnn_k15_40__polygon_138"/>
              <p:cNvSpPr/>
              <p:nvPr/>
            </p:nvSpPr>
            <p:spPr>
              <a:xfrm>
                <a:off x="2406030" y="2311247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43000"/>
                </a:srgbClr>
              </a:solidFill>
              <a:ln w="5833">
                <a:solidFill>
                  <a:srgbClr val="7251A7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" name="multiscale_cnn__cnn_k15__cnn_k15_40__polygon_139"/>
              <p:cNvSpPr/>
              <p:nvPr/>
            </p:nvSpPr>
            <p:spPr>
              <a:xfrm>
                <a:off x="2442485" y="2333120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56000"/>
                </a:srgbClr>
              </a:solidFill>
              <a:ln w="5833">
                <a:solidFill>
                  <a:srgbClr val="7251A7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" name="multiscale_cnn__cnn_k15__cnn_k15_40__polygon_140"/>
              <p:cNvSpPr/>
              <p:nvPr/>
            </p:nvSpPr>
            <p:spPr>
              <a:xfrm>
                <a:off x="2478940" y="2354993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69000"/>
                </a:srgbClr>
              </a:solidFill>
              <a:ln w="5833">
                <a:solidFill>
                  <a:srgbClr val="7251A7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" name="multiscale_cnn__cnn_k15__cnn_k15_40__polygon_141"/>
              <p:cNvSpPr/>
              <p:nvPr/>
            </p:nvSpPr>
            <p:spPr>
              <a:xfrm>
                <a:off x="2515395" y="2376866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82000"/>
                </a:srgbClr>
              </a:solidFill>
              <a:ln w="5833">
                <a:solidFill>
                  <a:srgbClr val="7251A7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" name="multiscale_cnn__cnn_k15__cnn_k15_40__polygon_142"/>
              <p:cNvSpPr/>
              <p:nvPr/>
            </p:nvSpPr>
            <p:spPr>
              <a:xfrm>
                <a:off x="2515395" y="2413321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8064B5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" name="multiscale_cnn__cnn_k15__cnn_k15_40__polygon_143"/>
              <p:cNvSpPr/>
              <p:nvPr/>
            </p:nvSpPr>
            <p:spPr>
              <a:xfrm>
                <a:off x="2610178" y="2406030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856AB8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" name="multiscale_cnn__cnn_k15__cnn_k15_40__polygon_144"/>
              <p:cNvSpPr/>
              <p:nvPr/>
            </p:nvSpPr>
            <p:spPr>
              <a:xfrm>
                <a:off x="2697670" y="2406030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8A70BB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" name="multiscale_cnn__cnn_k15__cnn_k15_40__polygon_145"/>
              <p:cNvSpPr/>
              <p:nvPr/>
            </p:nvSpPr>
            <p:spPr>
              <a:xfrm>
                <a:off x="2785162" y="2398739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8F76BE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" name="multiscale_cnn__cnn_k15__cnn_k15_40__polygon_146"/>
              <p:cNvSpPr/>
              <p:nvPr/>
            </p:nvSpPr>
            <p:spPr>
              <a:xfrm>
                <a:off x="2879945" y="2391448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37CC1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" name="multiscale_cnn__cnn_k15__cnn_k15_40__polygon_147"/>
              <p:cNvSpPr/>
              <p:nvPr/>
            </p:nvSpPr>
            <p:spPr>
              <a:xfrm>
                <a:off x="2974728" y="2384157"/>
                <a:ext cx="87492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2" h="21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9882C4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3" name="multiscale_cnn__cnn_k15__cnn_k15_40__polygon_148"/>
              <p:cNvSpPr/>
              <p:nvPr/>
            </p:nvSpPr>
            <p:spPr>
              <a:xfrm>
                <a:off x="3062220" y="2384157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9D87C6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" name="multiscale_cnn__cnn_k15__cnn_k15_40__polygon_149"/>
              <p:cNvSpPr/>
              <p:nvPr/>
            </p:nvSpPr>
            <p:spPr>
              <a:xfrm>
                <a:off x="3149712" y="2376866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28DC9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" name="multiscale_cnn__cnn_k15__cnn_k15_40__polygon_150"/>
              <p:cNvSpPr/>
              <p:nvPr/>
            </p:nvSpPr>
            <p:spPr>
              <a:xfrm>
                <a:off x="2515395" y="2551850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793CC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" name="multiscale_cnn__cnn_k15__cnn_k15_40__polygon_151"/>
              <p:cNvSpPr/>
              <p:nvPr/>
            </p:nvSpPr>
            <p:spPr>
              <a:xfrm>
                <a:off x="2610178" y="2551850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0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C99CF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7" name="multiscale_cnn__cnn_k15__cnn_k15_40__polygon_152"/>
              <p:cNvSpPr/>
              <p:nvPr/>
            </p:nvSpPr>
            <p:spPr>
              <a:xfrm>
                <a:off x="2697670" y="2544559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19FD2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" name="multiscale_cnn__cnn_k15__cnn_k15_40__polygon_153"/>
              <p:cNvSpPr/>
              <p:nvPr/>
            </p:nvSpPr>
            <p:spPr>
              <a:xfrm>
                <a:off x="2785162" y="2537268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6A5D5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" name="multiscale_cnn__cnn_k15__cnn_k15_40__polygon_154"/>
              <p:cNvSpPr/>
              <p:nvPr/>
            </p:nvSpPr>
            <p:spPr>
              <a:xfrm>
                <a:off x="2879945" y="2537268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AABD8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" name="multiscale_cnn__cnn_k15__cnn_k15_40__polygon_155"/>
              <p:cNvSpPr/>
              <p:nvPr/>
            </p:nvSpPr>
            <p:spPr>
              <a:xfrm>
                <a:off x="2974728" y="2529977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BFB1DB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" name="multiscale_cnn__cnn_k15__cnn_k15_40__polygon_156"/>
              <p:cNvSpPr/>
              <p:nvPr/>
            </p:nvSpPr>
            <p:spPr>
              <a:xfrm>
                <a:off x="3062220" y="2522686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4B7DE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" name="multiscale_cnn__cnn_k15__cnn_k15_40__polygon_157"/>
              <p:cNvSpPr/>
              <p:nvPr/>
            </p:nvSpPr>
            <p:spPr>
              <a:xfrm>
                <a:off x="3149712" y="2515395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9BDE1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" name="multiscale_cnn__cnn_k15__cnn_k15_40__polygon_158"/>
              <p:cNvSpPr/>
              <p:nvPr/>
            </p:nvSpPr>
            <p:spPr>
              <a:xfrm>
                <a:off x="2515395" y="2697670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CEC3E4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" name="multiscale_cnn__cnn_k15__cnn_k15_40__polygon_159"/>
              <p:cNvSpPr/>
              <p:nvPr/>
            </p:nvSpPr>
            <p:spPr>
              <a:xfrm>
                <a:off x="2610178" y="2690379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3C9E7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" name="multiscale_cnn__cnn_k15__cnn_k15_40__polygon_160"/>
              <p:cNvSpPr/>
              <p:nvPr/>
            </p:nvSpPr>
            <p:spPr>
              <a:xfrm>
                <a:off x="2697670" y="2683088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8CEE9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" name="multiscale_cnn__cnn_k15__cnn_k15_40__polygon_161"/>
              <p:cNvSpPr/>
              <p:nvPr/>
            </p:nvSpPr>
            <p:spPr>
              <a:xfrm>
                <a:off x="2785162" y="2683088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DD4EC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" name="multiscale_cnn__cnn_k15__cnn_k15_40__polygon_162"/>
              <p:cNvSpPr/>
              <p:nvPr/>
            </p:nvSpPr>
            <p:spPr>
              <a:xfrm>
                <a:off x="2879945" y="2675797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1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1DAEF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8" name="multiscale_cnn__cnn_k15__cnn_k15_40__polygon_163"/>
              <p:cNvSpPr/>
              <p:nvPr/>
            </p:nvSpPr>
            <p:spPr>
              <a:xfrm>
                <a:off x="2974728" y="2668506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6E0F2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9" name="multiscale_cnn__cnn_k15__cnn_k15_40__polygon_164"/>
              <p:cNvSpPr/>
              <p:nvPr/>
            </p:nvSpPr>
            <p:spPr>
              <a:xfrm>
                <a:off x="3062220" y="2661215"/>
                <a:ext cx="87492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2" h="20">
                    <a:moveTo>
                      <a:pt x="0" y="1"/>
                    </a:moveTo>
                    <a:lnTo>
                      <a:pt x="12" y="0"/>
                    </a:lnTo>
                    <a:lnTo>
                      <a:pt x="12" y="2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EBE6F5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0" name="multiscale_cnn__cnn_k15__cnn_k15_40__polygon_165"/>
              <p:cNvSpPr/>
              <p:nvPr/>
            </p:nvSpPr>
            <p:spPr>
              <a:xfrm>
                <a:off x="3149712" y="2661215"/>
                <a:ext cx="94783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3" h="20">
                    <a:moveTo>
                      <a:pt x="0" y="0"/>
                    </a:moveTo>
                    <a:lnTo>
                      <a:pt x="13" y="0"/>
                    </a:lnTo>
                    <a:lnTo>
                      <a:pt x="13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F0ECF8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" name="multiscale_cnn__cnn_k15__cnn_k15_40__polygon_166"/>
              <p:cNvSpPr/>
              <p:nvPr/>
            </p:nvSpPr>
            <p:spPr>
              <a:xfrm>
                <a:off x="2515395" y="2376866"/>
                <a:ext cx="729100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100" h="58">
                    <a:moveTo>
                      <a:pt x="0" y="6"/>
                    </a:moveTo>
                    <a:lnTo>
                      <a:pt x="100" y="0"/>
                    </a:lnTo>
                    <a:lnTo>
                      <a:pt x="100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7251A7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82" name="panel_a__multiscale_cnn__cnn_k15__polyline_017"/>
            <p:cNvSpPr/>
            <p:nvPr/>
          </p:nvSpPr>
          <p:spPr>
            <a:xfrm>
              <a:off x="3244495" y="2588305"/>
              <a:ext cx="328095" cy="0"/>
            </a:xfrm>
            <a:custGeom>
              <a:avLst/>
              <a:gdLst/>
              <a:ahLst/>
              <a:cxnLst/>
              <a:rect l="l" t="t" r="r" b="b"/>
              <a:pathLst>
                <a:path w="45" h="0">
                  <a:moveTo>
                    <a:pt x="0" y="0"/>
                  </a:moveTo>
                  <a:lnTo>
                    <a:pt x="45" y="0"/>
                  </a:lnTo>
                </a:path>
              </a:pathLst>
            </a:custGeom>
            <a:noFill/>
            <a:ln w="9479">
              <a:solidFill>
                <a:srgbClr val="111111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3" name="panel_a__multiscale_cnn__cnn_k15__polygon_167"/>
            <p:cNvSpPr/>
            <p:nvPr/>
          </p:nvSpPr>
          <p:spPr>
            <a:xfrm>
              <a:off x="3521553" y="2566432"/>
              <a:ext cx="51037" cy="43746"/>
            </a:xfrm>
            <a:custGeom>
              <a:avLst/>
              <a:gdLst/>
              <a:ahLst/>
              <a:cxnLst/>
              <a:rect l="l" t="t" r="r" b="b"/>
              <a:pathLst>
                <a:path w="7" h="6">
                  <a:moveTo>
                    <a:pt x="7" y="3"/>
                  </a:move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284" name="module__pi_mscl_figure__panel_a__multiscale_cnn__cnn_k15__cnn_k15_2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85" name="multiscale_cnn__cnn_k15__cnn_k15_20__polygon_168"/>
              <p:cNvSpPr/>
              <p:nvPr/>
            </p:nvSpPr>
            <p:spPr>
              <a:xfrm>
                <a:off x="3499680" y="2289374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30000"/>
                </a:srgbClr>
              </a:solidFill>
              <a:ln w="5833">
                <a:solidFill>
                  <a:srgbClr val="7251A7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6" name="multiscale_cnn__cnn_k15__cnn_k15_20__polygon_169"/>
              <p:cNvSpPr/>
              <p:nvPr/>
            </p:nvSpPr>
            <p:spPr>
              <a:xfrm>
                <a:off x="3536135" y="2311247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43000"/>
                </a:srgbClr>
              </a:solidFill>
              <a:ln w="5833">
                <a:solidFill>
                  <a:srgbClr val="7251A7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" name="multiscale_cnn__cnn_k15__cnn_k15_20__polygon_170"/>
              <p:cNvSpPr/>
              <p:nvPr/>
            </p:nvSpPr>
            <p:spPr>
              <a:xfrm>
                <a:off x="3572590" y="2333120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56000"/>
                </a:srgbClr>
              </a:solidFill>
              <a:ln w="5833">
                <a:solidFill>
                  <a:srgbClr val="7251A7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" name="multiscale_cnn__cnn_k15__cnn_k15_20__polygon_171"/>
              <p:cNvSpPr/>
              <p:nvPr/>
            </p:nvSpPr>
            <p:spPr>
              <a:xfrm>
                <a:off x="3609045" y="2354993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69000"/>
                </a:srgbClr>
              </a:solidFill>
              <a:ln w="5833">
                <a:solidFill>
                  <a:srgbClr val="7251A7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9" name="multiscale_cnn__cnn_k15__cnn_k15_20__polygon_172"/>
              <p:cNvSpPr/>
              <p:nvPr/>
            </p:nvSpPr>
            <p:spPr>
              <a:xfrm>
                <a:off x="3645500" y="2376866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82000"/>
                </a:srgbClr>
              </a:solidFill>
              <a:ln w="5833">
                <a:solidFill>
                  <a:srgbClr val="7251A7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" name="multiscale_cnn__cnn_k15__cnn_k15_20__polygon_173"/>
              <p:cNvSpPr/>
              <p:nvPr/>
            </p:nvSpPr>
            <p:spPr>
              <a:xfrm>
                <a:off x="3645500" y="2406030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064B5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" name="multiscale_cnn__cnn_k15__cnn_k15_20__polygon_174"/>
              <p:cNvSpPr/>
              <p:nvPr/>
            </p:nvSpPr>
            <p:spPr>
              <a:xfrm>
                <a:off x="3784029" y="2398739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8A70BB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" name="multiscale_cnn__cnn_k15__cnn_k15_20__polygon_175"/>
              <p:cNvSpPr/>
              <p:nvPr/>
            </p:nvSpPr>
            <p:spPr>
              <a:xfrm>
                <a:off x="3922558" y="2384157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947DC1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" name="multiscale_cnn__cnn_k15__cnn_k15_20__polygon_176"/>
              <p:cNvSpPr/>
              <p:nvPr/>
            </p:nvSpPr>
            <p:spPr>
              <a:xfrm>
                <a:off x="4061087" y="2376866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9F89C7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" name="multiscale_cnn__cnn_k15__cnn_k15_20__polygon_177"/>
              <p:cNvSpPr/>
              <p:nvPr/>
            </p:nvSpPr>
            <p:spPr>
              <a:xfrm>
                <a:off x="3645500" y="2551850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995CD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" name="multiscale_cnn__cnn_k15__cnn_k15_20__polygon_178"/>
              <p:cNvSpPr/>
              <p:nvPr/>
            </p:nvSpPr>
            <p:spPr>
              <a:xfrm>
                <a:off x="3784029" y="2537268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B3A2D3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" name="multiscale_cnn__cnn_k15__cnn_k15_20__polygon_179"/>
              <p:cNvSpPr/>
              <p:nvPr/>
            </p:nvSpPr>
            <p:spPr>
              <a:xfrm>
                <a:off x="3922558" y="2529977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BDAEDA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" name="multiscale_cnn__cnn_k15__cnn_k15_20__polygon_180"/>
              <p:cNvSpPr/>
              <p:nvPr/>
            </p:nvSpPr>
            <p:spPr>
              <a:xfrm>
                <a:off x="4061087" y="2515395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20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C7BBE0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" name="multiscale_cnn__cnn_k15__cnn_k15_20__polygon_181"/>
              <p:cNvSpPr/>
              <p:nvPr/>
            </p:nvSpPr>
            <p:spPr>
              <a:xfrm>
                <a:off x="3645500" y="2690379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D1C7E6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" name="multiscale_cnn__cnn_k15__cnn_k15_20__polygon_182"/>
              <p:cNvSpPr/>
              <p:nvPr/>
            </p:nvSpPr>
            <p:spPr>
              <a:xfrm>
                <a:off x="3784029" y="2683088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CD3EC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0" name="multiscale_cnn__cnn_k15__cnn_k15_20__polygon_183"/>
              <p:cNvSpPr/>
              <p:nvPr/>
            </p:nvSpPr>
            <p:spPr>
              <a:xfrm>
                <a:off x="3922558" y="2668506"/>
                <a:ext cx="138529" cy="153111"/>
              </a:xfrm>
              <a:custGeom>
                <a:avLst/>
                <a:gdLst/>
                <a:ahLst/>
                <a:cxnLst/>
                <a:rect l="l" t="t" r="r" b="b"/>
                <a:pathLst>
                  <a:path w="19" h="21">
                    <a:moveTo>
                      <a:pt x="0" y="2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E6E0F2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1" name="multiscale_cnn__cnn_k15__cnn_k15_20__polygon_184"/>
              <p:cNvSpPr/>
              <p:nvPr/>
            </p:nvSpPr>
            <p:spPr>
              <a:xfrm>
                <a:off x="4061087" y="2661215"/>
                <a:ext cx="138529" cy="145820"/>
              </a:xfrm>
              <a:custGeom>
                <a:avLst/>
                <a:gdLst/>
                <a:ahLst/>
                <a:cxnLst/>
                <a:rect l="l" t="t" r="r" b="b"/>
                <a:pathLst>
                  <a:path w="19" h="20">
                    <a:moveTo>
                      <a:pt x="0" y="1"/>
                    </a:moveTo>
                    <a:lnTo>
                      <a:pt x="19" y="0"/>
                    </a:lnTo>
                    <a:lnTo>
                      <a:pt x="19" y="19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F0ECF8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2" name="multiscale_cnn__cnn_k15__cnn_k15_20__polygon_185"/>
              <p:cNvSpPr/>
              <p:nvPr/>
            </p:nvSpPr>
            <p:spPr>
              <a:xfrm>
                <a:off x="3645500" y="2376866"/>
                <a:ext cx="554116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8">
                    <a:moveTo>
                      <a:pt x="0" y="6"/>
                    </a:moveTo>
                    <a:lnTo>
                      <a:pt x="76" y="0"/>
                    </a:lnTo>
                    <a:lnTo>
                      <a:pt x="76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7251A7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03" name="panel_a__multiscale_cnn__cnn_k15__polyline_018"/>
            <p:cNvSpPr/>
            <p:nvPr/>
          </p:nvSpPr>
          <p:spPr>
            <a:xfrm>
              <a:off x="4199616" y="2588305"/>
              <a:ext cx="437460" cy="0"/>
            </a:xfrm>
            <a:custGeom>
              <a:avLst/>
              <a:gdLst/>
              <a:ahLst/>
              <a:cxnLst/>
              <a:rect l="l" t="t" r="r" b="b"/>
              <a:pathLst>
                <a:path w="60" h="0">
                  <a:moveTo>
                    <a:pt x="0" y="0"/>
                  </a:moveTo>
                  <a:lnTo>
                    <a:pt x="60" y="0"/>
                  </a:lnTo>
                </a:path>
              </a:pathLst>
            </a:custGeom>
            <a:noFill/>
            <a:ln w="9479">
              <a:solidFill>
                <a:srgbClr val="111111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4" name="panel_a__multiscale_cnn__cnn_k15__polygon_186"/>
            <p:cNvSpPr/>
            <p:nvPr/>
          </p:nvSpPr>
          <p:spPr>
            <a:xfrm>
              <a:off x="4586039" y="2566432"/>
              <a:ext cx="51037" cy="43746"/>
            </a:xfrm>
            <a:custGeom>
              <a:avLst/>
              <a:gdLst/>
              <a:ahLst/>
              <a:cxnLst/>
              <a:rect l="l" t="t" r="r" b="b"/>
              <a:pathLst>
                <a:path w="7" h="6">
                  <a:moveTo>
                    <a:pt x="7" y="3"/>
                  </a:move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305" name="module__pi_mscl_figure__panel_a__multiscale_cnn__cnn_k15__cnn_k15_10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306" name="multiscale_cnn__cnn_k15__cnn_k15_10__polygon_187"/>
              <p:cNvSpPr/>
              <p:nvPr/>
            </p:nvSpPr>
            <p:spPr>
              <a:xfrm>
                <a:off x="4564166" y="2289374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30000"/>
                </a:srgbClr>
              </a:solidFill>
              <a:ln w="5833">
                <a:solidFill>
                  <a:srgbClr val="7251A7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7" name="multiscale_cnn__cnn_k15__cnn_k15_10__polygon_188"/>
              <p:cNvSpPr/>
              <p:nvPr/>
            </p:nvSpPr>
            <p:spPr>
              <a:xfrm>
                <a:off x="4600621" y="2311247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43000"/>
                </a:srgbClr>
              </a:solidFill>
              <a:ln w="5833">
                <a:solidFill>
                  <a:srgbClr val="7251A7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" name="multiscale_cnn__cnn_k15__cnn_k15_10__polygon_189"/>
              <p:cNvSpPr/>
              <p:nvPr/>
            </p:nvSpPr>
            <p:spPr>
              <a:xfrm>
                <a:off x="4637076" y="2333120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56000"/>
                </a:srgbClr>
              </a:solidFill>
              <a:ln w="5833">
                <a:solidFill>
                  <a:srgbClr val="7251A7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9" name="multiscale_cnn__cnn_k15__cnn_k15_10__polygon_190"/>
              <p:cNvSpPr/>
              <p:nvPr/>
            </p:nvSpPr>
            <p:spPr>
              <a:xfrm>
                <a:off x="4673531" y="2354993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69000"/>
                </a:srgbClr>
              </a:solidFill>
              <a:ln w="5833">
                <a:solidFill>
                  <a:srgbClr val="7251A7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0" name="multiscale_cnn__cnn_k15__cnn_k15_10__polygon_191"/>
              <p:cNvSpPr/>
              <p:nvPr/>
            </p:nvSpPr>
            <p:spPr>
              <a:xfrm>
                <a:off x="4709986" y="2376866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E5DDF5">
                  <a:alpha val="82000"/>
                </a:srgbClr>
              </a:solidFill>
              <a:ln w="5833">
                <a:solidFill>
                  <a:srgbClr val="7251A7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1" name="multiscale_cnn__cnn_k15__cnn_k15_10__polygon_192"/>
              <p:cNvSpPr/>
              <p:nvPr/>
            </p:nvSpPr>
            <p:spPr>
              <a:xfrm>
                <a:off x="4709986" y="2398739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8064B5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2" name="multiscale_cnn__cnn_k15__cnn_k15_10__polygon_193"/>
              <p:cNvSpPr/>
              <p:nvPr/>
            </p:nvSpPr>
            <p:spPr>
              <a:xfrm>
                <a:off x="4899552" y="2376866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967FC2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3" name="multiscale_cnn__cnn_k15__cnn_k15_10__polygon_194"/>
              <p:cNvSpPr/>
              <p:nvPr/>
            </p:nvSpPr>
            <p:spPr>
              <a:xfrm>
                <a:off x="4709986" y="2537268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2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AD9AD0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4" name="multiscale_cnn__cnn_k15__cnn_k15_10__polygon_195"/>
              <p:cNvSpPr/>
              <p:nvPr/>
            </p:nvSpPr>
            <p:spPr>
              <a:xfrm>
                <a:off x="4899552" y="2515395"/>
                <a:ext cx="189566" cy="167693"/>
              </a:xfrm>
              <a:custGeom>
                <a:avLst/>
                <a:gdLst/>
                <a:ahLst/>
                <a:cxnLst/>
                <a:rect l="l" t="t" r="r" b="b"/>
                <a:pathLst>
                  <a:path w="26" h="23">
                    <a:moveTo>
                      <a:pt x="0" y="3"/>
                    </a:moveTo>
                    <a:lnTo>
                      <a:pt x="26" y="0"/>
                    </a:lnTo>
                    <a:lnTo>
                      <a:pt x="26" y="20"/>
                    </a:lnTo>
                    <a:lnTo>
                      <a:pt x="0" y="23"/>
                    </a:lnTo>
                    <a:close/>
                  </a:path>
                </a:pathLst>
              </a:custGeom>
              <a:solidFill>
                <a:srgbClr val="C3B6DD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5" name="multiscale_cnn__cnn_k15__cnn_k15_10__polygon_196"/>
              <p:cNvSpPr/>
              <p:nvPr/>
            </p:nvSpPr>
            <p:spPr>
              <a:xfrm>
                <a:off x="4709986" y="2683088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2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DAD1EB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6" name="multiscale_cnn__cnn_k15__cnn_k15_10__polygon_197"/>
              <p:cNvSpPr/>
              <p:nvPr/>
            </p:nvSpPr>
            <p:spPr>
              <a:xfrm>
                <a:off x="4899552" y="2661215"/>
                <a:ext cx="189566" cy="16040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>
                    <a:moveTo>
                      <a:pt x="0" y="3"/>
                    </a:moveTo>
                    <a:lnTo>
                      <a:pt x="26" y="0"/>
                    </a:lnTo>
                    <a:lnTo>
                      <a:pt x="26" y="19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F0ECF8">
                  <a:alpha val="96000"/>
                </a:srgbClr>
              </a:solidFill>
              <a:ln w="4739">
                <a:solidFill>
                  <a:srgbClr val="FFFFFF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7" name="multiscale_cnn__cnn_k15__cnn_k15_10__polygon_198"/>
              <p:cNvSpPr/>
              <p:nvPr/>
            </p:nvSpPr>
            <p:spPr>
              <a:xfrm>
                <a:off x="4709986" y="2376866"/>
                <a:ext cx="379132" cy="422878"/>
              </a:xfrm>
              <a:custGeom>
                <a:avLst/>
                <a:gdLst/>
                <a:ahLst/>
                <a:cxnLst/>
                <a:rect l="l" t="t" r="r" b="b"/>
                <a:pathLst>
                  <a:path w="52" h="58">
                    <a:moveTo>
                      <a:pt x="0" y="6"/>
                    </a:moveTo>
                    <a:lnTo>
                      <a:pt x="52" y="0"/>
                    </a:lnTo>
                    <a:lnTo>
                      <a:pt x="52" y="52"/>
                    </a:lnTo>
                    <a:lnTo>
                      <a:pt x="0" y="58"/>
                    </a:lnTo>
                    <a:close/>
                  </a:path>
                </a:pathLst>
              </a:custGeom>
              <a:noFill/>
              <a:ln w="7291">
                <a:solidFill>
                  <a:srgbClr val="7251A7"/>
                </a:solidFill>
                <a:prstDash val="solid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18" name="panel_a__multiscale_cnn__cnn_k15__text_021"/>
            <p:cNvSpPr txBox="1"/>
            <p:nvPr/>
          </p:nvSpPr>
          <p:spPr>
            <a:xfrm>
              <a:off x="2821952" y="2909454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40</a:t>
              </a:r>
            </a:p>
          </p:txBody>
        </p:sp>
        <p:sp>
          <p:nvSpPr>
            <p:cNvPr id="319" name="panel_a__multiscale_cnn__cnn_k15__text_022"/>
            <p:cNvSpPr txBox="1"/>
            <p:nvPr/>
          </p:nvSpPr>
          <p:spPr>
            <a:xfrm>
              <a:off x="3864688" y="2909454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20</a:t>
              </a:r>
            </a:p>
          </p:txBody>
        </p:sp>
        <p:sp>
          <p:nvSpPr>
            <p:cNvPr id="320" name="panel_a__multiscale_cnn__cnn_k15__text_023"/>
            <p:cNvSpPr txBox="1"/>
            <p:nvPr/>
          </p:nvSpPr>
          <p:spPr>
            <a:xfrm>
              <a:off x="4841798" y="2909454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10</a:t>
              </a:r>
            </a:p>
          </p:txBody>
        </p:sp>
      </p:grpSp>
      <p:sp>
        <p:nvSpPr>
          <p:cNvPr id="321" name="pi_mscl_figure__panel_a__multiscale_cnn__rect_065"/>
          <p:cNvSpPr/>
          <p:nvPr/>
        </p:nvSpPr>
        <p:spPr>
          <a:xfrm>
            <a:off x="758354" y="3274047"/>
            <a:ext cx="123961" cy="123961"/>
          </a:xfrm>
          <a:prstGeom prst="rect">
            <a:avLst/>
          </a:prstGeom>
          <a:solidFill>
            <a:srgbClr val="D6E7F8"/>
          </a:solidFill>
          <a:ln w="5833">
            <a:solidFill>
              <a:srgbClr val="2E6DA4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pi_mscl_figure__panel_a__multiscale_cnn__text_024"/>
          <p:cNvSpPr txBox="1"/>
          <p:nvPr/>
        </p:nvSpPr>
        <p:spPr>
          <a:xfrm>
            <a:off x="940650" y="3288631"/>
            <a:ext cx="459387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Times New Roman"/>
              </a:rPr>
              <a:t>k = 3 (local)</a:t>
            </a:r>
          </a:p>
        </p:txBody>
      </p:sp>
      <p:sp>
        <p:nvSpPr>
          <p:cNvPr id="323" name="pi_mscl_figure__panel_a__multiscale_cnn__rect_066"/>
          <p:cNvSpPr/>
          <p:nvPr/>
        </p:nvSpPr>
        <p:spPr>
          <a:xfrm>
            <a:off x="1822966" y="3274047"/>
            <a:ext cx="123961" cy="123961"/>
          </a:xfrm>
          <a:prstGeom prst="rect">
            <a:avLst/>
          </a:prstGeom>
          <a:solidFill>
            <a:srgbClr val="D9EFD9"/>
          </a:solidFill>
          <a:ln w="5833">
            <a:solidFill>
              <a:srgbClr val="398C43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pi_mscl_figure__panel_a__multiscale_cnn__text_025"/>
          <p:cNvSpPr txBox="1"/>
          <p:nvPr/>
        </p:nvSpPr>
        <p:spPr>
          <a:xfrm>
            <a:off x="2005263" y="3288631"/>
            <a:ext cx="729186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Times New Roman"/>
              </a:rPr>
              <a:t>k = 7 (intermediate)</a:t>
            </a:r>
          </a:p>
        </p:txBody>
      </p:sp>
      <p:sp>
        <p:nvSpPr>
          <p:cNvPr id="325" name="pi_mscl_figure__panel_a__multiscale_cnn__rect_067"/>
          <p:cNvSpPr/>
          <p:nvPr/>
        </p:nvSpPr>
        <p:spPr>
          <a:xfrm>
            <a:off x="3383425" y="3274047"/>
            <a:ext cx="123961" cy="123961"/>
          </a:xfrm>
          <a:prstGeom prst="rect">
            <a:avLst/>
          </a:prstGeom>
          <a:solidFill>
            <a:srgbClr val="E5DDF5"/>
          </a:solidFill>
          <a:ln w="5833">
            <a:solidFill>
              <a:srgbClr val="7251A7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pi_mscl_figure__panel_a__multiscale_cnn__text_026"/>
          <p:cNvSpPr txBox="1"/>
          <p:nvPr/>
        </p:nvSpPr>
        <p:spPr>
          <a:xfrm>
            <a:off x="3565722" y="3288631"/>
            <a:ext cx="780229" cy="1166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88" b="0" i="0">
                <a:solidFill>
                  <a:srgbClr val="111111"/>
                </a:solidFill>
                <a:latin typeface="Times New Roman"/>
              </a:rPr>
              <a:t>k = 15 (longer-range)</a:t>
            </a:r>
          </a:p>
        </p:txBody>
      </p:sp>
      <p:grpSp>
        <p:nvGrpSpPr>
          <p:cNvPr id="327" name="module__pi_mscl_figure__panel_a__fusion"/>
          <p:cNvGrpSpPr/>
          <p:nvPr/>
        </p:nvGrpSpPr>
        <p:grpSpPr>
          <a:xfrm>
            <a:off x="5702239" y="1268634"/>
            <a:ext cx="1515851" cy="1392896"/>
            <a:chOff x="5702239" y="1268634"/>
            <a:chExt cx="1515851" cy="1392896"/>
          </a:xfrm>
        </p:grpSpPr>
        <p:sp>
          <p:nvSpPr>
            <p:cNvPr id="328" name="pi_mscl_figure__panel_a__fusion__rect_068"/>
            <p:cNvSpPr/>
            <p:nvPr/>
          </p:nvSpPr>
          <p:spPr>
            <a:xfrm>
              <a:off x="5702239" y="1436497"/>
              <a:ext cx="729186" cy="998985"/>
            </a:xfrm>
            <a:prstGeom prst="roundRect">
              <a:avLst>
                <a:gd name="adj" fmla="val 10000"/>
              </a:avLst>
            </a:prstGeom>
            <a:solidFill>
              <a:srgbClr val="EDF4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9" name="pi_mscl_figure__panel_a__fusion__text_027"/>
            <p:cNvSpPr txBox="1"/>
            <p:nvPr/>
          </p:nvSpPr>
          <p:spPr>
            <a:xfrm>
              <a:off x="5924641" y="1677129"/>
              <a:ext cx="284382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1" i="0">
                  <a:solidFill>
                    <a:srgbClr val="111111"/>
                  </a:solidFill>
                  <a:latin typeface="Arial"/>
                </a:rPr>
                <a:t>Fuse</a:t>
              </a:r>
            </a:p>
          </p:txBody>
        </p:sp>
        <p:sp>
          <p:nvSpPr>
            <p:cNvPr id="330" name="pi_mscl_figure__panel_a__fusion__text_028"/>
            <p:cNvSpPr txBox="1"/>
            <p:nvPr/>
          </p:nvSpPr>
          <p:spPr>
            <a:xfrm>
              <a:off x="5804325" y="1881301"/>
              <a:ext cx="525014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0" i="0">
                  <a:solidFill>
                    <a:srgbClr val="111111"/>
                  </a:solidFill>
                  <a:latin typeface="Arial"/>
                </a:rPr>
                <a:t>1 × 1 Conv</a:t>
              </a:r>
            </a:p>
          </p:txBody>
        </p:sp>
        <p:sp>
          <p:nvSpPr>
            <p:cNvPr id="331" name="pi_mscl_figure__panel_a__fusion__text_029"/>
            <p:cNvSpPr txBox="1"/>
            <p:nvPr/>
          </p:nvSpPr>
          <p:spPr>
            <a:xfrm>
              <a:off x="5844430" y="2078181"/>
              <a:ext cx="444803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0756A0"/>
                  </a:solidFill>
                  <a:latin typeface="Arial"/>
                </a:rPr>
                <a:t>(128 ch.)</a:t>
              </a:r>
            </a:p>
          </p:txBody>
        </p:sp>
        <p:sp>
          <p:nvSpPr>
            <p:cNvPr id="332" name="pi_mscl_figure__panel_a__fusion__polygon_199"/>
            <p:cNvSpPr/>
            <p:nvPr/>
          </p:nvSpPr>
          <p:spPr>
            <a:xfrm>
              <a:off x="6795212" y="1268634"/>
              <a:ext cx="422878" cy="167693"/>
            </a:xfrm>
            <a:custGeom>
              <a:avLst/>
              <a:gdLst/>
              <a:ahLst/>
              <a:cxnLst/>
              <a:rect l="l" t="t" r="r" b="b"/>
              <a:pathLst>
                <a:path w="58" h="23">
                  <a:moveTo>
                    <a:pt x="0" y="23"/>
                  </a:moveTo>
                  <a:lnTo>
                    <a:pt x="42" y="16"/>
                  </a:lnTo>
                  <a:lnTo>
                    <a:pt x="58" y="0"/>
                  </a:lnTo>
                  <a:lnTo>
                    <a:pt x="16" y="7"/>
                  </a:lnTo>
                  <a:close/>
                </a:path>
              </a:pathLst>
            </a:custGeom>
            <a:solidFill>
              <a:srgbClr val="D7E8F4">
                <a:alpha val="86000"/>
              </a:srgbClr>
            </a:solidFill>
            <a:ln w="5833">
              <a:solidFill>
                <a:srgbClr val="6D8EA7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3" name="pi_mscl_figure__panel_a__fusion__polygon_200"/>
            <p:cNvSpPr/>
            <p:nvPr/>
          </p:nvSpPr>
          <p:spPr>
            <a:xfrm>
              <a:off x="7101434" y="1268634"/>
              <a:ext cx="116656" cy="1166560"/>
            </a:xfrm>
            <a:custGeom>
              <a:avLst/>
              <a:gdLst/>
              <a:ahLst/>
              <a:cxnLst/>
              <a:rect l="l" t="t" r="r" b="b"/>
              <a:pathLst>
                <a:path w="16" h="160">
                  <a:moveTo>
                    <a:pt x="0" y="16"/>
                  </a:moveTo>
                  <a:lnTo>
                    <a:pt x="16" y="0"/>
                  </a:lnTo>
                  <a:lnTo>
                    <a:pt x="16" y="144"/>
                  </a:lnTo>
                  <a:lnTo>
                    <a:pt x="0" y="160"/>
                  </a:lnTo>
                  <a:close/>
                </a:path>
              </a:pathLst>
            </a:custGeom>
            <a:solidFill>
              <a:srgbClr val="9EBBD0">
                <a:alpha val="72000"/>
              </a:srgbClr>
            </a:solidFill>
            <a:ln w="6562">
              <a:solidFill>
                <a:srgbClr val="557994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4" name="pi_mscl_figure__panel_a__fusion__polygon_201"/>
            <p:cNvSpPr/>
            <p:nvPr/>
          </p:nvSpPr>
          <p:spPr>
            <a:xfrm>
              <a:off x="6911868" y="1268634"/>
              <a:ext cx="306222" cy="1100941"/>
            </a:xfrm>
            <a:custGeom>
              <a:avLst/>
              <a:gdLst/>
              <a:ahLst/>
              <a:cxnLst/>
              <a:rect l="l" t="t" r="r" b="b"/>
              <a:pathLst>
                <a:path w="42" h="151">
                  <a:moveTo>
                    <a:pt x="0" y="7"/>
                  </a:moveTo>
                  <a:lnTo>
                    <a:pt x="42" y="0"/>
                  </a:lnTo>
                  <a:lnTo>
                    <a:pt x="42" y="144"/>
                  </a:lnTo>
                  <a:lnTo>
                    <a:pt x="0" y="151"/>
                  </a:lnTo>
                  <a:close/>
                </a:path>
              </a:pathLst>
            </a:custGeom>
            <a:solidFill>
              <a:srgbClr val="C9DDF0">
                <a:alpha val="34000"/>
              </a:srgbClr>
            </a:solidFill>
            <a:ln w="6927">
              <a:solidFill>
                <a:srgbClr val="557994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5" name="pi_mscl_figure__panel_a__fusion__polygon_202"/>
            <p:cNvSpPr/>
            <p:nvPr/>
          </p:nvSpPr>
          <p:spPr>
            <a:xfrm>
              <a:off x="6882704" y="1297798"/>
              <a:ext cx="306222" cy="1100941"/>
            </a:xfrm>
            <a:custGeom>
              <a:avLst/>
              <a:gdLst/>
              <a:ahLst/>
              <a:cxnLst/>
              <a:rect l="l" t="t" r="r" b="b"/>
              <a:pathLst>
                <a:path w="42" h="151">
                  <a:moveTo>
                    <a:pt x="0" y="7"/>
                  </a:moveTo>
                  <a:lnTo>
                    <a:pt x="42" y="0"/>
                  </a:lnTo>
                  <a:lnTo>
                    <a:pt x="42" y="144"/>
                  </a:lnTo>
                  <a:lnTo>
                    <a:pt x="0" y="151"/>
                  </a:lnTo>
                  <a:close/>
                </a:path>
              </a:pathLst>
            </a:custGeom>
            <a:solidFill>
              <a:srgbClr val="C9DDF0">
                <a:alpha val="47000"/>
              </a:srgbClr>
            </a:solidFill>
            <a:ln w="6927">
              <a:solidFill>
                <a:srgbClr val="557994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6" name="pi_mscl_figure__panel_a__fusion__polygon_203"/>
            <p:cNvSpPr/>
            <p:nvPr/>
          </p:nvSpPr>
          <p:spPr>
            <a:xfrm>
              <a:off x="6853540" y="1326962"/>
              <a:ext cx="306222" cy="1100941"/>
            </a:xfrm>
            <a:custGeom>
              <a:avLst/>
              <a:gdLst/>
              <a:ahLst/>
              <a:cxnLst/>
              <a:rect l="l" t="t" r="r" b="b"/>
              <a:pathLst>
                <a:path w="42" h="151">
                  <a:moveTo>
                    <a:pt x="0" y="7"/>
                  </a:moveTo>
                  <a:lnTo>
                    <a:pt x="42" y="0"/>
                  </a:lnTo>
                  <a:lnTo>
                    <a:pt x="42" y="144"/>
                  </a:lnTo>
                  <a:lnTo>
                    <a:pt x="0" y="151"/>
                  </a:lnTo>
                  <a:close/>
                </a:path>
              </a:pathLst>
            </a:custGeom>
            <a:solidFill>
              <a:srgbClr val="C9DDF0">
                <a:alpha val="60000"/>
              </a:srgbClr>
            </a:solidFill>
            <a:ln w="6927">
              <a:solidFill>
                <a:srgbClr val="557994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7" name="pi_mscl_figure__panel_a__fusion__polygon_204"/>
            <p:cNvSpPr/>
            <p:nvPr/>
          </p:nvSpPr>
          <p:spPr>
            <a:xfrm>
              <a:off x="6824376" y="1356126"/>
              <a:ext cx="306222" cy="1100941"/>
            </a:xfrm>
            <a:custGeom>
              <a:avLst/>
              <a:gdLst/>
              <a:ahLst/>
              <a:cxnLst/>
              <a:rect l="l" t="t" r="r" b="b"/>
              <a:pathLst>
                <a:path w="42" h="151">
                  <a:moveTo>
                    <a:pt x="0" y="7"/>
                  </a:moveTo>
                  <a:lnTo>
                    <a:pt x="42" y="0"/>
                  </a:lnTo>
                  <a:lnTo>
                    <a:pt x="42" y="144"/>
                  </a:lnTo>
                  <a:lnTo>
                    <a:pt x="0" y="151"/>
                  </a:lnTo>
                  <a:close/>
                </a:path>
              </a:pathLst>
            </a:custGeom>
            <a:solidFill>
              <a:srgbClr val="C9DDF0">
                <a:alpha val="73000"/>
              </a:srgbClr>
            </a:solidFill>
            <a:ln w="6927">
              <a:solidFill>
                <a:srgbClr val="557994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8" name="pi_mscl_figure__panel_a__fusion__polygon_205"/>
            <p:cNvSpPr/>
            <p:nvPr/>
          </p:nvSpPr>
          <p:spPr>
            <a:xfrm>
              <a:off x="6795212" y="1385290"/>
              <a:ext cx="306222" cy="1100941"/>
            </a:xfrm>
            <a:custGeom>
              <a:avLst/>
              <a:gdLst/>
              <a:ahLst/>
              <a:cxnLst/>
              <a:rect l="l" t="t" r="r" b="b"/>
              <a:pathLst>
                <a:path w="42" h="151">
                  <a:moveTo>
                    <a:pt x="0" y="7"/>
                  </a:moveTo>
                  <a:lnTo>
                    <a:pt x="42" y="0"/>
                  </a:lnTo>
                  <a:lnTo>
                    <a:pt x="42" y="144"/>
                  </a:lnTo>
                  <a:lnTo>
                    <a:pt x="0" y="151"/>
                  </a:lnTo>
                  <a:close/>
                </a:path>
              </a:pathLst>
            </a:custGeom>
            <a:solidFill>
              <a:srgbClr val="C9DDF0">
                <a:alpha val="86000"/>
              </a:srgbClr>
            </a:solidFill>
            <a:ln w="6927">
              <a:solidFill>
                <a:srgbClr val="557994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9" name="pi_mscl_figure__panel_a__fusion__polygon_206"/>
            <p:cNvSpPr/>
            <p:nvPr/>
          </p:nvSpPr>
          <p:spPr>
            <a:xfrm>
              <a:off x="6795212" y="1414454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9FC1DD">
                <a:alpha val="88000"/>
              </a:srgbClr>
            </a:solidFill>
            <a:ln w="3281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0" name="pi_mscl_figure__panel_a__fusion__polygon_207"/>
            <p:cNvSpPr/>
            <p:nvPr/>
          </p:nvSpPr>
          <p:spPr>
            <a:xfrm>
              <a:off x="6948323" y="1385290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A3C4DE">
                <a:alpha val="88000"/>
              </a:srgbClr>
            </a:solidFill>
            <a:ln w="3281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1" name="pi_mscl_figure__panel_a__fusion__polygon_208"/>
            <p:cNvSpPr/>
            <p:nvPr/>
          </p:nvSpPr>
          <p:spPr>
            <a:xfrm>
              <a:off x="6795212" y="1523819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A7C6E0">
                <a:alpha val="88000"/>
              </a:srgbClr>
            </a:solidFill>
            <a:ln w="3281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2" name="pi_mscl_figure__panel_a__fusion__polygon_209"/>
            <p:cNvSpPr/>
            <p:nvPr/>
          </p:nvSpPr>
          <p:spPr>
            <a:xfrm>
              <a:off x="6948323" y="1494655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ABC9E1">
                <a:alpha val="88000"/>
              </a:srgbClr>
            </a:solidFill>
            <a:ln w="3281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3" name="pi_mscl_figure__panel_a__fusion__polygon_210"/>
            <p:cNvSpPr/>
            <p:nvPr/>
          </p:nvSpPr>
          <p:spPr>
            <a:xfrm>
              <a:off x="6795212" y="1633184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AECBE3">
                <a:alpha val="88000"/>
              </a:srgbClr>
            </a:solidFill>
            <a:ln w="3281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4" name="pi_mscl_figure__panel_a__fusion__polygon_211"/>
            <p:cNvSpPr/>
            <p:nvPr/>
          </p:nvSpPr>
          <p:spPr>
            <a:xfrm>
              <a:off x="6948323" y="1604020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B2CEE4">
                <a:alpha val="88000"/>
              </a:srgbClr>
            </a:solidFill>
            <a:ln w="3281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5" name="pi_mscl_figure__panel_a__fusion__polygon_212"/>
            <p:cNvSpPr/>
            <p:nvPr/>
          </p:nvSpPr>
          <p:spPr>
            <a:xfrm>
              <a:off x="6795212" y="1742549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B6D0E6">
                <a:alpha val="88000"/>
              </a:srgbClr>
            </a:solidFill>
            <a:ln w="3281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6" name="pi_mscl_figure__panel_a__fusion__polygon_213"/>
            <p:cNvSpPr/>
            <p:nvPr/>
          </p:nvSpPr>
          <p:spPr>
            <a:xfrm>
              <a:off x="6948323" y="1713385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BAD3E7">
                <a:alpha val="88000"/>
              </a:srgbClr>
            </a:solidFill>
            <a:ln w="3281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7" name="pi_mscl_figure__panel_a__fusion__polygon_214"/>
            <p:cNvSpPr/>
            <p:nvPr/>
          </p:nvSpPr>
          <p:spPr>
            <a:xfrm>
              <a:off x="6795212" y="1851914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BED6E8">
                <a:alpha val="88000"/>
              </a:srgbClr>
            </a:solidFill>
            <a:ln w="3281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8" name="pi_mscl_figure__panel_a__fusion__polygon_215"/>
            <p:cNvSpPr/>
            <p:nvPr/>
          </p:nvSpPr>
          <p:spPr>
            <a:xfrm>
              <a:off x="6948323" y="1822750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6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C2D8EA">
                <a:alpha val="88000"/>
              </a:srgbClr>
            </a:solidFill>
            <a:ln w="3281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9" name="pi_mscl_figure__panel_a__fusion__polygon_216"/>
            <p:cNvSpPr/>
            <p:nvPr/>
          </p:nvSpPr>
          <p:spPr>
            <a:xfrm>
              <a:off x="6795212" y="1961279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C5DBEB">
                <a:alpha val="88000"/>
              </a:srgbClr>
            </a:solidFill>
            <a:ln w="3281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0" name="pi_mscl_figure__panel_a__fusion__polygon_217"/>
            <p:cNvSpPr/>
            <p:nvPr/>
          </p:nvSpPr>
          <p:spPr>
            <a:xfrm>
              <a:off x="6948323" y="1939406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C9DDED">
                <a:alpha val="88000"/>
              </a:srgbClr>
            </a:solidFill>
            <a:ln w="3281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1" name="pi_mscl_figure__panel_a__fusion__polygon_218"/>
            <p:cNvSpPr/>
            <p:nvPr/>
          </p:nvSpPr>
          <p:spPr>
            <a:xfrm>
              <a:off x="6795212" y="2070644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CDE0EE">
                <a:alpha val="88000"/>
              </a:srgbClr>
            </a:solidFill>
            <a:ln w="3281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2" name="pi_mscl_figure__panel_a__fusion__polygon_219"/>
            <p:cNvSpPr/>
            <p:nvPr/>
          </p:nvSpPr>
          <p:spPr>
            <a:xfrm>
              <a:off x="6948323" y="2048771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D1E3EF">
                <a:alpha val="88000"/>
              </a:srgbClr>
            </a:solidFill>
            <a:ln w="3281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3" name="pi_mscl_figure__panel_a__fusion__polygon_220"/>
            <p:cNvSpPr/>
            <p:nvPr/>
          </p:nvSpPr>
          <p:spPr>
            <a:xfrm>
              <a:off x="6795212" y="2180009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D5E5F1">
                <a:alpha val="88000"/>
              </a:srgbClr>
            </a:solidFill>
            <a:ln w="3281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4" name="pi_mscl_figure__panel_a__fusion__polygon_221"/>
            <p:cNvSpPr/>
            <p:nvPr/>
          </p:nvSpPr>
          <p:spPr>
            <a:xfrm>
              <a:off x="6948323" y="2158136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D9E8F2">
                <a:alpha val="88000"/>
              </a:srgbClr>
            </a:solidFill>
            <a:ln w="3281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5" name="pi_mscl_figure__panel_a__fusion__polygon_222"/>
            <p:cNvSpPr/>
            <p:nvPr/>
          </p:nvSpPr>
          <p:spPr>
            <a:xfrm>
              <a:off x="6795212" y="2289374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DCEAF4">
                <a:alpha val="88000"/>
              </a:srgbClr>
            </a:solidFill>
            <a:ln w="3281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6" name="pi_mscl_figure__panel_a__fusion__polygon_223"/>
            <p:cNvSpPr/>
            <p:nvPr/>
          </p:nvSpPr>
          <p:spPr>
            <a:xfrm>
              <a:off x="6948323" y="2267501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E0EDF5">
                <a:alpha val="88000"/>
              </a:srgbClr>
            </a:solidFill>
            <a:ln w="3281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7" name="pi_mscl_figure__panel_a__fusion__polygon_224"/>
            <p:cNvSpPr/>
            <p:nvPr/>
          </p:nvSpPr>
          <p:spPr>
            <a:xfrm>
              <a:off x="6795212" y="2398739"/>
              <a:ext cx="153111" cy="138529"/>
            </a:xfrm>
            <a:custGeom>
              <a:avLst/>
              <a:gdLst/>
              <a:ahLst/>
              <a:cxnLst/>
              <a:rect l="l" t="t" r="r" b="b"/>
              <a:pathLst>
                <a:path w="21" h="19">
                  <a:moveTo>
                    <a:pt x="0" y="4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rgbClr val="E4EFF7">
                <a:alpha val="88000"/>
              </a:srgbClr>
            </a:solidFill>
            <a:ln w="3281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8" name="pi_mscl_figure__panel_a__fusion__polygon_225"/>
            <p:cNvSpPr/>
            <p:nvPr/>
          </p:nvSpPr>
          <p:spPr>
            <a:xfrm>
              <a:off x="6948323" y="2376866"/>
              <a:ext cx="153111" cy="131238"/>
            </a:xfrm>
            <a:custGeom>
              <a:avLst/>
              <a:gdLst/>
              <a:ahLst/>
              <a:cxnLst/>
              <a:rect l="l" t="t" r="r" b="b"/>
              <a:pathLst>
                <a:path w="21" h="18">
                  <a:moveTo>
                    <a:pt x="0" y="3"/>
                  </a:moveTo>
                  <a:lnTo>
                    <a:pt x="21" y="0"/>
                  </a:lnTo>
                  <a:lnTo>
                    <a:pt x="21" y="15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E8F2F8">
                <a:alpha val="88000"/>
              </a:srgbClr>
            </a:solidFill>
            <a:ln w="3281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9" name="pi_mscl_figure__panel_a__fusion__polygon_226"/>
            <p:cNvSpPr/>
            <p:nvPr/>
          </p:nvSpPr>
          <p:spPr>
            <a:xfrm>
              <a:off x="6795212" y="1385290"/>
              <a:ext cx="306222" cy="1100941"/>
            </a:xfrm>
            <a:custGeom>
              <a:avLst/>
              <a:gdLst/>
              <a:ahLst/>
              <a:cxnLst/>
              <a:rect l="l" t="t" r="r" b="b"/>
              <a:pathLst>
                <a:path w="42" h="151">
                  <a:moveTo>
                    <a:pt x="0" y="7"/>
                  </a:moveTo>
                  <a:lnTo>
                    <a:pt x="42" y="0"/>
                  </a:lnTo>
                  <a:lnTo>
                    <a:pt x="42" y="144"/>
                  </a:lnTo>
                  <a:lnTo>
                    <a:pt x="0" y="151"/>
                  </a:lnTo>
                  <a:close/>
                </a:path>
              </a:pathLst>
            </a:custGeom>
            <a:noFill/>
            <a:ln w="9479">
              <a:solidFill>
                <a:srgbClr val="3F6F9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0" name="pi_mscl_figure__panel_a__fusion__text_030"/>
            <p:cNvSpPr txBox="1"/>
            <p:nvPr/>
          </p:nvSpPr>
          <p:spPr>
            <a:xfrm>
              <a:off x="6882354" y="2151100"/>
              <a:ext cx="133586" cy="16800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033" b="0" i="0">
                  <a:solidFill>
                    <a:srgbClr val="111111"/>
                  </a:solidFill>
                  <a:latin typeface="Arial"/>
                </a:rPr>
                <a:t>⋮</a:t>
              </a:r>
            </a:p>
          </p:txBody>
        </p:sp>
        <p:sp>
          <p:nvSpPr>
            <p:cNvPr id="361" name="pi_mscl_figure__panel_a__fusion__text_031"/>
            <p:cNvSpPr txBox="1"/>
            <p:nvPr/>
          </p:nvSpPr>
          <p:spPr>
            <a:xfrm>
              <a:off x="6941856" y="2552153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10</a:t>
              </a:r>
            </a:p>
          </p:txBody>
        </p:sp>
        <p:sp>
          <p:nvSpPr>
            <p:cNvPr id="362" name="pi_mscl_figure__panel_a__fusion__rect_069"/>
            <p:cNvSpPr/>
            <p:nvPr/>
          </p:nvSpPr>
          <p:spPr>
            <a:xfrm>
              <a:off x="5707707" y="1441966"/>
              <a:ext cx="718248" cy="988047"/>
            </a:xfrm>
            <a:prstGeom prst="roundRect">
              <a:avLst>
                <a:gd name="adj" fmla="val 9137"/>
              </a:avLst>
            </a:prstGeom>
            <a:noFill/>
            <a:ln w="10937">
              <a:solidFill>
                <a:srgbClr val="2B69A1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63" name="module__pi_mscl_figure__panel_a__lstm"/>
          <p:cNvGrpSpPr/>
          <p:nvPr/>
        </p:nvGrpSpPr>
        <p:grpSpPr>
          <a:xfrm>
            <a:off x="7496038" y="969818"/>
            <a:ext cx="2114641" cy="2063597"/>
            <a:chOff x="7496038" y="969818"/>
            <a:chExt cx="2114641" cy="2063597"/>
          </a:xfrm>
        </p:grpSpPr>
        <p:sp>
          <p:nvSpPr>
            <p:cNvPr id="364" name="pi_mscl_figure__panel_a__lstm__rect_070"/>
            <p:cNvSpPr/>
            <p:nvPr/>
          </p:nvSpPr>
          <p:spPr>
            <a:xfrm>
              <a:off x="7496038" y="1203157"/>
              <a:ext cx="2114641" cy="1596918"/>
            </a:xfrm>
            <a:prstGeom prst="roundRect">
              <a:avLst>
                <a:gd name="adj" fmla="val 5479"/>
              </a:avLst>
            </a:prstGeom>
            <a:solidFill>
              <a:srgbClr val="FFF9E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5" name="pi_mscl_figure__panel_a__lstm__text_032"/>
            <p:cNvSpPr txBox="1"/>
            <p:nvPr/>
          </p:nvSpPr>
          <p:spPr>
            <a:xfrm>
              <a:off x="8134076" y="969818"/>
              <a:ext cx="838564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1" i="0">
                  <a:solidFill>
                    <a:srgbClr val="111111"/>
                  </a:solidFill>
                  <a:latin typeface="Arial"/>
                </a:rPr>
                <a:t>LSTM (2 layers)</a:t>
              </a:r>
            </a:p>
          </p:txBody>
        </p:sp>
        <p:sp>
          <p:nvSpPr>
            <p:cNvPr id="366" name="pi_mscl_figure__panel_a__lstm__rect_071"/>
            <p:cNvSpPr/>
            <p:nvPr/>
          </p:nvSpPr>
          <p:spPr>
            <a:xfrm>
              <a:off x="7641875" y="1472956"/>
              <a:ext cx="371885" cy="320842"/>
            </a:xfrm>
            <a:prstGeom prst="roundRect">
              <a:avLst>
                <a:gd name="adj" fmla="val 18181"/>
              </a:avLst>
            </a:prstGeom>
            <a:solidFill>
              <a:srgbClr val="FFF1BE"/>
            </a:solidFill>
            <a:ln w="8750">
              <a:solidFill>
                <a:srgbClr val="5C532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7" name="pi_mscl_figure__panel_a__lstm__text_033"/>
            <p:cNvSpPr txBox="1"/>
            <p:nvPr/>
          </p:nvSpPr>
          <p:spPr>
            <a:xfrm>
              <a:off x="7703856" y="1589626"/>
              <a:ext cx="24792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1" i="0">
                  <a:solidFill>
                    <a:srgbClr val="111111"/>
                  </a:solidFill>
                  <a:latin typeface="Arial"/>
                </a:rPr>
                <a:t>LSTM</a:t>
              </a:r>
            </a:p>
          </p:txBody>
        </p:sp>
        <p:sp>
          <p:nvSpPr>
            <p:cNvPr id="368" name="pi_mscl_figure__panel_a__lstm__rect_072"/>
            <p:cNvSpPr/>
            <p:nvPr/>
          </p:nvSpPr>
          <p:spPr>
            <a:xfrm>
              <a:off x="8247100" y="1472956"/>
              <a:ext cx="371885" cy="320842"/>
            </a:xfrm>
            <a:prstGeom prst="roundRect">
              <a:avLst>
                <a:gd name="adj" fmla="val 18181"/>
              </a:avLst>
            </a:prstGeom>
            <a:solidFill>
              <a:srgbClr val="FFF1BE"/>
            </a:solidFill>
            <a:ln w="8750">
              <a:solidFill>
                <a:srgbClr val="5C532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9" name="pi_mscl_figure__panel_a__lstm__text_034"/>
            <p:cNvSpPr txBox="1"/>
            <p:nvPr/>
          </p:nvSpPr>
          <p:spPr>
            <a:xfrm>
              <a:off x="8309081" y="1589626"/>
              <a:ext cx="24792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1" i="0">
                  <a:solidFill>
                    <a:srgbClr val="111111"/>
                  </a:solidFill>
                  <a:latin typeface="Arial"/>
                </a:rPr>
                <a:t>LSTM</a:t>
              </a:r>
            </a:p>
          </p:txBody>
        </p:sp>
        <p:sp>
          <p:nvSpPr>
            <p:cNvPr id="370" name="pi_mscl_figure__panel_a__lstm__rect_073"/>
            <p:cNvSpPr/>
            <p:nvPr/>
          </p:nvSpPr>
          <p:spPr>
            <a:xfrm>
              <a:off x="9143999" y="1472956"/>
              <a:ext cx="371885" cy="320842"/>
            </a:xfrm>
            <a:prstGeom prst="roundRect">
              <a:avLst>
                <a:gd name="adj" fmla="val 18181"/>
              </a:avLst>
            </a:prstGeom>
            <a:solidFill>
              <a:srgbClr val="FFF1BE"/>
            </a:solidFill>
            <a:ln w="8750">
              <a:solidFill>
                <a:srgbClr val="5C532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1" name="pi_mscl_figure__panel_a__lstm__text_035"/>
            <p:cNvSpPr txBox="1"/>
            <p:nvPr/>
          </p:nvSpPr>
          <p:spPr>
            <a:xfrm>
              <a:off x="9205980" y="1589626"/>
              <a:ext cx="24792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1" i="0">
                  <a:solidFill>
                    <a:srgbClr val="111111"/>
                  </a:solidFill>
                  <a:latin typeface="Arial"/>
                </a:rPr>
                <a:t>LSTM</a:t>
              </a:r>
            </a:p>
          </p:txBody>
        </p:sp>
        <p:sp>
          <p:nvSpPr>
            <p:cNvPr id="372" name="pi_mscl_figure__panel_a__lstm__rect_074"/>
            <p:cNvSpPr/>
            <p:nvPr/>
          </p:nvSpPr>
          <p:spPr>
            <a:xfrm>
              <a:off x="7641875" y="2253186"/>
              <a:ext cx="371885" cy="320842"/>
            </a:xfrm>
            <a:prstGeom prst="roundRect">
              <a:avLst>
                <a:gd name="adj" fmla="val 18181"/>
              </a:avLst>
            </a:prstGeom>
            <a:solidFill>
              <a:srgbClr val="FFF1BE"/>
            </a:solidFill>
            <a:ln w="8750">
              <a:solidFill>
                <a:srgbClr val="5C532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3" name="pi_mscl_figure__panel_a__lstm__text_036"/>
            <p:cNvSpPr txBox="1"/>
            <p:nvPr/>
          </p:nvSpPr>
          <p:spPr>
            <a:xfrm>
              <a:off x="7703856" y="2369856"/>
              <a:ext cx="24792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1" i="0">
                  <a:solidFill>
                    <a:srgbClr val="111111"/>
                  </a:solidFill>
                  <a:latin typeface="Arial"/>
                </a:rPr>
                <a:t>LSTM</a:t>
              </a:r>
            </a:p>
          </p:txBody>
        </p:sp>
        <p:sp>
          <p:nvSpPr>
            <p:cNvPr id="374" name="pi_mscl_figure__panel_a__lstm__rect_075"/>
            <p:cNvSpPr/>
            <p:nvPr/>
          </p:nvSpPr>
          <p:spPr>
            <a:xfrm>
              <a:off x="8247100" y="2253186"/>
              <a:ext cx="371885" cy="320842"/>
            </a:xfrm>
            <a:prstGeom prst="roundRect">
              <a:avLst>
                <a:gd name="adj" fmla="val 18181"/>
              </a:avLst>
            </a:prstGeom>
            <a:solidFill>
              <a:srgbClr val="FFF1BE"/>
            </a:solidFill>
            <a:ln w="8750">
              <a:solidFill>
                <a:srgbClr val="5C532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5" name="pi_mscl_figure__panel_a__lstm__text_037"/>
            <p:cNvSpPr txBox="1"/>
            <p:nvPr/>
          </p:nvSpPr>
          <p:spPr>
            <a:xfrm>
              <a:off x="8309081" y="2369856"/>
              <a:ext cx="24792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1" i="0">
                  <a:solidFill>
                    <a:srgbClr val="111111"/>
                  </a:solidFill>
                  <a:latin typeface="Arial"/>
                </a:rPr>
                <a:t>LSTM</a:t>
              </a:r>
            </a:p>
          </p:txBody>
        </p:sp>
        <p:sp>
          <p:nvSpPr>
            <p:cNvPr id="376" name="pi_mscl_figure__panel_a__lstm__rect_076"/>
            <p:cNvSpPr/>
            <p:nvPr/>
          </p:nvSpPr>
          <p:spPr>
            <a:xfrm>
              <a:off x="9143999" y="2253186"/>
              <a:ext cx="371885" cy="320842"/>
            </a:xfrm>
            <a:prstGeom prst="roundRect">
              <a:avLst>
                <a:gd name="adj" fmla="val 18181"/>
              </a:avLst>
            </a:prstGeom>
            <a:solidFill>
              <a:srgbClr val="FFF1BE"/>
            </a:solidFill>
            <a:ln w="8750">
              <a:solidFill>
                <a:srgbClr val="5C532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7" name="pi_mscl_figure__panel_a__lstm__text_038"/>
            <p:cNvSpPr txBox="1"/>
            <p:nvPr/>
          </p:nvSpPr>
          <p:spPr>
            <a:xfrm>
              <a:off x="9205980" y="2369856"/>
              <a:ext cx="24792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1" i="0">
                  <a:solidFill>
                    <a:srgbClr val="111111"/>
                  </a:solidFill>
                  <a:latin typeface="Arial"/>
                </a:rPr>
                <a:t>LSTM</a:t>
              </a:r>
            </a:p>
          </p:txBody>
        </p:sp>
        <p:sp>
          <p:nvSpPr>
            <p:cNvPr id="378" name="pi_mscl_figure__panel_a__lstm__text_039"/>
            <p:cNvSpPr txBox="1"/>
            <p:nvPr/>
          </p:nvSpPr>
          <p:spPr>
            <a:xfrm>
              <a:off x="8746593" y="1575043"/>
              <a:ext cx="153129" cy="1531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18" b="0" i="0">
                  <a:solidFill>
                    <a:srgbClr val="111111"/>
                  </a:solidFill>
                  <a:latin typeface="Arial"/>
                </a:rPr>
                <a:t>•••</a:t>
              </a:r>
            </a:p>
          </p:txBody>
        </p:sp>
        <p:sp>
          <p:nvSpPr>
            <p:cNvPr id="379" name="pi_mscl_figure__panel_a__lstm__text_040"/>
            <p:cNvSpPr txBox="1"/>
            <p:nvPr/>
          </p:nvSpPr>
          <p:spPr>
            <a:xfrm>
              <a:off x="8746593" y="2355272"/>
              <a:ext cx="153129" cy="15312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918" b="0" i="0">
                  <a:solidFill>
                    <a:srgbClr val="111111"/>
                  </a:solidFill>
                  <a:latin typeface="Arial"/>
                </a:rPr>
                <a:t>•••</a:t>
              </a:r>
            </a:p>
          </p:txBody>
        </p:sp>
        <p:sp>
          <p:nvSpPr>
            <p:cNvPr id="380" name="pi_mscl_figure__panel_a__lstm__polyline_019"/>
            <p:cNvSpPr/>
            <p:nvPr/>
          </p:nvSpPr>
          <p:spPr>
            <a:xfrm>
              <a:off x="8012809" y="1633184"/>
              <a:ext cx="218730" cy="0"/>
            </a:xfrm>
            <a:custGeom>
              <a:avLst/>
              <a:gdLst/>
              <a:ahLst/>
              <a:cxnLst/>
              <a:rect l="l" t="t" r="r" b="b"/>
              <a:pathLst>
                <a:path w="30" h="0">
                  <a:moveTo>
                    <a:pt x="0" y="0"/>
                  </a:moveTo>
                  <a:lnTo>
                    <a:pt x="30" y="0"/>
                  </a:lnTo>
                </a:path>
              </a:pathLst>
            </a:custGeom>
            <a:noFill/>
            <a:ln w="8750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1" name="pi_mscl_figure__panel_a__lstm__polygon_227"/>
            <p:cNvSpPr/>
            <p:nvPr/>
          </p:nvSpPr>
          <p:spPr>
            <a:xfrm>
              <a:off x="8180502" y="1604020"/>
              <a:ext cx="51037" cy="58328"/>
            </a:xfrm>
            <a:custGeom>
              <a:avLst/>
              <a:gdLst/>
              <a:ahLst/>
              <a:cxnLst/>
              <a:rect l="l" t="t" r="r" b="b"/>
              <a:pathLst>
                <a:path w="7" h="8">
                  <a:moveTo>
                    <a:pt x="7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2" name="pi_mscl_figure__panel_a__lstm__polyline_020"/>
            <p:cNvSpPr/>
            <p:nvPr/>
          </p:nvSpPr>
          <p:spPr>
            <a:xfrm>
              <a:off x="8617962" y="1633184"/>
              <a:ext cx="488497" cy="0"/>
            </a:xfrm>
            <a:custGeom>
              <a:avLst/>
              <a:gdLst/>
              <a:ahLst/>
              <a:cxnLst/>
              <a:rect l="l" t="t" r="r" b="b"/>
              <a:pathLst>
                <a:path w="67" h="0">
                  <a:moveTo>
                    <a:pt x="0" y="0"/>
                  </a:moveTo>
                  <a:lnTo>
                    <a:pt x="67" y="0"/>
                  </a:lnTo>
                </a:path>
              </a:pathLst>
            </a:custGeom>
            <a:noFill/>
            <a:ln w="8750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3" name="pi_mscl_figure__panel_a__lstm__polygon_228"/>
            <p:cNvSpPr/>
            <p:nvPr/>
          </p:nvSpPr>
          <p:spPr>
            <a:xfrm>
              <a:off x="9055422" y="1604020"/>
              <a:ext cx="51037" cy="58328"/>
            </a:xfrm>
            <a:custGeom>
              <a:avLst/>
              <a:gdLst/>
              <a:ahLst/>
              <a:cxnLst/>
              <a:rect l="l" t="t" r="r" b="b"/>
              <a:pathLst>
                <a:path w="7" h="8">
                  <a:moveTo>
                    <a:pt x="7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4" name="pi_mscl_figure__panel_a__lstm__polyline_021"/>
            <p:cNvSpPr/>
            <p:nvPr/>
          </p:nvSpPr>
          <p:spPr>
            <a:xfrm>
              <a:off x="8012809" y="2413321"/>
              <a:ext cx="218730" cy="0"/>
            </a:xfrm>
            <a:custGeom>
              <a:avLst/>
              <a:gdLst/>
              <a:ahLst/>
              <a:cxnLst/>
              <a:rect l="l" t="t" r="r" b="b"/>
              <a:pathLst>
                <a:path w="30" h="0">
                  <a:moveTo>
                    <a:pt x="0" y="0"/>
                  </a:moveTo>
                  <a:lnTo>
                    <a:pt x="30" y="0"/>
                  </a:lnTo>
                </a:path>
              </a:pathLst>
            </a:custGeom>
            <a:noFill/>
            <a:ln w="8750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5" name="pi_mscl_figure__panel_a__lstm__polygon_229"/>
            <p:cNvSpPr/>
            <p:nvPr/>
          </p:nvSpPr>
          <p:spPr>
            <a:xfrm>
              <a:off x="8180502" y="2391448"/>
              <a:ext cx="51037" cy="43746"/>
            </a:xfrm>
            <a:custGeom>
              <a:avLst/>
              <a:gdLst/>
              <a:ahLst/>
              <a:cxnLst/>
              <a:rect l="l" t="t" r="r" b="b"/>
              <a:pathLst>
                <a:path w="7" h="6">
                  <a:moveTo>
                    <a:pt x="7" y="3"/>
                  </a:move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6" name="pi_mscl_figure__panel_a__lstm__polyline_022"/>
            <p:cNvSpPr/>
            <p:nvPr/>
          </p:nvSpPr>
          <p:spPr>
            <a:xfrm>
              <a:off x="8617962" y="2413321"/>
              <a:ext cx="488497" cy="0"/>
            </a:xfrm>
            <a:custGeom>
              <a:avLst/>
              <a:gdLst/>
              <a:ahLst/>
              <a:cxnLst/>
              <a:rect l="l" t="t" r="r" b="b"/>
              <a:pathLst>
                <a:path w="67" h="0">
                  <a:moveTo>
                    <a:pt x="0" y="0"/>
                  </a:moveTo>
                  <a:lnTo>
                    <a:pt x="67" y="0"/>
                  </a:lnTo>
                </a:path>
              </a:pathLst>
            </a:custGeom>
            <a:noFill/>
            <a:ln w="8750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7" name="pi_mscl_figure__panel_a__lstm__polygon_230"/>
            <p:cNvSpPr/>
            <p:nvPr/>
          </p:nvSpPr>
          <p:spPr>
            <a:xfrm>
              <a:off x="9055422" y="2391448"/>
              <a:ext cx="51037" cy="43746"/>
            </a:xfrm>
            <a:custGeom>
              <a:avLst/>
              <a:gdLst/>
              <a:ahLst/>
              <a:cxnLst/>
              <a:rect l="l" t="t" r="r" b="b"/>
              <a:pathLst>
                <a:path w="7" h="6">
                  <a:moveTo>
                    <a:pt x="7" y="3"/>
                  </a:move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8" name="pi_mscl_figure__panel_a__lstm__polyline_023"/>
            <p:cNvSpPr/>
            <p:nvPr/>
          </p:nvSpPr>
          <p:spPr>
            <a:xfrm>
              <a:off x="7830534" y="1822750"/>
              <a:ext cx="0" cy="430169"/>
            </a:xfrm>
            <a:custGeom>
              <a:avLst/>
              <a:gdLst/>
              <a:ahLst/>
              <a:cxnLst/>
              <a:rect l="l" t="t" r="r" b="b"/>
              <a:pathLst>
                <a:path w="0" h="59">
                  <a:moveTo>
                    <a:pt x="0" y="59"/>
                  </a:moveTo>
                  <a:lnTo>
                    <a:pt x="0" y="0"/>
                  </a:lnTo>
                </a:path>
              </a:pathLst>
            </a:custGeom>
            <a:noFill/>
            <a:ln w="8021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9" name="pi_mscl_figure__panel_a__lstm__polygon_231"/>
            <p:cNvSpPr/>
            <p:nvPr/>
          </p:nvSpPr>
          <p:spPr>
            <a:xfrm>
              <a:off x="7801370" y="1822750"/>
              <a:ext cx="58328" cy="51037"/>
            </a:xfrm>
            <a:custGeom>
              <a:avLst/>
              <a:gdLst/>
              <a:ahLst/>
              <a:cxnLst/>
              <a:rect l="l" t="t" r="r" b="b"/>
              <a:pathLst>
                <a:path w="8" h="7">
                  <a:moveTo>
                    <a:pt x="4" y="0"/>
                  </a:moveTo>
                  <a:lnTo>
                    <a:pt x="0" y="7"/>
                  </a:lnTo>
                  <a:lnTo>
                    <a:pt x="8" y="7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0" name="pi_mscl_figure__panel_a__lstm__polyline_024"/>
            <p:cNvSpPr/>
            <p:nvPr/>
          </p:nvSpPr>
          <p:spPr>
            <a:xfrm>
              <a:off x="8435687" y="1822750"/>
              <a:ext cx="0" cy="430169"/>
            </a:xfrm>
            <a:custGeom>
              <a:avLst/>
              <a:gdLst/>
              <a:ahLst/>
              <a:cxnLst/>
              <a:rect l="l" t="t" r="r" b="b"/>
              <a:pathLst>
                <a:path w="0" h="59">
                  <a:moveTo>
                    <a:pt x="0" y="59"/>
                  </a:moveTo>
                  <a:lnTo>
                    <a:pt x="0" y="0"/>
                  </a:lnTo>
                </a:path>
              </a:pathLst>
            </a:custGeom>
            <a:noFill/>
            <a:ln w="8021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1" name="pi_mscl_figure__panel_a__lstm__polygon_232"/>
            <p:cNvSpPr/>
            <p:nvPr/>
          </p:nvSpPr>
          <p:spPr>
            <a:xfrm>
              <a:off x="8413814" y="1822750"/>
              <a:ext cx="43746" cy="51037"/>
            </a:xfrm>
            <a:custGeom>
              <a:avLst/>
              <a:gdLst/>
              <a:ahLst/>
              <a:cxnLst/>
              <a:rect l="l" t="t" r="r" b="b"/>
              <a:pathLst>
                <a:path w="6" h="7">
                  <a:moveTo>
                    <a:pt x="3" y="0"/>
                  </a:moveTo>
                  <a:lnTo>
                    <a:pt x="0" y="7"/>
                  </a:lnTo>
                  <a:lnTo>
                    <a:pt x="6" y="7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2" name="pi_mscl_figure__panel_a__lstm__polyline_025"/>
            <p:cNvSpPr/>
            <p:nvPr/>
          </p:nvSpPr>
          <p:spPr>
            <a:xfrm>
              <a:off x="9332480" y="1822750"/>
              <a:ext cx="0" cy="430169"/>
            </a:xfrm>
            <a:custGeom>
              <a:avLst/>
              <a:gdLst/>
              <a:ahLst/>
              <a:cxnLst/>
              <a:rect l="l" t="t" r="r" b="b"/>
              <a:pathLst>
                <a:path w="0" h="59">
                  <a:moveTo>
                    <a:pt x="0" y="59"/>
                  </a:moveTo>
                  <a:lnTo>
                    <a:pt x="0" y="0"/>
                  </a:lnTo>
                </a:path>
              </a:pathLst>
            </a:custGeom>
            <a:noFill/>
            <a:ln w="8021">
              <a:solidFill>
                <a:srgbClr val="33333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3" name="pi_mscl_figure__panel_a__lstm__polygon_233"/>
            <p:cNvSpPr/>
            <p:nvPr/>
          </p:nvSpPr>
          <p:spPr>
            <a:xfrm>
              <a:off x="9303316" y="1822750"/>
              <a:ext cx="58328" cy="51037"/>
            </a:xfrm>
            <a:custGeom>
              <a:avLst/>
              <a:gdLst/>
              <a:ahLst/>
              <a:cxnLst/>
              <a:rect l="l" t="t" r="r" b="b"/>
              <a:pathLst>
                <a:path w="8" h="7">
                  <a:moveTo>
                    <a:pt x="4" y="0"/>
                  </a:moveTo>
                  <a:lnTo>
                    <a:pt x="0" y="7"/>
                  </a:lnTo>
                  <a:lnTo>
                    <a:pt x="8" y="7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4" name="pi_mscl_figure__panel_a__lstm__text_041"/>
            <p:cNvSpPr txBox="1"/>
            <p:nvPr/>
          </p:nvSpPr>
          <p:spPr>
            <a:xfrm>
              <a:off x="7619999" y="2909454"/>
              <a:ext cx="211464" cy="12396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746" b="0" i="1">
                  <a:solidFill>
                    <a:srgbClr val="111111"/>
                  </a:solidFill>
                  <a:latin typeface="Times New Roman"/>
                </a:rPr>
                <a:t>t = 1</a:t>
              </a:r>
            </a:p>
          </p:txBody>
        </p:sp>
        <p:sp>
          <p:nvSpPr>
            <p:cNvPr id="395" name="pi_mscl_figure__panel_a__lstm__text_042"/>
            <p:cNvSpPr txBox="1"/>
            <p:nvPr/>
          </p:nvSpPr>
          <p:spPr>
            <a:xfrm>
              <a:off x="9129416" y="2909454"/>
              <a:ext cx="262507" cy="12396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746" b="0" i="1">
                  <a:solidFill>
                    <a:srgbClr val="111111"/>
                  </a:solidFill>
                  <a:latin typeface="Times New Roman"/>
                </a:rPr>
                <a:t>t = 10</a:t>
              </a:r>
            </a:p>
          </p:txBody>
        </p:sp>
        <p:sp>
          <p:nvSpPr>
            <p:cNvPr id="396" name="pi_mscl_figure__panel_a__lstm__rect_077"/>
            <p:cNvSpPr/>
            <p:nvPr/>
          </p:nvSpPr>
          <p:spPr>
            <a:xfrm>
              <a:off x="7501506" y="1208626"/>
              <a:ext cx="2103703" cy="1585980"/>
            </a:xfrm>
            <a:prstGeom prst="roundRect">
              <a:avLst>
                <a:gd name="adj" fmla="val 5057"/>
              </a:avLst>
            </a:prstGeom>
            <a:noFill/>
            <a:ln w="10937">
              <a:solidFill>
                <a:srgbClr val="EEA51C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97" name="module__pi_mscl_figure__panel_a__regression"/>
          <p:cNvGrpSpPr/>
          <p:nvPr/>
        </p:nvGrpSpPr>
        <p:grpSpPr>
          <a:xfrm>
            <a:off x="9771100" y="991693"/>
            <a:ext cx="926066" cy="1808382"/>
            <a:chOff x="9771100" y="991693"/>
            <a:chExt cx="926066" cy="1808382"/>
          </a:xfrm>
        </p:grpSpPr>
        <p:sp>
          <p:nvSpPr>
            <p:cNvPr id="398" name="pi_mscl_figure__panel_a__regression__rect_078"/>
            <p:cNvSpPr/>
            <p:nvPr/>
          </p:nvSpPr>
          <p:spPr>
            <a:xfrm>
              <a:off x="9771100" y="991693"/>
              <a:ext cx="926066" cy="1808382"/>
            </a:xfrm>
            <a:prstGeom prst="roundRect">
              <a:avLst>
                <a:gd name="adj" fmla="val 7874"/>
              </a:avLst>
            </a:prstGeom>
            <a:solidFill>
              <a:srgbClr val="FFF2E9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9" name="pi_mscl_figure__panel_a__regression__text_043"/>
            <p:cNvSpPr txBox="1"/>
            <p:nvPr/>
          </p:nvSpPr>
          <p:spPr>
            <a:xfrm>
              <a:off x="9807559" y="1101071"/>
              <a:ext cx="853148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111111"/>
                  </a:solidFill>
                  <a:latin typeface="Arial"/>
                </a:rPr>
                <a:t>Regression head</a:t>
              </a:r>
            </a:p>
          </p:txBody>
        </p:sp>
        <p:sp>
          <p:nvSpPr>
            <p:cNvPr id="400" name="pi_mscl_figure__panel_a__regression__text_044"/>
            <p:cNvSpPr txBox="1"/>
            <p:nvPr/>
          </p:nvSpPr>
          <p:spPr>
            <a:xfrm>
              <a:off x="9887770" y="1261492"/>
              <a:ext cx="692727" cy="12396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746" b="1" i="0">
                  <a:solidFill>
                    <a:srgbClr val="111111"/>
                  </a:solidFill>
                  <a:latin typeface="Arial"/>
                </a:rPr>
                <a:t>(FC + Dropout)</a:t>
              </a:r>
            </a:p>
          </p:txBody>
        </p:sp>
        <p:sp>
          <p:nvSpPr>
            <p:cNvPr id="401" name="pi_mscl_figure__panel_a__regression__rect_079"/>
            <p:cNvSpPr/>
            <p:nvPr/>
          </p:nvSpPr>
          <p:spPr>
            <a:xfrm>
              <a:off x="10070066" y="1458373"/>
              <a:ext cx="342717" cy="1232325"/>
            </a:xfrm>
            <a:prstGeom prst="roundRect">
              <a:avLst>
                <a:gd name="adj" fmla="val 17021"/>
              </a:avLst>
            </a:prstGeom>
            <a:solidFill>
              <a:srgbClr val="FFFFFF"/>
            </a:solidFill>
            <a:ln w="8021">
              <a:solidFill>
                <a:srgbClr val="2222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2" name="pi_mscl_figure__panel_a__regression__circle_001"/>
            <p:cNvSpPr/>
            <p:nvPr/>
          </p:nvSpPr>
          <p:spPr>
            <a:xfrm>
              <a:off x="10157569" y="1531291"/>
              <a:ext cx="175004" cy="175004"/>
            </a:xfrm>
            <a:prstGeom prst="ellipse">
              <a:avLst/>
            </a:prstGeom>
            <a:solidFill>
              <a:srgbClr val="FFD8BF"/>
            </a:solidFill>
            <a:ln w="7291">
              <a:solidFill>
                <a:srgbClr val="8A4B20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3" name="pi_mscl_figure__panel_a__regression__circle_002"/>
            <p:cNvSpPr/>
            <p:nvPr/>
          </p:nvSpPr>
          <p:spPr>
            <a:xfrm>
              <a:off x="10157569" y="1764631"/>
              <a:ext cx="175004" cy="175004"/>
            </a:xfrm>
            <a:prstGeom prst="ellipse">
              <a:avLst/>
            </a:prstGeom>
            <a:solidFill>
              <a:srgbClr val="FFD8BF"/>
            </a:solidFill>
            <a:ln w="7291">
              <a:solidFill>
                <a:srgbClr val="8A4B20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4" name="pi_mscl_figure__panel_a__regression__circle_003"/>
            <p:cNvSpPr/>
            <p:nvPr/>
          </p:nvSpPr>
          <p:spPr>
            <a:xfrm>
              <a:off x="10157569" y="2165684"/>
              <a:ext cx="175004" cy="175004"/>
            </a:xfrm>
            <a:prstGeom prst="ellipse">
              <a:avLst/>
            </a:prstGeom>
            <a:solidFill>
              <a:srgbClr val="FFD8BF"/>
            </a:solidFill>
            <a:ln w="7291">
              <a:solidFill>
                <a:srgbClr val="8A4B20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5" name="pi_mscl_figure__panel_a__regression__circle_004"/>
            <p:cNvSpPr/>
            <p:nvPr/>
          </p:nvSpPr>
          <p:spPr>
            <a:xfrm>
              <a:off x="10157569" y="2435483"/>
              <a:ext cx="175004" cy="175004"/>
            </a:xfrm>
            <a:prstGeom prst="ellipse">
              <a:avLst/>
            </a:prstGeom>
            <a:solidFill>
              <a:srgbClr val="FFD8BF"/>
            </a:solidFill>
            <a:ln w="7291">
              <a:solidFill>
                <a:srgbClr val="8A4B20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6" name="pi_mscl_figure__panel_a__regression__text_045"/>
            <p:cNvSpPr txBox="1"/>
            <p:nvPr/>
          </p:nvSpPr>
          <p:spPr>
            <a:xfrm>
              <a:off x="10178278" y="1954220"/>
              <a:ext cx="133586" cy="16800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033" b="0" i="0">
                  <a:solidFill>
                    <a:srgbClr val="111111"/>
                  </a:solidFill>
                  <a:latin typeface="Arial"/>
                </a:rPr>
                <a:t>⋮</a:t>
              </a:r>
            </a:p>
          </p:txBody>
        </p:sp>
        <p:sp>
          <p:nvSpPr>
            <p:cNvPr id="407" name="pi_mscl_figure__panel_a__regression__rect_080"/>
            <p:cNvSpPr/>
            <p:nvPr/>
          </p:nvSpPr>
          <p:spPr>
            <a:xfrm>
              <a:off x="9776569" y="997162"/>
              <a:ext cx="915129" cy="1797444"/>
            </a:xfrm>
            <a:prstGeom prst="roundRect">
              <a:avLst>
                <a:gd name="adj" fmla="val 7171"/>
              </a:avLst>
            </a:prstGeom>
            <a:noFill/>
            <a:ln w="10937">
              <a:solidFill>
                <a:srgbClr val="E86C1C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8" name="module__pi_mscl_figure__panel_a__output_curve"/>
          <p:cNvGrpSpPr/>
          <p:nvPr/>
        </p:nvGrpSpPr>
        <p:grpSpPr>
          <a:xfrm>
            <a:off x="10872171" y="926066"/>
            <a:ext cx="1101071" cy="1961511"/>
            <a:chOff x="10872171" y="926066"/>
            <a:chExt cx="1101071" cy="1961511"/>
          </a:xfrm>
        </p:grpSpPr>
        <p:sp>
          <p:nvSpPr>
            <p:cNvPr id="409" name="pi_mscl_figure__panel_a__output_curve__text_046"/>
            <p:cNvSpPr txBox="1"/>
            <p:nvPr/>
          </p:nvSpPr>
          <p:spPr>
            <a:xfrm>
              <a:off x="11058114" y="926066"/>
              <a:ext cx="794813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1" i="0">
                  <a:solidFill>
                    <a:srgbClr val="111111"/>
                  </a:solidFill>
                  <a:latin typeface="Arial"/>
                </a:rPr>
                <a:t>Predicted SOH</a:t>
              </a:r>
            </a:p>
          </p:txBody>
        </p:sp>
        <p:sp>
          <p:nvSpPr>
            <p:cNvPr id="410" name="pi_mscl_figure__panel_a__output_curve__text_047"/>
            <p:cNvSpPr txBox="1"/>
            <p:nvPr/>
          </p:nvSpPr>
          <p:spPr>
            <a:xfrm>
              <a:off x="11354164" y="1130239"/>
              <a:ext cx="202713" cy="1866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148" b="0" i="1">
                  <a:solidFill>
                    <a:srgbClr val="111111"/>
                  </a:solidFill>
                  <a:latin typeface="Times New Roman"/>
                </a:rPr>
                <a:t>ŷᵢ,ₜ</a:t>
              </a:r>
            </a:p>
          </p:txBody>
        </p:sp>
        <p:cxnSp>
          <p:nvCxnSpPr>
            <p:cNvPr id="411" name="pi_mscl_figure__panel_a__output_curve__line_002"/>
            <p:cNvCxnSpPr/>
            <p:nvPr/>
          </p:nvCxnSpPr>
          <p:spPr>
            <a:xfrm>
              <a:off x="11061760" y="2552153"/>
              <a:ext cx="896899" cy="0"/>
            </a:xfrm>
            <a:prstGeom prst="line">
              <a:avLst/>
            </a:prstGeom>
            <a:ln w="8021">
              <a:solidFill>
                <a:srgbClr val="333333"/>
              </a:solidFill>
              <a:prstDash val="solid"/>
            </a:ln>
          </p:spPr>
        </p:cxnSp>
        <p:cxnSp>
          <p:nvCxnSpPr>
            <p:cNvPr id="412" name="pi_mscl_figure__panel_a__output_curve__line_003"/>
            <p:cNvCxnSpPr/>
            <p:nvPr/>
          </p:nvCxnSpPr>
          <p:spPr>
            <a:xfrm>
              <a:off x="11061760" y="1451081"/>
              <a:ext cx="0" cy="1101072"/>
            </a:xfrm>
            <a:prstGeom prst="line">
              <a:avLst/>
            </a:prstGeom>
            <a:ln w="8021">
              <a:solidFill>
                <a:srgbClr val="333333"/>
              </a:solidFill>
              <a:prstDash val="solid"/>
            </a:ln>
          </p:spPr>
        </p:cxnSp>
        <p:cxnSp>
          <p:nvCxnSpPr>
            <p:cNvPr id="413" name="pi_mscl_figure__panel_a__output_curve__line_004"/>
            <p:cNvCxnSpPr/>
            <p:nvPr/>
          </p:nvCxnSpPr>
          <p:spPr>
            <a:xfrm>
              <a:off x="11061760" y="1487540"/>
              <a:ext cx="896899" cy="0"/>
            </a:xfrm>
            <a:prstGeom prst="line">
              <a:avLst/>
            </a:prstGeom>
            <a:ln w="5833">
              <a:solidFill>
                <a:srgbClr val="C8C8C8"/>
              </a:solidFill>
              <a:prstDash val="dash"/>
            </a:ln>
          </p:spPr>
        </p:cxnSp>
        <p:sp>
          <p:nvSpPr>
            <p:cNvPr id="414" name="pi_mscl_figure__panel_a__output_curve__text_048"/>
            <p:cNvSpPr txBox="1"/>
            <p:nvPr/>
          </p:nvSpPr>
          <p:spPr>
            <a:xfrm>
              <a:off x="10872171" y="1436497"/>
              <a:ext cx="13125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1.0</a:t>
              </a:r>
            </a:p>
          </p:txBody>
        </p:sp>
        <p:cxnSp>
          <p:nvCxnSpPr>
            <p:cNvPr id="415" name="pi_mscl_figure__panel_a__output_curve__line_005"/>
            <p:cNvCxnSpPr/>
            <p:nvPr/>
          </p:nvCxnSpPr>
          <p:spPr>
            <a:xfrm>
              <a:off x="11061760" y="1699004"/>
              <a:ext cx="896899" cy="0"/>
            </a:xfrm>
            <a:prstGeom prst="line">
              <a:avLst/>
            </a:prstGeom>
            <a:ln w="5833">
              <a:solidFill>
                <a:srgbClr val="C8C8C8"/>
              </a:solidFill>
              <a:prstDash val="dash"/>
            </a:ln>
          </p:spPr>
        </p:cxnSp>
        <p:sp>
          <p:nvSpPr>
            <p:cNvPr id="416" name="pi_mscl_figure__panel_a__output_curve__text_049"/>
            <p:cNvSpPr txBox="1"/>
            <p:nvPr/>
          </p:nvSpPr>
          <p:spPr>
            <a:xfrm>
              <a:off x="10872171" y="1647961"/>
              <a:ext cx="13125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0.8</a:t>
              </a:r>
            </a:p>
          </p:txBody>
        </p:sp>
        <p:cxnSp>
          <p:nvCxnSpPr>
            <p:cNvPr id="417" name="pi_mscl_figure__panel_a__output_curve__line_006"/>
            <p:cNvCxnSpPr/>
            <p:nvPr/>
          </p:nvCxnSpPr>
          <p:spPr>
            <a:xfrm>
              <a:off x="11061760" y="1917760"/>
              <a:ext cx="896899" cy="0"/>
            </a:xfrm>
            <a:prstGeom prst="line">
              <a:avLst/>
            </a:prstGeom>
            <a:ln w="5833">
              <a:solidFill>
                <a:srgbClr val="C8C8C8"/>
              </a:solidFill>
              <a:prstDash val="dash"/>
            </a:ln>
          </p:spPr>
        </p:cxnSp>
        <p:sp>
          <p:nvSpPr>
            <p:cNvPr id="418" name="pi_mscl_figure__panel_a__output_curve__text_050"/>
            <p:cNvSpPr txBox="1"/>
            <p:nvPr/>
          </p:nvSpPr>
          <p:spPr>
            <a:xfrm>
              <a:off x="10872171" y="1866717"/>
              <a:ext cx="13125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0.6</a:t>
              </a:r>
            </a:p>
          </p:txBody>
        </p:sp>
        <p:cxnSp>
          <p:nvCxnSpPr>
            <p:cNvPr id="419" name="pi_mscl_figure__panel_a__output_curve__line_007"/>
            <p:cNvCxnSpPr/>
            <p:nvPr/>
          </p:nvCxnSpPr>
          <p:spPr>
            <a:xfrm>
              <a:off x="11061760" y="2129224"/>
              <a:ext cx="896899" cy="0"/>
            </a:xfrm>
            <a:prstGeom prst="line">
              <a:avLst/>
            </a:prstGeom>
            <a:ln w="5833">
              <a:solidFill>
                <a:srgbClr val="C8C8C8"/>
              </a:solidFill>
              <a:prstDash val="dash"/>
            </a:ln>
          </p:spPr>
        </p:cxnSp>
        <p:sp>
          <p:nvSpPr>
            <p:cNvPr id="420" name="pi_mscl_figure__panel_a__output_curve__text_051"/>
            <p:cNvSpPr txBox="1"/>
            <p:nvPr/>
          </p:nvSpPr>
          <p:spPr>
            <a:xfrm>
              <a:off x="10872171" y="2078181"/>
              <a:ext cx="13125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0.4</a:t>
              </a:r>
            </a:p>
          </p:txBody>
        </p:sp>
        <p:cxnSp>
          <p:nvCxnSpPr>
            <p:cNvPr id="421" name="pi_mscl_figure__panel_a__output_curve__line_008"/>
            <p:cNvCxnSpPr/>
            <p:nvPr/>
          </p:nvCxnSpPr>
          <p:spPr>
            <a:xfrm>
              <a:off x="11061760" y="2340688"/>
              <a:ext cx="896899" cy="0"/>
            </a:xfrm>
            <a:prstGeom prst="line">
              <a:avLst/>
            </a:prstGeom>
            <a:ln w="5833">
              <a:solidFill>
                <a:srgbClr val="C8C8C8"/>
              </a:solidFill>
              <a:prstDash val="dash"/>
            </a:ln>
          </p:spPr>
        </p:cxnSp>
        <p:sp>
          <p:nvSpPr>
            <p:cNvPr id="422" name="pi_mscl_figure__panel_a__output_curve__text_052"/>
            <p:cNvSpPr txBox="1"/>
            <p:nvPr/>
          </p:nvSpPr>
          <p:spPr>
            <a:xfrm>
              <a:off x="10872171" y="2289645"/>
              <a:ext cx="13125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0.2</a:t>
              </a:r>
            </a:p>
          </p:txBody>
        </p:sp>
        <p:cxnSp>
          <p:nvCxnSpPr>
            <p:cNvPr id="423" name="pi_mscl_figure__panel_a__output_curve__line_009"/>
            <p:cNvCxnSpPr/>
            <p:nvPr/>
          </p:nvCxnSpPr>
          <p:spPr>
            <a:xfrm>
              <a:off x="11061760" y="2552153"/>
              <a:ext cx="896899" cy="0"/>
            </a:xfrm>
            <a:prstGeom prst="line">
              <a:avLst/>
            </a:prstGeom>
            <a:ln w="5833">
              <a:solidFill>
                <a:srgbClr val="C8C8C8"/>
              </a:solidFill>
              <a:prstDash val="dash"/>
            </a:ln>
          </p:spPr>
        </p:cxnSp>
        <p:sp>
          <p:nvSpPr>
            <p:cNvPr id="424" name="pi_mscl_figure__panel_a__output_curve__text_053"/>
            <p:cNvSpPr txBox="1"/>
            <p:nvPr/>
          </p:nvSpPr>
          <p:spPr>
            <a:xfrm>
              <a:off x="10872171" y="2501109"/>
              <a:ext cx="131253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0.0</a:t>
              </a:r>
            </a:p>
          </p:txBody>
        </p:sp>
        <p:sp>
          <p:nvSpPr>
            <p:cNvPr id="425" name="pi_mscl_figure__panel_a__output_curve__polyline_026"/>
            <p:cNvSpPr/>
            <p:nvPr/>
          </p:nvSpPr>
          <p:spPr>
            <a:xfrm>
              <a:off x="11140648" y="1523819"/>
              <a:ext cx="772846" cy="955121"/>
            </a:xfrm>
            <a:custGeom>
              <a:avLst/>
              <a:gdLst/>
              <a:ahLst/>
              <a:cxnLst/>
              <a:rect l="l" t="t" r="r" b="b"/>
              <a:pathLst>
                <a:path w="106" h="131">
                  <a:moveTo>
                    <a:pt x="0" y="0"/>
                  </a:moveTo>
                  <a:lnTo>
                    <a:pt x="14" y="10"/>
                  </a:lnTo>
                  <a:lnTo>
                    <a:pt x="30" y="23"/>
                  </a:lnTo>
                  <a:lnTo>
                    <a:pt x="42" y="41"/>
                  </a:lnTo>
                  <a:lnTo>
                    <a:pt x="52" y="65"/>
                  </a:lnTo>
                  <a:lnTo>
                    <a:pt x="65" y="89"/>
                  </a:lnTo>
                  <a:lnTo>
                    <a:pt x="79" y="104"/>
                  </a:lnTo>
                  <a:lnTo>
                    <a:pt x="92" y="114"/>
                  </a:lnTo>
                  <a:lnTo>
                    <a:pt x="106" y="131"/>
                  </a:lnTo>
                </a:path>
              </a:pathLst>
            </a:custGeom>
            <a:noFill/>
            <a:ln w="14583">
              <a:solidFill>
                <a:srgbClr val="2F7D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6" name="pi_mscl_figure__panel_a__output_curve__circle_005"/>
            <p:cNvSpPr/>
            <p:nvPr/>
          </p:nvSpPr>
          <p:spPr>
            <a:xfrm>
              <a:off x="11112803" y="1494832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7" name="pi_mscl_figure__panel_a__output_curve__circle_006"/>
            <p:cNvSpPr/>
            <p:nvPr/>
          </p:nvSpPr>
          <p:spPr>
            <a:xfrm>
              <a:off x="11214889" y="1567751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8" name="pi_mscl_figure__panel_a__output_curve__circle_007"/>
            <p:cNvSpPr/>
            <p:nvPr/>
          </p:nvSpPr>
          <p:spPr>
            <a:xfrm>
              <a:off x="11331559" y="1662545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9" name="pi_mscl_figure__panel_a__output_curve__circle_008"/>
            <p:cNvSpPr/>
            <p:nvPr/>
          </p:nvSpPr>
          <p:spPr>
            <a:xfrm>
              <a:off x="11419061" y="1793798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0" name="pi_mscl_figure__panel_a__output_curve__circle_009"/>
            <p:cNvSpPr/>
            <p:nvPr/>
          </p:nvSpPr>
          <p:spPr>
            <a:xfrm>
              <a:off x="11491980" y="1968803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1" name="pi_mscl_figure__panel_a__output_curve__circle_010"/>
            <p:cNvSpPr/>
            <p:nvPr/>
          </p:nvSpPr>
          <p:spPr>
            <a:xfrm>
              <a:off x="11586774" y="2143808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2" name="pi_mscl_figure__panel_a__output_curve__circle_011"/>
            <p:cNvSpPr/>
            <p:nvPr/>
          </p:nvSpPr>
          <p:spPr>
            <a:xfrm>
              <a:off x="11688860" y="2253186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3" name="pi_mscl_figure__panel_a__output_curve__circle_012"/>
            <p:cNvSpPr/>
            <p:nvPr/>
          </p:nvSpPr>
          <p:spPr>
            <a:xfrm>
              <a:off x="11783655" y="2326105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4" name="pi_mscl_figure__panel_a__output_curve__circle_013"/>
            <p:cNvSpPr/>
            <p:nvPr/>
          </p:nvSpPr>
          <p:spPr>
            <a:xfrm>
              <a:off x="11885741" y="2450066"/>
              <a:ext cx="58334" cy="58334"/>
            </a:xfrm>
            <a:prstGeom prst="ellipse">
              <a:avLst/>
            </a:prstGeom>
            <a:solidFill>
              <a:srgbClr val="5CAB3E"/>
            </a:solidFill>
            <a:ln w="6562">
              <a:solidFill>
                <a:srgbClr val="1E5F1A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5" name="pi_mscl_figure__panel_a__output_curve__text_054"/>
            <p:cNvSpPr txBox="1"/>
            <p:nvPr/>
          </p:nvSpPr>
          <p:spPr>
            <a:xfrm>
              <a:off x="11105511" y="2603196"/>
              <a:ext cx="72918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1</a:t>
              </a:r>
            </a:p>
          </p:txBody>
        </p:sp>
        <p:sp>
          <p:nvSpPr>
            <p:cNvPr id="436" name="pi_mscl_figure__panel_a__output_curve__text_055"/>
            <p:cNvSpPr txBox="1"/>
            <p:nvPr/>
          </p:nvSpPr>
          <p:spPr>
            <a:xfrm>
              <a:off x="11856573" y="2603196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10</a:t>
              </a:r>
            </a:p>
          </p:txBody>
        </p:sp>
        <p:sp>
          <p:nvSpPr>
            <p:cNvPr id="437" name="pi_mscl_figure__panel_a__output_curve__text_056"/>
            <p:cNvSpPr txBox="1"/>
            <p:nvPr/>
          </p:nvSpPr>
          <p:spPr>
            <a:xfrm>
              <a:off x="11320621" y="2778200"/>
              <a:ext cx="430220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cycle index</a:t>
              </a:r>
            </a:p>
          </p:txBody>
        </p:sp>
      </p:grpSp>
      <p:sp>
        <p:nvSpPr>
          <p:cNvPr id="438" name="pi_mscl_figure__panel_a__rect_081"/>
          <p:cNvSpPr/>
          <p:nvPr/>
        </p:nvSpPr>
        <p:spPr>
          <a:xfrm>
            <a:off x="78387" y="78387"/>
            <a:ext cx="12035224" cy="3452698"/>
          </a:xfrm>
          <a:prstGeom prst="roundRect">
            <a:avLst>
              <a:gd name="adj" fmla="val 2534"/>
            </a:avLst>
          </a:prstGeom>
          <a:noFill/>
          <a:ln w="10937">
            <a:solidFill>
              <a:srgbClr val="AEB4B8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pi_mscl_figure__panel_b__rect_082"/>
          <p:cNvSpPr/>
          <p:nvPr/>
        </p:nvSpPr>
        <p:spPr>
          <a:xfrm>
            <a:off x="72918" y="3638641"/>
            <a:ext cx="12046162" cy="3120918"/>
          </a:xfrm>
          <a:prstGeom prst="roundRect">
            <a:avLst>
              <a:gd name="adj" fmla="val 303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40" name="module__pi_mscl_figure__panel_b__training_connectors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41" name="pi_mscl_figure__panel_b__training_connectors__polyline_027"/>
            <p:cNvSpPr/>
            <p:nvPr/>
          </p:nvSpPr>
          <p:spPr>
            <a:xfrm>
              <a:off x="6824376" y="4221489"/>
              <a:ext cx="2311247" cy="874920"/>
            </a:xfrm>
            <a:custGeom>
              <a:avLst/>
              <a:gdLst/>
              <a:ahLst/>
              <a:cxnLst/>
              <a:rect l="l" t="t" r="r" b="b"/>
              <a:pathLst>
                <a:path w="317" h="120">
                  <a:moveTo>
                    <a:pt x="0" y="0"/>
                  </a:moveTo>
                  <a:lnTo>
                    <a:pt x="262" y="0"/>
                  </a:lnTo>
                  <a:lnTo>
                    <a:pt x="262" y="120"/>
                  </a:lnTo>
                  <a:lnTo>
                    <a:pt x="317" y="120"/>
                  </a:lnTo>
                </a:path>
              </a:pathLst>
            </a:custGeom>
            <a:noFill/>
            <a:ln w="12396">
              <a:solidFill>
                <a:srgbClr val="E45F1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2" name="pi_mscl_figure__panel_b__training_connectors__polygon_234"/>
            <p:cNvSpPr/>
            <p:nvPr/>
          </p:nvSpPr>
          <p:spPr>
            <a:xfrm>
              <a:off x="9077295" y="5067245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E45F1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3" name="pi_mscl_figure__panel_b__training_connectors__polyline_028"/>
            <p:cNvSpPr/>
            <p:nvPr/>
          </p:nvSpPr>
          <p:spPr>
            <a:xfrm>
              <a:off x="7823243" y="5110991"/>
              <a:ext cx="1312380" cy="102074"/>
            </a:xfrm>
            <a:custGeom>
              <a:avLst/>
              <a:gdLst/>
              <a:ahLst/>
              <a:cxnLst/>
              <a:rect l="l" t="t" r="r" b="b"/>
              <a:pathLst>
                <a:path w="180" h="14">
                  <a:moveTo>
                    <a:pt x="0" y="0"/>
                  </a:moveTo>
                  <a:lnTo>
                    <a:pt x="125" y="0"/>
                  </a:lnTo>
                  <a:lnTo>
                    <a:pt x="125" y="14"/>
                  </a:lnTo>
                  <a:lnTo>
                    <a:pt x="180" y="14"/>
                  </a:lnTo>
                </a:path>
              </a:pathLst>
            </a:custGeom>
            <a:noFill/>
            <a:ln w="12396">
              <a:solidFill>
                <a:srgbClr val="DC283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4" name="pi_mscl_figure__panel_b__training_connectors__polygon_235"/>
            <p:cNvSpPr/>
            <p:nvPr/>
          </p:nvSpPr>
          <p:spPr>
            <a:xfrm>
              <a:off x="9077295" y="5183901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DC283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5" name="pi_mscl_figure__panel_b__training_connectors__polyline_029"/>
            <p:cNvSpPr/>
            <p:nvPr/>
          </p:nvSpPr>
          <p:spPr>
            <a:xfrm>
              <a:off x="6824376" y="5329721"/>
              <a:ext cx="2311247" cy="729100"/>
            </a:xfrm>
            <a:custGeom>
              <a:avLst/>
              <a:gdLst/>
              <a:ahLst/>
              <a:cxnLst/>
              <a:rect l="l" t="t" r="r" b="b"/>
              <a:pathLst>
                <a:path w="317" h="100">
                  <a:moveTo>
                    <a:pt x="0" y="100"/>
                  </a:moveTo>
                  <a:lnTo>
                    <a:pt x="262" y="100"/>
                  </a:lnTo>
                  <a:lnTo>
                    <a:pt x="262" y="0"/>
                  </a:lnTo>
                  <a:lnTo>
                    <a:pt x="317" y="0"/>
                  </a:lnTo>
                </a:path>
              </a:pathLst>
            </a:custGeom>
            <a:noFill/>
            <a:ln w="12396">
              <a:solidFill>
                <a:srgbClr val="6642A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6" name="pi_mscl_figure__panel_b__training_connectors__polygon_236"/>
            <p:cNvSpPr/>
            <p:nvPr/>
          </p:nvSpPr>
          <p:spPr>
            <a:xfrm>
              <a:off x="9077295" y="5300557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6642A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7" name="module__pi_mscl_figure__panel_b__panel_b_header"/>
          <p:cNvGrpSpPr/>
          <p:nvPr/>
        </p:nvGrpSpPr>
        <p:grpSpPr>
          <a:xfrm>
            <a:off x="167712" y="3740727"/>
            <a:ext cx="3385467" cy="234505"/>
            <a:chOff x="167712" y="3740727"/>
            <a:chExt cx="3385467" cy="234505"/>
          </a:xfrm>
        </p:grpSpPr>
        <p:sp>
          <p:nvSpPr>
            <p:cNvPr id="448" name="pi_mscl_figure__panel_b__panel_b_header__rect_083"/>
            <p:cNvSpPr/>
            <p:nvPr/>
          </p:nvSpPr>
          <p:spPr>
            <a:xfrm>
              <a:off x="167712" y="3740727"/>
              <a:ext cx="218755" cy="218755"/>
            </a:xfrm>
            <a:prstGeom prst="roundRect">
              <a:avLst>
                <a:gd name="adj" fmla="val 3333"/>
              </a:avLst>
            </a:prstGeom>
            <a:solidFill>
              <a:srgbClr val="11111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9" name="pi_mscl_figure__panel_b__panel_b_header__text_057"/>
            <p:cNvSpPr txBox="1"/>
            <p:nvPr/>
          </p:nvSpPr>
          <p:spPr>
            <a:xfrm>
              <a:off x="221235" y="3777186"/>
              <a:ext cx="111711" cy="16800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033" b="1" i="0">
                  <a:solidFill>
                    <a:srgbClr val="FFFFFF"/>
                  </a:solidFill>
                  <a:latin typeface="Arial"/>
                </a:rPr>
                <a:t>b</a:t>
              </a:r>
            </a:p>
          </p:txBody>
        </p:sp>
        <p:sp>
          <p:nvSpPr>
            <p:cNvPr id="450" name="pi_mscl_figure__panel_b__panel_b_header__text_058"/>
            <p:cNvSpPr txBox="1"/>
            <p:nvPr/>
          </p:nvSpPr>
          <p:spPr>
            <a:xfrm>
              <a:off x="510430" y="3769894"/>
              <a:ext cx="3042749" cy="20533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263" b="1" i="0">
                  <a:solidFill>
                    <a:srgbClr val="111111"/>
                  </a:solidFill>
                  <a:latin typeface="Arial"/>
                </a:rPr>
                <a:t>Sparse-label physics-informed learning</a:t>
              </a:r>
            </a:p>
          </p:txBody>
        </p:sp>
      </p:grpSp>
      <p:grpSp>
        <p:nvGrpSpPr>
          <p:cNvPr id="451" name="module__pi_mscl_figure__panel_b__supervised_path"/>
          <p:cNvGrpSpPr/>
          <p:nvPr/>
        </p:nvGrpSpPr>
        <p:grpSpPr>
          <a:xfrm>
            <a:off x="473971" y="3944899"/>
            <a:ext cx="6351214" cy="816688"/>
            <a:chOff x="473971" y="3944899"/>
            <a:chExt cx="6351214" cy="816688"/>
          </a:xfrm>
        </p:grpSpPr>
        <p:sp>
          <p:nvSpPr>
            <p:cNvPr id="452" name="pi_mscl_figure__panel_b__supervised_path__text_059"/>
            <p:cNvSpPr txBox="1"/>
            <p:nvPr/>
          </p:nvSpPr>
          <p:spPr>
            <a:xfrm>
              <a:off x="473971" y="4127196"/>
              <a:ext cx="685435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111111"/>
                  </a:solidFill>
                  <a:latin typeface="Arial"/>
                </a:rPr>
                <a:t>Sparse labels</a:t>
              </a:r>
            </a:p>
          </p:txBody>
        </p:sp>
        <p:sp>
          <p:nvSpPr>
            <p:cNvPr id="453" name="pi_mscl_figure__panel_b__supervised_path__text_060"/>
            <p:cNvSpPr txBox="1"/>
            <p:nvPr/>
          </p:nvSpPr>
          <p:spPr>
            <a:xfrm>
              <a:off x="623454" y="4309492"/>
              <a:ext cx="386468" cy="11666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88" b="0" i="0">
                  <a:solidFill>
                    <a:srgbClr val="111111"/>
                  </a:solidFill>
                  <a:latin typeface="Arial"/>
                </a:rPr>
                <a:t>(one cell)</a:t>
              </a:r>
            </a:p>
          </p:txBody>
        </p:sp>
        <p:sp>
          <p:nvSpPr>
            <p:cNvPr id="454" name="pi_mscl_figure__panel_b__supervised_path__circle_014"/>
            <p:cNvSpPr/>
            <p:nvPr/>
          </p:nvSpPr>
          <p:spPr>
            <a:xfrm>
              <a:off x="1421913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5" name="pi_mscl_figure__panel_b__supervised_path__circle_015"/>
            <p:cNvSpPr/>
            <p:nvPr/>
          </p:nvSpPr>
          <p:spPr>
            <a:xfrm>
              <a:off x="1553167" y="4170947"/>
              <a:ext cx="102086" cy="102086"/>
            </a:xfrm>
            <a:prstGeom prst="ellipse">
              <a:avLst/>
            </a:prstGeom>
            <a:solidFill>
              <a:srgbClr val="F27919"/>
            </a:solidFill>
            <a:ln w="7291">
              <a:solidFill>
                <a:srgbClr val="A95A14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6" name="pi_mscl_figure__panel_b__supervised_path__circle_016"/>
            <p:cNvSpPr/>
            <p:nvPr/>
          </p:nvSpPr>
          <p:spPr>
            <a:xfrm>
              <a:off x="1684421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7" name="pi_mscl_figure__panel_b__supervised_path__circle_017"/>
            <p:cNvSpPr/>
            <p:nvPr/>
          </p:nvSpPr>
          <p:spPr>
            <a:xfrm>
              <a:off x="1815674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8" name="pi_mscl_figure__panel_b__supervised_path__circle_018"/>
            <p:cNvSpPr/>
            <p:nvPr/>
          </p:nvSpPr>
          <p:spPr>
            <a:xfrm>
              <a:off x="1946928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9" name="pi_mscl_figure__panel_b__supervised_path__circle_019"/>
            <p:cNvSpPr/>
            <p:nvPr/>
          </p:nvSpPr>
          <p:spPr>
            <a:xfrm>
              <a:off x="2078181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0" name="pi_mscl_figure__panel_b__supervised_path__circle_020"/>
            <p:cNvSpPr/>
            <p:nvPr/>
          </p:nvSpPr>
          <p:spPr>
            <a:xfrm>
              <a:off x="2209435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1" name="pi_mscl_figure__panel_b__supervised_path__circle_021"/>
            <p:cNvSpPr/>
            <p:nvPr/>
          </p:nvSpPr>
          <p:spPr>
            <a:xfrm>
              <a:off x="2340688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2" name="pi_mscl_figure__panel_b__supervised_path__circle_022"/>
            <p:cNvSpPr/>
            <p:nvPr/>
          </p:nvSpPr>
          <p:spPr>
            <a:xfrm>
              <a:off x="2471942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3" name="pi_mscl_figure__panel_b__supervised_path__circle_023"/>
            <p:cNvSpPr/>
            <p:nvPr/>
          </p:nvSpPr>
          <p:spPr>
            <a:xfrm>
              <a:off x="2603196" y="4170947"/>
              <a:ext cx="102086" cy="102086"/>
            </a:xfrm>
            <a:prstGeom prst="ellipse">
              <a:avLst/>
            </a:prstGeom>
            <a:solidFill>
              <a:srgbClr val="F27919"/>
            </a:solidFill>
            <a:ln w="7291">
              <a:solidFill>
                <a:srgbClr val="A95A14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4" name="pi_mscl_figure__panel_b__supervised_path__circle_024"/>
            <p:cNvSpPr/>
            <p:nvPr/>
          </p:nvSpPr>
          <p:spPr>
            <a:xfrm>
              <a:off x="2734449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5" name="pi_mscl_figure__panel_b__supervised_path__circle_025"/>
            <p:cNvSpPr/>
            <p:nvPr/>
          </p:nvSpPr>
          <p:spPr>
            <a:xfrm>
              <a:off x="2865703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6" name="pi_mscl_figure__panel_b__supervised_path__circle_026"/>
            <p:cNvSpPr/>
            <p:nvPr/>
          </p:nvSpPr>
          <p:spPr>
            <a:xfrm>
              <a:off x="2996956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7" name="pi_mscl_figure__panel_b__supervised_path__circle_027"/>
            <p:cNvSpPr/>
            <p:nvPr/>
          </p:nvSpPr>
          <p:spPr>
            <a:xfrm>
              <a:off x="3128210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8" name="pi_mscl_figure__panel_b__supervised_path__circle_028"/>
            <p:cNvSpPr/>
            <p:nvPr/>
          </p:nvSpPr>
          <p:spPr>
            <a:xfrm>
              <a:off x="3259464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9" name="pi_mscl_figure__panel_b__supervised_path__circle_029"/>
            <p:cNvSpPr/>
            <p:nvPr/>
          </p:nvSpPr>
          <p:spPr>
            <a:xfrm>
              <a:off x="3390717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0" name="pi_mscl_figure__panel_b__supervised_path__circle_030"/>
            <p:cNvSpPr/>
            <p:nvPr/>
          </p:nvSpPr>
          <p:spPr>
            <a:xfrm>
              <a:off x="3521971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1" name="pi_mscl_figure__panel_b__supervised_path__circle_031"/>
            <p:cNvSpPr/>
            <p:nvPr/>
          </p:nvSpPr>
          <p:spPr>
            <a:xfrm>
              <a:off x="3653224" y="4170947"/>
              <a:ext cx="102086" cy="102086"/>
            </a:xfrm>
            <a:prstGeom prst="ellipse">
              <a:avLst/>
            </a:prstGeom>
            <a:solidFill>
              <a:srgbClr val="F27919"/>
            </a:solidFill>
            <a:ln w="7291">
              <a:solidFill>
                <a:srgbClr val="A95A14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2" name="pi_mscl_figure__panel_b__supervised_path__circle_032"/>
            <p:cNvSpPr/>
            <p:nvPr/>
          </p:nvSpPr>
          <p:spPr>
            <a:xfrm>
              <a:off x="3784478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3" name="pi_mscl_figure__panel_b__supervised_path__circle_033"/>
            <p:cNvSpPr/>
            <p:nvPr/>
          </p:nvSpPr>
          <p:spPr>
            <a:xfrm>
              <a:off x="3915731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4" name="pi_mscl_figure__panel_b__supervised_path__circle_034"/>
            <p:cNvSpPr/>
            <p:nvPr/>
          </p:nvSpPr>
          <p:spPr>
            <a:xfrm>
              <a:off x="4046985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5" name="pi_mscl_figure__panel_b__supervised_path__circle_035"/>
            <p:cNvSpPr/>
            <p:nvPr/>
          </p:nvSpPr>
          <p:spPr>
            <a:xfrm>
              <a:off x="4178239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6" name="pi_mscl_figure__panel_b__supervised_path__circle_036"/>
            <p:cNvSpPr/>
            <p:nvPr/>
          </p:nvSpPr>
          <p:spPr>
            <a:xfrm>
              <a:off x="4309492" y="4170947"/>
              <a:ext cx="102086" cy="102086"/>
            </a:xfrm>
            <a:prstGeom prst="ellipse">
              <a:avLst/>
            </a:prstGeom>
            <a:solidFill>
              <a:srgbClr val="F27919"/>
            </a:solidFill>
            <a:ln w="7291">
              <a:solidFill>
                <a:srgbClr val="A95A14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7" name="pi_mscl_figure__panel_b__supervised_path__circle_037"/>
            <p:cNvSpPr/>
            <p:nvPr/>
          </p:nvSpPr>
          <p:spPr>
            <a:xfrm>
              <a:off x="4440746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8" name="pi_mscl_figure__panel_b__supervised_path__circle_038"/>
            <p:cNvSpPr/>
            <p:nvPr/>
          </p:nvSpPr>
          <p:spPr>
            <a:xfrm>
              <a:off x="4571999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9" name="pi_mscl_figure__panel_b__supervised_path__circle_039"/>
            <p:cNvSpPr/>
            <p:nvPr/>
          </p:nvSpPr>
          <p:spPr>
            <a:xfrm>
              <a:off x="4703253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0" name="pi_mscl_figure__panel_b__supervised_path__circle_040"/>
            <p:cNvSpPr/>
            <p:nvPr/>
          </p:nvSpPr>
          <p:spPr>
            <a:xfrm>
              <a:off x="4834507" y="4170947"/>
              <a:ext cx="102086" cy="102086"/>
            </a:xfrm>
            <a:prstGeom prst="ellipse">
              <a:avLst/>
            </a:prstGeom>
            <a:solidFill>
              <a:srgbClr val="FFFFFF"/>
            </a:solidFill>
            <a:ln w="7291">
              <a:solidFill>
                <a:srgbClr val="B5B5B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81" name="pi_mscl_figure__panel_b__supervised_path__line_010"/>
            <p:cNvCxnSpPr/>
            <p:nvPr/>
          </p:nvCxnSpPr>
          <p:spPr>
            <a:xfrm>
              <a:off x="1421913" y="4418870"/>
              <a:ext cx="3609474" cy="0"/>
            </a:xfrm>
            <a:prstGeom prst="line">
              <a:avLst/>
            </a:prstGeom>
            <a:ln w="7291">
              <a:solidFill>
                <a:srgbClr val="333333"/>
              </a:solidFill>
              <a:prstDash val="solid"/>
            </a:ln>
          </p:spPr>
        </p:cxnSp>
        <p:cxnSp>
          <p:nvCxnSpPr>
            <p:cNvPr id="482" name="pi_mscl_figure__panel_b__supervised_path__line_011"/>
            <p:cNvCxnSpPr/>
            <p:nvPr/>
          </p:nvCxnSpPr>
          <p:spPr>
            <a:xfrm>
              <a:off x="1596918" y="4389703"/>
              <a:ext cx="0" cy="65627"/>
            </a:xfrm>
            <a:prstGeom prst="line">
              <a:avLst/>
            </a:prstGeom>
            <a:ln w="7291">
              <a:solidFill>
                <a:srgbClr val="333333"/>
              </a:solidFill>
              <a:prstDash val="solid"/>
            </a:ln>
          </p:spPr>
        </p:cxnSp>
        <p:cxnSp>
          <p:nvCxnSpPr>
            <p:cNvPr id="483" name="pi_mscl_figure__panel_b__supervised_path__line_012"/>
            <p:cNvCxnSpPr/>
            <p:nvPr/>
          </p:nvCxnSpPr>
          <p:spPr>
            <a:xfrm>
              <a:off x="2479234" y="4389703"/>
              <a:ext cx="0" cy="65627"/>
            </a:xfrm>
            <a:prstGeom prst="line">
              <a:avLst/>
            </a:prstGeom>
            <a:ln w="7291">
              <a:solidFill>
                <a:srgbClr val="333333"/>
              </a:solidFill>
              <a:prstDash val="solid"/>
            </a:ln>
          </p:spPr>
        </p:cxnSp>
        <p:cxnSp>
          <p:nvCxnSpPr>
            <p:cNvPr id="484" name="pi_mscl_figure__panel_b__supervised_path__line_013"/>
            <p:cNvCxnSpPr/>
            <p:nvPr/>
          </p:nvCxnSpPr>
          <p:spPr>
            <a:xfrm>
              <a:off x="3354258" y="4389703"/>
              <a:ext cx="0" cy="65627"/>
            </a:xfrm>
            <a:prstGeom prst="line">
              <a:avLst/>
            </a:prstGeom>
            <a:ln w="7291">
              <a:solidFill>
                <a:srgbClr val="333333"/>
              </a:solidFill>
              <a:prstDash val="solid"/>
            </a:ln>
          </p:spPr>
        </p:cxnSp>
        <p:cxnSp>
          <p:nvCxnSpPr>
            <p:cNvPr id="485" name="pi_mscl_figure__panel_b__supervised_path__line_014"/>
            <p:cNvCxnSpPr/>
            <p:nvPr/>
          </p:nvCxnSpPr>
          <p:spPr>
            <a:xfrm>
              <a:off x="4229282" y="4389703"/>
              <a:ext cx="0" cy="65627"/>
            </a:xfrm>
            <a:prstGeom prst="line">
              <a:avLst/>
            </a:prstGeom>
            <a:ln w="7291">
              <a:solidFill>
                <a:srgbClr val="333333"/>
              </a:solidFill>
              <a:prstDash val="solid"/>
            </a:ln>
          </p:spPr>
        </p:cxnSp>
        <p:cxnSp>
          <p:nvCxnSpPr>
            <p:cNvPr id="486" name="pi_mscl_figure__panel_b__supervised_path__line_015"/>
            <p:cNvCxnSpPr/>
            <p:nvPr/>
          </p:nvCxnSpPr>
          <p:spPr>
            <a:xfrm>
              <a:off x="4973052" y="4389703"/>
              <a:ext cx="0" cy="65627"/>
            </a:xfrm>
            <a:prstGeom prst="line">
              <a:avLst/>
            </a:prstGeom>
            <a:ln w="7291">
              <a:solidFill>
                <a:srgbClr val="333333"/>
              </a:solidFill>
              <a:prstDash val="solid"/>
            </a:ln>
          </p:spPr>
        </p:cxnSp>
        <p:sp>
          <p:nvSpPr>
            <p:cNvPr id="487" name="pi_mscl_figure__panel_b__supervised_path__text_061"/>
            <p:cNvSpPr txBox="1"/>
            <p:nvPr/>
          </p:nvSpPr>
          <p:spPr>
            <a:xfrm>
              <a:off x="1560459" y="4491789"/>
              <a:ext cx="72918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1</a:t>
              </a:r>
            </a:p>
          </p:txBody>
        </p:sp>
        <p:sp>
          <p:nvSpPr>
            <p:cNvPr id="488" name="pi_mscl_figure__panel_b__supervised_path__text_062"/>
            <p:cNvSpPr txBox="1"/>
            <p:nvPr/>
          </p:nvSpPr>
          <p:spPr>
            <a:xfrm>
              <a:off x="2420899" y="4491789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10</a:t>
              </a:r>
            </a:p>
          </p:txBody>
        </p:sp>
        <p:sp>
          <p:nvSpPr>
            <p:cNvPr id="489" name="pi_mscl_figure__panel_b__supervised_path__text_063"/>
            <p:cNvSpPr txBox="1"/>
            <p:nvPr/>
          </p:nvSpPr>
          <p:spPr>
            <a:xfrm>
              <a:off x="3295923" y="4491789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20</a:t>
              </a:r>
            </a:p>
          </p:txBody>
        </p:sp>
        <p:sp>
          <p:nvSpPr>
            <p:cNvPr id="490" name="pi_mscl_figure__panel_b__supervised_path__text_064"/>
            <p:cNvSpPr txBox="1"/>
            <p:nvPr/>
          </p:nvSpPr>
          <p:spPr>
            <a:xfrm>
              <a:off x="4170947" y="4491789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30</a:t>
              </a:r>
            </a:p>
          </p:txBody>
        </p:sp>
        <p:sp>
          <p:nvSpPr>
            <p:cNvPr id="491" name="pi_mscl_figure__panel_b__supervised_path__text_065"/>
            <p:cNvSpPr txBox="1"/>
            <p:nvPr/>
          </p:nvSpPr>
          <p:spPr>
            <a:xfrm>
              <a:off x="4914717" y="4491789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40</a:t>
              </a:r>
            </a:p>
          </p:txBody>
        </p:sp>
        <p:sp>
          <p:nvSpPr>
            <p:cNvPr id="492" name="pi_mscl_figure__panel_b__supervised_path__text_066"/>
            <p:cNvSpPr txBox="1"/>
            <p:nvPr/>
          </p:nvSpPr>
          <p:spPr>
            <a:xfrm>
              <a:off x="3029770" y="4652210"/>
              <a:ext cx="430220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cycle index</a:t>
              </a:r>
            </a:p>
          </p:txBody>
        </p:sp>
        <p:sp>
          <p:nvSpPr>
            <p:cNvPr id="493" name="pi_mscl_figure__panel_b__supervised_path__rect_084"/>
            <p:cNvSpPr/>
            <p:nvPr/>
          </p:nvSpPr>
          <p:spPr>
            <a:xfrm>
              <a:off x="5600152" y="3944899"/>
              <a:ext cx="1225033" cy="656267"/>
            </a:xfrm>
            <a:prstGeom prst="roundRect">
              <a:avLst>
                <a:gd name="adj" fmla="val 11111"/>
              </a:avLst>
            </a:prstGeom>
            <a:solidFill>
              <a:srgbClr val="FFF3E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4" name="pi_mscl_figure__panel_b__supervised_path__text_067"/>
            <p:cNvSpPr txBox="1"/>
            <p:nvPr/>
          </p:nvSpPr>
          <p:spPr>
            <a:xfrm>
              <a:off x="6012143" y="4039693"/>
              <a:ext cx="401052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111111"/>
                  </a:solidFill>
                  <a:latin typeface="Arial"/>
                </a:rPr>
                <a:t>Masked</a:t>
              </a:r>
            </a:p>
          </p:txBody>
        </p:sp>
        <p:sp>
          <p:nvSpPr>
            <p:cNvPr id="495" name="pi_mscl_figure__panel_b__supervised_path__text_068"/>
            <p:cNvSpPr txBox="1"/>
            <p:nvPr/>
          </p:nvSpPr>
          <p:spPr>
            <a:xfrm>
              <a:off x="5910057" y="4185530"/>
              <a:ext cx="605224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111111"/>
                  </a:solidFill>
                  <a:latin typeface="Arial"/>
                </a:rPr>
                <a:t>supervision</a:t>
              </a:r>
            </a:p>
          </p:txBody>
        </p:sp>
        <p:sp>
          <p:nvSpPr>
            <p:cNvPr id="496" name="pi_mscl_figure__panel_b__supervised_path__text_069"/>
            <p:cNvSpPr txBox="1"/>
            <p:nvPr/>
          </p:nvSpPr>
          <p:spPr>
            <a:xfrm>
              <a:off x="6085791" y="4353243"/>
              <a:ext cx="253756" cy="1866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148" b="0" i="1">
                  <a:solidFill>
                    <a:srgbClr val="111111"/>
                  </a:solidFill>
                  <a:latin typeface="Times New Roman"/>
                </a:rPr>
                <a:t>ℒₛᵤₚ</a:t>
              </a:r>
            </a:p>
          </p:txBody>
        </p:sp>
        <p:sp>
          <p:nvSpPr>
            <p:cNvPr id="497" name="pi_mscl_figure__panel_b__supervised_path__rect_085"/>
            <p:cNvSpPr/>
            <p:nvPr/>
          </p:nvSpPr>
          <p:spPr>
            <a:xfrm>
              <a:off x="5605621" y="3950368"/>
              <a:ext cx="1214095" cy="645330"/>
            </a:xfrm>
            <a:prstGeom prst="roundRect">
              <a:avLst>
                <a:gd name="adj" fmla="val 10169"/>
              </a:avLst>
            </a:prstGeom>
            <a:noFill/>
            <a:ln w="10937">
              <a:solidFill>
                <a:srgbClr val="E45F1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8" name="pi_mscl_figure__panel_b__supervised_path__polyline_030"/>
            <p:cNvSpPr/>
            <p:nvPr/>
          </p:nvSpPr>
          <p:spPr>
            <a:xfrm>
              <a:off x="5147446" y="4221489"/>
              <a:ext cx="364550" cy="0"/>
            </a:xfrm>
            <a:custGeom>
              <a:avLst/>
              <a:gdLst/>
              <a:ahLst/>
              <a:cxnLst/>
              <a:rect l="l" t="t" r="r" b="b"/>
              <a:pathLst>
                <a:path w="50" h="0">
                  <a:moveTo>
                    <a:pt x="0" y="0"/>
                  </a:moveTo>
                  <a:lnTo>
                    <a:pt x="50" y="0"/>
                  </a:lnTo>
                </a:path>
              </a:pathLst>
            </a:custGeom>
            <a:noFill/>
            <a:ln w="11666">
              <a:solidFill>
                <a:srgbClr val="E45F1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9" name="pi_mscl_figure__panel_b__supervised_path__polygon_237"/>
            <p:cNvSpPr/>
            <p:nvPr/>
          </p:nvSpPr>
          <p:spPr>
            <a:xfrm>
              <a:off x="5453668" y="4192325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E45F1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00" name="module__pi_mscl_figure__panel_b__monotonic_path"/>
          <p:cNvGrpSpPr/>
          <p:nvPr/>
        </p:nvGrpSpPr>
        <p:grpSpPr>
          <a:xfrm>
            <a:off x="386468" y="4812631"/>
            <a:ext cx="7437703" cy="794812"/>
            <a:chOff x="386468" y="4812631"/>
            <a:chExt cx="7437703" cy="794812"/>
          </a:xfrm>
        </p:grpSpPr>
        <p:sp>
          <p:nvSpPr>
            <p:cNvPr id="501" name="pi_mscl_figure__panel_b__monotonic_path__text_070"/>
            <p:cNvSpPr txBox="1"/>
            <p:nvPr/>
          </p:nvSpPr>
          <p:spPr>
            <a:xfrm>
              <a:off x="386468" y="4929301"/>
              <a:ext cx="743770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111111"/>
                  </a:solidFill>
                  <a:latin typeface="Arial"/>
                </a:rPr>
                <a:t>Predicted SOH</a:t>
              </a:r>
            </a:p>
          </p:txBody>
        </p:sp>
        <p:sp>
          <p:nvSpPr>
            <p:cNvPr id="502" name="pi_mscl_figure__panel_b__monotonic_path__text_071"/>
            <p:cNvSpPr txBox="1"/>
            <p:nvPr/>
          </p:nvSpPr>
          <p:spPr>
            <a:xfrm>
              <a:off x="484909" y="5111597"/>
              <a:ext cx="546889" cy="11666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88" b="0" i="0">
                  <a:solidFill>
                    <a:srgbClr val="111111"/>
                  </a:solidFill>
                  <a:latin typeface="Arial"/>
                </a:rPr>
                <a:t>(ordered cell)</a:t>
              </a:r>
            </a:p>
          </p:txBody>
        </p:sp>
        <p:sp>
          <p:nvSpPr>
            <p:cNvPr id="503" name="pi_mscl_figure__panel_b__monotonic_path__polyline_031"/>
            <p:cNvSpPr/>
            <p:nvPr/>
          </p:nvSpPr>
          <p:spPr>
            <a:xfrm>
              <a:off x="1450909" y="4855806"/>
              <a:ext cx="3528844" cy="554116"/>
            </a:xfrm>
            <a:custGeom>
              <a:avLst/>
              <a:gdLst/>
              <a:ahLst/>
              <a:cxnLst/>
              <a:rect l="l" t="t" r="r" b="b"/>
              <a:pathLst>
                <a:path w="484" h="76">
                  <a:moveTo>
                    <a:pt x="0" y="0"/>
                  </a:moveTo>
                  <a:lnTo>
                    <a:pt x="28" y="6"/>
                  </a:lnTo>
                  <a:lnTo>
                    <a:pt x="57" y="16"/>
                  </a:lnTo>
                  <a:lnTo>
                    <a:pt x="85" y="25"/>
                  </a:lnTo>
                  <a:lnTo>
                    <a:pt x="113" y="34"/>
                  </a:lnTo>
                  <a:lnTo>
                    <a:pt x="141" y="40"/>
                  </a:lnTo>
                  <a:lnTo>
                    <a:pt x="169" y="46"/>
                  </a:lnTo>
                  <a:lnTo>
                    <a:pt x="197" y="52"/>
                  </a:lnTo>
                  <a:lnTo>
                    <a:pt x="225" y="33"/>
                  </a:lnTo>
                  <a:lnTo>
                    <a:pt x="253" y="25"/>
                  </a:lnTo>
                  <a:lnTo>
                    <a:pt x="281" y="33"/>
                  </a:lnTo>
                  <a:lnTo>
                    <a:pt x="311" y="40"/>
                  </a:lnTo>
                  <a:lnTo>
                    <a:pt x="340" y="47"/>
                  </a:lnTo>
                  <a:lnTo>
                    <a:pt x="369" y="54"/>
                  </a:lnTo>
                  <a:lnTo>
                    <a:pt x="398" y="60"/>
                  </a:lnTo>
                  <a:lnTo>
                    <a:pt x="427" y="66"/>
                  </a:lnTo>
                  <a:lnTo>
                    <a:pt x="455" y="71"/>
                  </a:lnTo>
                  <a:lnTo>
                    <a:pt x="484" y="76"/>
                  </a:lnTo>
                </a:path>
              </a:pathLst>
            </a:custGeom>
            <a:noFill/>
            <a:ln w="14583">
              <a:solidFill>
                <a:srgbClr val="2E7B2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4" name="pi_mscl_figure__panel_b__monotonic_path__circle_041"/>
            <p:cNvSpPr/>
            <p:nvPr/>
          </p:nvSpPr>
          <p:spPr>
            <a:xfrm>
              <a:off x="1418267" y="4823569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5" name="pi_mscl_figure__panel_b__monotonic_path__circle_042"/>
            <p:cNvSpPr/>
            <p:nvPr/>
          </p:nvSpPr>
          <p:spPr>
            <a:xfrm>
              <a:off x="1622440" y="4867320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6" name="pi_mscl_figure__panel_b__monotonic_path__circle_043"/>
            <p:cNvSpPr/>
            <p:nvPr/>
          </p:nvSpPr>
          <p:spPr>
            <a:xfrm>
              <a:off x="1833904" y="4940239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7" name="pi_mscl_figure__panel_b__monotonic_path__circle_044"/>
            <p:cNvSpPr/>
            <p:nvPr/>
          </p:nvSpPr>
          <p:spPr>
            <a:xfrm>
              <a:off x="2038076" y="5005865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8" name="pi_mscl_figure__panel_b__monotonic_path__circle_045"/>
            <p:cNvSpPr/>
            <p:nvPr/>
          </p:nvSpPr>
          <p:spPr>
            <a:xfrm>
              <a:off x="2242248" y="5071492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9" name="pi_mscl_figure__panel_b__monotonic_path__circle_046"/>
            <p:cNvSpPr/>
            <p:nvPr/>
          </p:nvSpPr>
          <p:spPr>
            <a:xfrm>
              <a:off x="2446420" y="5115243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0" name="pi_mscl_figure__panel_b__monotonic_path__circle_047"/>
            <p:cNvSpPr/>
            <p:nvPr/>
          </p:nvSpPr>
          <p:spPr>
            <a:xfrm>
              <a:off x="2650593" y="5158995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1" name="pi_mscl_figure__panel_b__monotonic_path__circle_048"/>
            <p:cNvSpPr/>
            <p:nvPr/>
          </p:nvSpPr>
          <p:spPr>
            <a:xfrm>
              <a:off x="2854765" y="5202746"/>
              <a:ext cx="65626" cy="65626"/>
            </a:xfrm>
            <a:prstGeom prst="ellipse">
              <a:avLst/>
            </a:prstGeom>
            <a:solidFill>
              <a:srgbClr val="D94343"/>
            </a:solidFill>
            <a:ln w="6562">
              <a:solidFill>
                <a:srgbClr val="8E22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2" name="pi_mscl_figure__panel_b__monotonic_path__circle_049"/>
            <p:cNvSpPr/>
            <p:nvPr/>
          </p:nvSpPr>
          <p:spPr>
            <a:xfrm>
              <a:off x="3058937" y="5064200"/>
              <a:ext cx="65626" cy="65626"/>
            </a:xfrm>
            <a:prstGeom prst="ellipse">
              <a:avLst/>
            </a:prstGeom>
            <a:solidFill>
              <a:srgbClr val="D94343"/>
            </a:solidFill>
            <a:ln w="6562">
              <a:solidFill>
                <a:srgbClr val="8E22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3" name="pi_mscl_figure__panel_b__monotonic_path__circle_050"/>
            <p:cNvSpPr/>
            <p:nvPr/>
          </p:nvSpPr>
          <p:spPr>
            <a:xfrm>
              <a:off x="3263109" y="5005865"/>
              <a:ext cx="65626" cy="65626"/>
            </a:xfrm>
            <a:prstGeom prst="ellipse">
              <a:avLst/>
            </a:prstGeom>
            <a:solidFill>
              <a:srgbClr val="D94343"/>
            </a:solidFill>
            <a:ln w="6562">
              <a:solidFill>
                <a:srgbClr val="8E22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4" name="pi_mscl_figure__panel_b__monotonic_path__circle_051"/>
            <p:cNvSpPr/>
            <p:nvPr/>
          </p:nvSpPr>
          <p:spPr>
            <a:xfrm>
              <a:off x="3467282" y="5064200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5" name="pi_mscl_figure__panel_b__monotonic_path__circle_052"/>
            <p:cNvSpPr/>
            <p:nvPr/>
          </p:nvSpPr>
          <p:spPr>
            <a:xfrm>
              <a:off x="3686038" y="5115243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6" name="pi_mscl_figure__panel_b__monotonic_path__circle_053"/>
            <p:cNvSpPr/>
            <p:nvPr/>
          </p:nvSpPr>
          <p:spPr>
            <a:xfrm>
              <a:off x="3897502" y="5166286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7" name="pi_mscl_figure__panel_b__monotonic_path__circle_054"/>
            <p:cNvSpPr/>
            <p:nvPr/>
          </p:nvSpPr>
          <p:spPr>
            <a:xfrm>
              <a:off x="4108966" y="5217330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8" name="pi_mscl_figure__panel_b__monotonic_path__circle_055"/>
            <p:cNvSpPr/>
            <p:nvPr/>
          </p:nvSpPr>
          <p:spPr>
            <a:xfrm>
              <a:off x="4320430" y="5261081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9" name="pi_mscl_figure__panel_b__monotonic_path__circle_056"/>
            <p:cNvSpPr/>
            <p:nvPr/>
          </p:nvSpPr>
          <p:spPr>
            <a:xfrm>
              <a:off x="4531894" y="5304832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0" name="pi_mscl_figure__panel_b__monotonic_path__circle_057"/>
            <p:cNvSpPr/>
            <p:nvPr/>
          </p:nvSpPr>
          <p:spPr>
            <a:xfrm>
              <a:off x="4736066" y="5341291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1" name="pi_mscl_figure__panel_b__monotonic_path__circle_058"/>
            <p:cNvSpPr/>
            <p:nvPr/>
          </p:nvSpPr>
          <p:spPr>
            <a:xfrm>
              <a:off x="4947530" y="5377751"/>
              <a:ext cx="65626" cy="65626"/>
            </a:xfrm>
            <a:prstGeom prst="ellipse">
              <a:avLst/>
            </a:prstGeom>
            <a:solidFill>
              <a:srgbClr val="5AA93E"/>
            </a:solidFill>
            <a:ln w="6562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2" name="pi_mscl_figure__panel_b__monotonic_path__polyline_032"/>
            <p:cNvSpPr/>
            <p:nvPr/>
          </p:nvSpPr>
          <p:spPr>
            <a:xfrm>
              <a:off x="2887236" y="5038081"/>
              <a:ext cx="408296" cy="196857"/>
            </a:xfrm>
            <a:custGeom>
              <a:avLst/>
              <a:gdLst/>
              <a:ahLst/>
              <a:cxnLst/>
              <a:rect l="l" t="t" r="r" b="b"/>
              <a:pathLst>
                <a:path w="56" h="27">
                  <a:moveTo>
                    <a:pt x="0" y="27"/>
                  </a:moveTo>
                  <a:lnTo>
                    <a:pt x="28" y="8"/>
                  </a:lnTo>
                  <a:lnTo>
                    <a:pt x="56" y="0"/>
                  </a:lnTo>
                </a:path>
              </a:pathLst>
            </a:custGeom>
            <a:noFill/>
            <a:ln w="18229">
              <a:solidFill>
                <a:srgbClr val="D9434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3" name="pi_mscl_figure__panel_b__monotonic_path__ellipse_001"/>
            <p:cNvSpPr/>
            <p:nvPr/>
          </p:nvSpPr>
          <p:spPr>
            <a:xfrm>
              <a:off x="2916746" y="4900133"/>
              <a:ext cx="554181" cy="466679"/>
            </a:xfrm>
            <a:prstGeom prst="ellipse">
              <a:avLst/>
            </a:prstGeom>
            <a:noFill/>
            <a:ln w="9479">
              <a:solidFill>
                <a:srgbClr val="E33A3A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24" name="pi_mscl_figure__panel_b__monotonic_path__line_016"/>
            <p:cNvCxnSpPr/>
            <p:nvPr/>
          </p:nvCxnSpPr>
          <p:spPr>
            <a:xfrm>
              <a:off x="1421913" y="5410564"/>
              <a:ext cx="3609474" cy="0"/>
            </a:xfrm>
            <a:prstGeom prst="line">
              <a:avLst/>
            </a:prstGeom>
            <a:ln w="7291">
              <a:solidFill>
                <a:srgbClr val="333333"/>
              </a:solidFill>
              <a:prstDash val="solid"/>
            </a:ln>
          </p:spPr>
        </p:cxnSp>
        <p:sp>
          <p:nvSpPr>
            <p:cNvPr id="525" name="pi_mscl_figure__panel_b__monotonic_path__text_072"/>
            <p:cNvSpPr txBox="1"/>
            <p:nvPr/>
          </p:nvSpPr>
          <p:spPr>
            <a:xfrm>
              <a:off x="1414621" y="5498066"/>
              <a:ext cx="72918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1</a:t>
              </a:r>
            </a:p>
          </p:txBody>
        </p:sp>
        <p:sp>
          <p:nvSpPr>
            <p:cNvPr id="526" name="pi_mscl_figure__panel_b__monotonic_path__text_073"/>
            <p:cNvSpPr txBox="1"/>
            <p:nvPr/>
          </p:nvSpPr>
          <p:spPr>
            <a:xfrm>
              <a:off x="4922009" y="5498066"/>
              <a:ext cx="116669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574" b="0" i="0">
                  <a:solidFill>
                    <a:srgbClr val="111111"/>
                  </a:solidFill>
                  <a:latin typeface="Arial"/>
                </a:rPr>
                <a:t>40</a:t>
              </a:r>
            </a:p>
          </p:txBody>
        </p:sp>
        <p:sp>
          <p:nvSpPr>
            <p:cNvPr id="527" name="pi_mscl_figure__panel_b__monotonic_path__rect_086"/>
            <p:cNvSpPr/>
            <p:nvPr/>
          </p:nvSpPr>
          <p:spPr>
            <a:xfrm>
              <a:off x="5600152" y="4812631"/>
              <a:ext cx="1225033" cy="612516"/>
            </a:xfrm>
            <a:prstGeom prst="roundRect">
              <a:avLst>
                <a:gd name="adj" fmla="val 11904"/>
              </a:avLst>
            </a:prstGeom>
            <a:solidFill>
              <a:srgbClr val="FDEDE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8" name="pi_mscl_figure__panel_b__monotonic_path__text_074"/>
            <p:cNvSpPr txBox="1"/>
            <p:nvPr/>
          </p:nvSpPr>
          <p:spPr>
            <a:xfrm>
              <a:off x="5764219" y="4929301"/>
              <a:ext cx="896899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111111"/>
                  </a:solidFill>
                  <a:latin typeface="Arial"/>
                </a:rPr>
                <a:t>Soft monotonicity</a:t>
              </a:r>
            </a:p>
          </p:txBody>
        </p:sp>
        <p:sp>
          <p:nvSpPr>
            <p:cNvPr id="529" name="pi_mscl_figure__panel_b__monotonic_path__text_075"/>
            <p:cNvSpPr txBox="1"/>
            <p:nvPr/>
          </p:nvSpPr>
          <p:spPr>
            <a:xfrm>
              <a:off x="6049331" y="5126181"/>
              <a:ext cx="326675" cy="1866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148" b="0" i="1">
                  <a:solidFill>
                    <a:srgbClr val="111111"/>
                  </a:solidFill>
                  <a:latin typeface="Times New Roman"/>
                </a:rPr>
                <a:t>ℒₘₒₙₒ</a:t>
              </a:r>
            </a:p>
          </p:txBody>
        </p:sp>
        <p:sp>
          <p:nvSpPr>
            <p:cNvPr id="530" name="pi_mscl_figure__panel_b__monotonic_path__rect_087"/>
            <p:cNvSpPr/>
            <p:nvPr/>
          </p:nvSpPr>
          <p:spPr>
            <a:xfrm>
              <a:off x="5605621" y="4818100"/>
              <a:ext cx="1214095" cy="601578"/>
            </a:xfrm>
            <a:prstGeom prst="roundRect">
              <a:avLst>
                <a:gd name="adj" fmla="val 10909"/>
              </a:avLst>
            </a:prstGeom>
            <a:noFill/>
            <a:ln w="10937">
              <a:solidFill>
                <a:srgbClr val="DC283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1" name="pi_mscl_figure__panel_b__monotonic_path__polyline_033"/>
            <p:cNvSpPr/>
            <p:nvPr/>
          </p:nvSpPr>
          <p:spPr>
            <a:xfrm>
              <a:off x="5147446" y="5103700"/>
              <a:ext cx="364550" cy="0"/>
            </a:xfrm>
            <a:custGeom>
              <a:avLst/>
              <a:gdLst/>
              <a:ahLst/>
              <a:cxnLst/>
              <a:rect l="l" t="t" r="r" b="b"/>
              <a:pathLst>
                <a:path w="50" h="0">
                  <a:moveTo>
                    <a:pt x="0" y="0"/>
                  </a:moveTo>
                  <a:lnTo>
                    <a:pt x="50" y="0"/>
                  </a:lnTo>
                </a:path>
              </a:pathLst>
            </a:custGeom>
            <a:noFill/>
            <a:ln w="11666">
              <a:solidFill>
                <a:srgbClr val="DC283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2" name="pi_mscl_figure__panel_b__monotonic_path__polygon_238"/>
            <p:cNvSpPr/>
            <p:nvPr/>
          </p:nvSpPr>
          <p:spPr>
            <a:xfrm>
              <a:off x="5453668" y="5074536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DC283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3" name="pi_mscl_figure__panel_b__monotonic_path__polyline_034"/>
            <p:cNvSpPr/>
            <p:nvPr/>
          </p:nvSpPr>
          <p:spPr>
            <a:xfrm>
              <a:off x="6824376" y="5110991"/>
              <a:ext cx="328095" cy="0"/>
            </a:xfrm>
            <a:custGeom>
              <a:avLst/>
              <a:gdLst/>
              <a:ahLst/>
              <a:cxnLst/>
              <a:rect l="l" t="t" r="r" b="b"/>
              <a:pathLst>
                <a:path w="45" h="0">
                  <a:moveTo>
                    <a:pt x="0" y="0"/>
                  </a:moveTo>
                  <a:lnTo>
                    <a:pt x="45" y="0"/>
                  </a:lnTo>
                </a:path>
              </a:pathLst>
            </a:custGeom>
            <a:noFill/>
            <a:ln w="10208">
              <a:solidFill>
                <a:srgbClr val="DC283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4" name="pi_mscl_figure__panel_b__monotonic_path__polygon_239"/>
            <p:cNvSpPr/>
            <p:nvPr/>
          </p:nvSpPr>
          <p:spPr>
            <a:xfrm>
              <a:off x="7101434" y="5089118"/>
              <a:ext cx="51037" cy="43746"/>
            </a:xfrm>
            <a:custGeom>
              <a:avLst/>
              <a:gdLst/>
              <a:ahLst/>
              <a:cxnLst/>
              <a:rect l="l" t="t" r="r" b="b"/>
              <a:pathLst>
                <a:path w="7" h="6">
                  <a:moveTo>
                    <a:pt x="7" y="3"/>
                  </a:move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DC283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5" name="pi_mscl_figure__panel_b__monotonic_path__rect_088"/>
            <p:cNvSpPr/>
            <p:nvPr/>
          </p:nvSpPr>
          <p:spPr>
            <a:xfrm>
              <a:off x="7167904" y="4849090"/>
              <a:ext cx="656267" cy="262507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8750">
              <a:solidFill>
                <a:srgbClr val="DC2832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6" name="pi_mscl_figure__panel_b__monotonic_path__text_076"/>
            <p:cNvSpPr txBox="1"/>
            <p:nvPr/>
          </p:nvSpPr>
          <p:spPr>
            <a:xfrm>
              <a:off x="7321033" y="4914717"/>
              <a:ext cx="350009" cy="1385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0" i="1">
                  <a:solidFill>
                    <a:srgbClr val="111111"/>
                  </a:solidFill>
                  <a:latin typeface="Times New Roman"/>
                </a:rPr>
                <a:t>Δc ≤ 40</a:t>
              </a:r>
            </a:p>
          </p:txBody>
        </p:sp>
        <p:sp>
          <p:nvSpPr>
            <p:cNvPr id="537" name="pi_mscl_figure__panel_b__monotonic_path__rect_089"/>
            <p:cNvSpPr/>
            <p:nvPr/>
          </p:nvSpPr>
          <p:spPr>
            <a:xfrm>
              <a:off x="7167904" y="5155349"/>
              <a:ext cx="656267" cy="262507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8750">
              <a:solidFill>
                <a:srgbClr val="DC2832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8" name="pi_mscl_figure__panel_b__monotonic_path__text_077"/>
            <p:cNvSpPr txBox="1"/>
            <p:nvPr/>
          </p:nvSpPr>
          <p:spPr>
            <a:xfrm>
              <a:off x="7328325" y="5228267"/>
              <a:ext cx="335425" cy="13854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0" i="1">
                  <a:solidFill>
                    <a:srgbClr val="111111"/>
                  </a:solidFill>
                  <a:latin typeface="Times New Roman"/>
                </a:rPr>
                <a:t>c ≥ 300</a:t>
              </a:r>
            </a:p>
          </p:txBody>
        </p:sp>
      </p:grpSp>
      <p:grpSp>
        <p:nvGrpSpPr>
          <p:cNvPr id="539" name="module__pi_mscl_figure__panel_b__rate_path"/>
          <p:cNvGrpSpPr/>
          <p:nvPr/>
        </p:nvGrpSpPr>
        <p:grpSpPr>
          <a:xfrm>
            <a:off x="386468" y="5512650"/>
            <a:ext cx="6438717" cy="1130238"/>
            <a:chOff x="386468" y="5512650"/>
            <a:chExt cx="6438717" cy="1130238"/>
          </a:xfrm>
        </p:grpSpPr>
        <p:sp>
          <p:nvSpPr>
            <p:cNvPr id="540" name="pi_mscl_figure__panel_b__rate_path__text_078"/>
            <p:cNvSpPr txBox="1"/>
            <p:nvPr/>
          </p:nvSpPr>
          <p:spPr>
            <a:xfrm>
              <a:off x="386468" y="5848076"/>
              <a:ext cx="743770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111111"/>
                  </a:solidFill>
                  <a:latin typeface="Arial"/>
                </a:rPr>
                <a:t>Predicted SOH</a:t>
              </a:r>
            </a:p>
          </p:txBody>
        </p:sp>
        <p:sp>
          <p:nvSpPr>
            <p:cNvPr id="541" name="pi_mscl_figure__panel_b__rate_path__text_079"/>
            <p:cNvSpPr txBox="1"/>
            <p:nvPr/>
          </p:nvSpPr>
          <p:spPr>
            <a:xfrm>
              <a:off x="444803" y="6030373"/>
              <a:ext cx="627100" cy="11666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88" b="0" i="0">
                  <a:solidFill>
                    <a:srgbClr val="111111"/>
                  </a:solidFill>
                  <a:latin typeface="Arial"/>
                </a:rPr>
                <a:t>(local segment)</a:t>
              </a:r>
            </a:p>
          </p:txBody>
        </p:sp>
        <p:sp>
          <p:nvSpPr>
            <p:cNvPr id="542" name="pi_mscl_figure__panel_b__rate_path__polyline_035"/>
            <p:cNvSpPr/>
            <p:nvPr/>
          </p:nvSpPr>
          <p:spPr>
            <a:xfrm>
              <a:off x="1487364" y="5635943"/>
              <a:ext cx="1181142" cy="255185"/>
            </a:xfrm>
            <a:custGeom>
              <a:avLst/>
              <a:gdLst/>
              <a:ahLst/>
              <a:cxnLst/>
              <a:rect l="l" t="t" r="r" b="b"/>
              <a:pathLst>
                <a:path w="162" h="35">
                  <a:moveTo>
                    <a:pt x="0" y="35"/>
                  </a:moveTo>
                  <a:lnTo>
                    <a:pt x="24" y="30"/>
                  </a:lnTo>
                  <a:lnTo>
                    <a:pt x="48" y="24"/>
                  </a:lnTo>
                  <a:lnTo>
                    <a:pt x="73" y="18"/>
                  </a:lnTo>
                  <a:lnTo>
                    <a:pt x="98" y="13"/>
                  </a:lnTo>
                  <a:lnTo>
                    <a:pt x="122" y="7"/>
                  </a:lnTo>
                  <a:lnTo>
                    <a:pt x="146" y="0"/>
                  </a:lnTo>
                  <a:lnTo>
                    <a:pt x="162" y="5"/>
                  </a:lnTo>
                </a:path>
              </a:pathLst>
            </a:custGeom>
            <a:noFill/>
            <a:ln w="14583">
              <a:solidFill>
                <a:srgbClr val="2E7B25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3" name="pi_mscl_figure__panel_b__rate_path__polyline_036"/>
            <p:cNvSpPr/>
            <p:nvPr/>
          </p:nvSpPr>
          <p:spPr>
            <a:xfrm>
              <a:off x="2668506" y="5672398"/>
              <a:ext cx="328095" cy="320804"/>
            </a:xfrm>
            <a:custGeom>
              <a:avLst/>
              <a:gdLst/>
              <a:ahLst/>
              <a:cxnLst/>
              <a:rect l="l" t="t" r="r" b="b"/>
              <a:pathLst>
                <a:path w="45" h="44">
                  <a:moveTo>
                    <a:pt x="0" y="0"/>
                  </a:moveTo>
                  <a:lnTo>
                    <a:pt x="14" y="26"/>
                  </a:lnTo>
                  <a:lnTo>
                    <a:pt x="29" y="36"/>
                  </a:lnTo>
                  <a:lnTo>
                    <a:pt x="45" y="44"/>
                  </a:lnTo>
                </a:path>
              </a:pathLst>
            </a:custGeom>
            <a:noFill/>
            <a:ln w="18229">
              <a:solidFill>
                <a:srgbClr val="D9434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4" name="pi_mscl_figure__panel_b__rate_path__polyline_037"/>
            <p:cNvSpPr/>
            <p:nvPr/>
          </p:nvSpPr>
          <p:spPr>
            <a:xfrm>
              <a:off x="2996601" y="5978620"/>
              <a:ext cx="1990443" cy="189566"/>
            </a:xfrm>
            <a:custGeom>
              <a:avLst/>
              <a:gdLst/>
              <a:ahLst/>
              <a:cxnLst/>
              <a:rect l="l" t="t" r="r" b="b"/>
              <a:pathLst>
                <a:path w="273" h="26">
                  <a:moveTo>
                    <a:pt x="0" y="2"/>
                  </a:moveTo>
                  <a:lnTo>
                    <a:pt x="27" y="0"/>
                  </a:lnTo>
                  <a:lnTo>
                    <a:pt x="57" y="3"/>
                  </a:lnTo>
                  <a:lnTo>
                    <a:pt x="89" y="7"/>
                  </a:lnTo>
                  <a:lnTo>
                    <a:pt x="123" y="11"/>
                  </a:lnTo>
                  <a:lnTo>
                    <a:pt x="159" y="15"/>
                  </a:lnTo>
                  <a:lnTo>
                    <a:pt x="195" y="19"/>
                  </a:lnTo>
                  <a:lnTo>
                    <a:pt x="233" y="22"/>
                  </a:lnTo>
                  <a:lnTo>
                    <a:pt x="273" y="26"/>
                  </a:lnTo>
                </a:path>
              </a:pathLst>
            </a:custGeom>
            <a:noFill/>
            <a:ln w="14583">
              <a:solidFill>
                <a:srgbClr val="73A95C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5" name="pi_mscl_figure__panel_b__rate_path__circle_059"/>
            <p:cNvSpPr/>
            <p:nvPr/>
          </p:nvSpPr>
          <p:spPr>
            <a:xfrm>
              <a:off x="1456914" y="5861201"/>
              <a:ext cx="61251" cy="61251"/>
            </a:xfrm>
            <a:prstGeom prst="ellipse">
              <a:avLst/>
            </a:prstGeom>
            <a:solidFill>
              <a:srgbClr val="5AA93E"/>
            </a:solidFill>
            <a:ln w="5833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6" name="pi_mscl_figure__panel_b__rate_path__circle_060"/>
            <p:cNvSpPr/>
            <p:nvPr/>
          </p:nvSpPr>
          <p:spPr>
            <a:xfrm>
              <a:off x="1631919" y="5824742"/>
              <a:ext cx="61251" cy="61251"/>
            </a:xfrm>
            <a:prstGeom prst="ellipse">
              <a:avLst/>
            </a:prstGeom>
            <a:solidFill>
              <a:srgbClr val="5AA93E"/>
            </a:solidFill>
            <a:ln w="5833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7" name="pi_mscl_figure__panel_b__rate_path__circle_061"/>
            <p:cNvSpPr/>
            <p:nvPr/>
          </p:nvSpPr>
          <p:spPr>
            <a:xfrm>
              <a:off x="1806924" y="5780991"/>
              <a:ext cx="61251" cy="61251"/>
            </a:xfrm>
            <a:prstGeom prst="ellipse">
              <a:avLst/>
            </a:prstGeom>
            <a:solidFill>
              <a:srgbClr val="5AA93E"/>
            </a:solidFill>
            <a:ln w="5833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8" name="pi_mscl_figure__panel_b__rate_path__circle_062"/>
            <p:cNvSpPr/>
            <p:nvPr/>
          </p:nvSpPr>
          <p:spPr>
            <a:xfrm>
              <a:off x="1989221" y="5737240"/>
              <a:ext cx="61251" cy="61251"/>
            </a:xfrm>
            <a:prstGeom prst="ellipse">
              <a:avLst/>
            </a:prstGeom>
            <a:solidFill>
              <a:srgbClr val="5AA93E"/>
            </a:solidFill>
            <a:ln w="5833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9" name="pi_mscl_figure__panel_b__rate_path__circle_063"/>
            <p:cNvSpPr/>
            <p:nvPr/>
          </p:nvSpPr>
          <p:spPr>
            <a:xfrm>
              <a:off x="2171517" y="5700780"/>
              <a:ext cx="61251" cy="61251"/>
            </a:xfrm>
            <a:prstGeom prst="ellipse">
              <a:avLst/>
            </a:prstGeom>
            <a:solidFill>
              <a:srgbClr val="5AA93E"/>
            </a:solidFill>
            <a:ln w="5833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0" name="pi_mscl_figure__panel_b__rate_path__circle_064"/>
            <p:cNvSpPr/>
            <p:nvPr/>
          </p:nvSpPr>
          <p:spPr>
            <a:xfrm>
              <a:off x="2346522" y="5657029"/>
              <a:ext cx="61251" cy="61251"/>
            </a:xfrm>
            <a:prstGeom prst="ellipse">
              <a:avLst/>
            </a:prstGeom>
            <a:solidFill>
              <a:srgbClr val="5AA93E"/>
            </a:solidFill>
            <a:ln w="5833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1" name="pi_mscl_figure__panel_b__rate_path__circle_065"/>
            <p:cNvSpPr/>
            <p:nvPr/>
          </p:nvSpPr>
          <p:spPr>
            <a:xfrm>
              <a:off x="2521527" y="5605986"/>
              <a:ext cx="61251" cy="61251"/>
            </a:xfrm>
            <a:prstGeom prst="ellipse">
              <a:avLst/>
            </a:prstGeom>
            <a:solidFill>
              <a:srgbClr val="5AA93E"/>
            </a:solidFill>
            <a:ln w="5833">
              <a:solidFill>
                <a:srgbClr val="1E5D19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2" name="pi_mscl_figure__panel_b__rate_path__circle_066"/>
            <p:cNvSpPr/>
            <p:nvPr/>
          </p:nvSpPr>
          <p:spPr>
            <a:xfrm>
              <a:off x="2638197" y="5642445"/>
              <a:ext cx="61251" cy="61251"/>
            </a:xfrm>
            <a:prstGeom prst="ellipse">
              <a:avLst/>
            </a:prstGeom>
            <a:solidFill>
              <a:srgbClr val="D94343"/>
            </a:solidFill>
            <a:ln w="5833">
              <a:solidFill>
                <a:srgbClr val="8E22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3" name="pi_mscl_figure__panel_b__rate_path__circle_067"/>
            <p:cNvSpPr/>
            <p:nvPr/>
          </p:nvSpPr>
          <p:spPr>
            <a:xfrm>
              <a:off x="2740283" y="5832034"/>
              <a:ext cx="61251" cy="61251"/>
            </a:xfrm>
            <a:prstGeom prst="ellipse">
              <a:avLst/>
            </a:prstGeom>
            <a:solidFill>
              <a:srgbClr val="D94343"/>
            </a:solidFill>
            <a:ln w="5833">
              <a:solidFill>
                <a:srgbClr val="8E22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4" name="pi_mscl_figure__panel_b__rate_path__circle_068"/>
            <p:cNvSpPr/>
            <p:nvPr/>
          </p:nvSpPr>
          <p:spPr>
            <a:xfrm>
              <a:off x="2849661" y="5904952"/>
              <a:ext cx="61251" cy="61251"/>
            </a:xfrm>
            <a:prstGeom prst="ellipse">
              <a:avLst/>
            </a:prstGeom>
            <a:solidFill>
              <a:srgbClr val="D94343"/>
            </a:solidFill>
            <a:ln w="5833">
              <a:solidFill>
                <a:srgbClr val="8E22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5" name="pi_mscl_figure__panel_b__rate_path__circle_069"/>
            <p:cNvSpPr/>
            <p:nvPr/>
          </p:nvSpPr>
          <p:spPr>
            <a:xfrm>
              <a:off x="2966331" y="5963287"/>
              <a:ext cx="61251" cy="61251"/>
            </a:xfrm>
            <a:prstGeom prst="ellipse">
              <a:avLst/>
            </a:prstGeom>
            <a:solidFill>
              <a:srgbClr val="D94343"/>
            </a:solidFill>
            <a:ln w="5833">
              <a:solidFill>
                <a:srgbClr val="8E2222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6" name="pi_mscl_figure__panel_b__rate_path__circle_070"/>
            <p:cNvSpPr/>
            <p:nvPr/>
          </p:nvSpPr>
          <p:spPr>
            <a:xfrm>
              <a:off x="3163211" y="5948704"/>
              <a:ext cx="61251" cy="61251"/>
            </a:xfrm>
            <a:prstGeom prst="ellipse">
              <a:avLst/>
            </a:prstGeom>
            <a:solidFill>
              <a:srgbClr val="8BC66D"/>
            </a:solidFill>
            <a:ln w="5833">
              <a:solidFill>
                <a:srgbClr val="4A842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7" name="pi_mscl_figure__panel_b__rate_path__circle_071"/>
            <p:cNvSpPr/>
            <p:nvPr/>
          </p:nvSpPr>
          <p:spPr>
            <a:xfrm>
              <a:off x="3381967" y="5970579"/>
              <a:ext cx="61251" cy="61251"/>
            </a:xfrm>
            <a:prstGeom prst="ellipse">
              <a:avLst/>
            </a:prstGeom>
            <a:solidFill>
              <a:srgbClr val="8BC66D"/>
            </a:solidFill>
            <a:ln w="5833">
              <a:solidFill>
                <a:srgbClr val="4A842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8" name="pi_mscl_figure__panel_b__rate_path__circle_072"/>
            <p:cNvSpPr/>
            <p:nvPr/>
          </p:nvSpPr>
          <p:spPr>
            <a:xfrm>
              <a:off x="3615307" y="5999747"/>
              <a:ext cx="61251" cy="61251"/>
            </a:xfrm>
            <a:prstGeom prst="ellipse">
              <a:avLst/>
            </a:prstGeom>
            <a:solidFill>
              <a:srgbClr val="8BC66D"/>
            </a:solidFill>
            <a:ln w="5833">
              <a:solidFill>
                <a:srgbClr val="4A842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9" name="pi_mscl_figure__panel_b__rate_path__circle_073"/>
            <p:cNvSpPr/>
            <p:nvPr/>
          </p:nvSpPr>
          <p:spPr>
            <a:xfrm>
              <a:off x="3863230" y="6028914"/>
              <a:ext cx="61251" cy="61251"/>
            </a:xfrm>
            <a:prstGeom prst="ellipse">
              <a:avLst/>
            </a:prstGeom>
            <a:solidFill>
              <a:srgbClr val="8BC66D"/>
            </a:solidFill>
            <a:ln w="5833">
              <a:solidFill>
                <a:srgbClr val="4A842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0" name="pi_mscl_figure__panel_b__rate_path__circle_074"/>
            <p:cNvSpPr/>
            <p:nvPr/>
          </p:nvSpPr>
          <p:spPr>
            <a:xfrm>
              <a:off x="4125737" y="6058082"/>
              <a:ext cx="61251" cy="61251"/>
            </a:xfrm>
            <a:prstGeom prst="ellipse">
              <a:avLst/>
            </a:prstGeom>
            <a:solidFill>
              <a:srgbClr val="8BC66D"/>
            </a:solidFill>
            <a:ln w="5833">
              <a:solidFill>
                <a:srgbClr val="4A842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1" name="pi_mscl_figure__panel_b__rate_path__circle_075"/>
            <p:cNvSpPr/>
            <p:nvPr/>
          </p:nvSpPr>
          <p:spPr>
            <a:xfrm>
              <a:off x="4388244" y="6087249"/>
              <a:ext cx="61251" cy="61251"/>
            </a:xfrm>
            <a:prstGeom prst="ellipse">
              <a:avLst/>
            </a:prstGeom>
            <a:solidFill>
              <a:srgbClr val="8BC66D"/>
            </a:solidFill>
            <a:ln w="5833">
              <a:solidFill>
                <a:srgbClr val="4A842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2" name="pi_mscl_figure__panel_b__rate_path__circle_076"/>
            <p:cNvSpPr/>
            <p:nvPr/>
          </p:nvSpPr>
          <p:spPr>
            <a:xfrm>
              <a:off x="4665335" y="6109125"/>
              <a:ext cx="61251" cy="61251"/>
            </a:xfrm>
            <a:prstGeom prst="ellipse">
              <a:avLst/>
            </a:prstGeom>
            <a:solidFill>
              <a:srgbClr val="8BC66D"/>
            </a:solidFill>
            <a:ln w="5833">
              <a:solidFill>
                <a:srgbClr val="4A842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3" name="pi_mscl_figure__panel_b__rate_path__circle_077"/>
            <p:cNvSpPr/>
            <p:nvPr/>
          </p:nvSpPr>
          <p:spPr>
            <a:xfrm>
              <a:off x="4957010" y="6138292"/>
              <a:ext cx="61251" cy="61251"/>
            </a:xfrm>
            <a:prstGeom prst="ellipse">
              <a:avLst/>
            </a:prstGeom>
            <a:solidFill>
              <a:srgbClr val="8BC66D"/>
            </a:solidFill>
            <a:ln w="5833">
              <a:solidFill>
                <a:srgbClr val="4A842F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4" name="pi_mscl_figure__panel_b__rate_path__ellipse_002"/>
            <p:cNvSpPr/>
            <p:nvPr/>
          </p:nvSpPr>
          <p:spPr>
            <a:xfrm>
              <a:off x="2515693" y="5512650"/>
              <a:ext cx="568765" cy="685435"/>
            </a:xfrm>
            <a:prstGeom prst="ellipse">
              <a:avLst/>
            </a:prstGeom>
            <a:noFill/>
            <a:ln w="9479">
              <a:solidFill>
                <a:srgbClr val="E33A3A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65" name="pi_mscl_figure__panel_b__rate_path__line_017"/>
            <p:cNvCxnSpPr/>
            <p:nvPr/>
          </p:nvCxnSpPr>
          <p:spPr>
            <a:xfrm>
              <a:off x="1421913" y="6278296"/>
              <a:ext cx="3609474" cy="0"/>
            </a:xfrm>
            <a:prstGeom prst="line">
              <a:avLst/>
            </a:prstGeom>
            <a:ln w="7291">
              <a:solidFill>
                <a:srgbClr val="333333"/>
              </a:solidFill>
              <a:prstDash val="solid"/>
            </a:ln>
          </p:spPr>
        </p:cxnSp>
        <p:sp>
          <p:nvSpPr>
            <p:cNvPr id="566" name="pi_mscl_figure__panel_b__rate_path__text_080"/>
            <p:cNvSpPr txBox="1"/>
            <p:nvPr/>
          </p:nvSpPr>
          <p:spPr>
            <a:xfrm>
              <a:off x="1348995" y="6373090"/>
              <a:ext cx="204172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1">
                  <a:solidFill>
                    <a:srgbClr val="111111"/>
                  </a:solidFill>
                  <a:latin typeface="Times New Roman"/>
                </a:rPr>
                <a:t>t − w</a:t>
              </a:r>
            </a:p>
          </p:txBody>
        </p:sp>
        <p:sp>
          <p:nvSpPr>
            <p:cNvPr id="567" name="pi_mscl_figure__panel_b__rate_path__text_081"/>
            <p:cNvSpPr txBox="1"/>
            <p:nvPr/>
          </p:nvSpPr>
          <p:spPr>
            <a:xfrm>
              <a:off x="2654239" y="6373090"/>
              <a:ext cx="58334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1">
                  <a:solidFill>
                    <a:srgbClr val="111111"/>
                  </a:solidFill>
                  <a:latin typeface="Times New Roman"/>
                </a:rPr>
                <a:t>t</a:t>
              </a:r>
            </a:p>
          </p:txBody>
        </p:sp>
        <p:sp>
          <p:nvSpPr>
            <p:cNvPr id="568" name="pi_mscl_figure__panel_b__rate_path__text_082"/>
            <p:cNvSpPr txBox="1"/>
            <p:nvPr/>
          </p:nvSpPr>
          <p:spPr>
            <a:xfrm>
              <a:off x="4870966" y="6373090"/>
              <a:ext cx="204172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1">
                  <a:solidFill>
                    <a:srgbClr val="111111"/>
                  </a:solidFill>
                  <a:latin typeface="Times New Roman"/>
                </a:rPr>
                <a:t>t + w</a:t>
              </a:r>
            </a:p>
          </p:txBody>
        </p:sp>
        <p:sp>
          <p:nvSpPr>
            <p:cNvPr id="569" name="pi_mscl_figure__panel_b__rate_path__text_083"/>
            <p:cNvSpPr txBox="1"/>
            <p:nvPr/>
          </p:nvSpPr>
          <p:spPr>
            <a:xfrm>
              <a:off x="3022478" y="6533511"/>
              <a:ext cx="430220" cy="10937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631" b="0" i="0">
                  <a:solidFill>
                    <a:srgbClr val="111111"/>
                  </a:solidFill>
                  <a:latin typeface="Arial"/>
                </a:rPr>
                <a:t>cycle index</a:t>
              </a:r>
            </a:p>
          </p:txBody>
        </p:sp>
        <p:sp>
          <p:nvSpPr>
            <p:cNvPr id="570" name="pi_mscl_figure__panel_b__rate_path__rect_090"/>
            <p:cNvSpPr/>
            <p:nvPr/>
          </p:nvSpPr>
          <p:spPr>
            <a:xfrm>
              <a:off x="5600152" y="5753282"/>
              <a:ext cx="1225033" cy="612516"/>
            </a:xfrm>
            <a:prstGeom prst="roundRect">
              <a:avLst>
                <a:gd name="adj" fmla="val 11904"/>
              </a:avLst>
            </a:prstGeom>
            <a:solidFill>
              <a:srgbClr val="F3EFF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1" name="pi_mscl_figure__panel_b__rate_path__text_084"/>
            <p:cNvSpPr txBox="1"/>
            <p:nvPr/>
          </p:nvSpPr>
          <p:spPr>
            <a:xfrm>
              <a:off x="5829846" y="5869952"/>
              <a:ext cx="765645" cy="1312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03" b="1" i="0">
                  <a:solidFill>
                    <a:srgbClr val="111111"/>
                  </a:solidFill>
                  <a:latin typeface="Arial"/>
                </a:rPr>
                <a:t>Rate continuity</a:t>
              </a:r>
            </a:p>
          </p:txBody>
        </p:sp>
        <p:sp>
          <p:nvSpPr>
            <p:cNvPr id="572" name="pi_mscl_figure__panel_b__rate_path__text_085"/>
            <p:cNvSpPr txBox="1"/>
            <p:nvPr/>
          </p:nvSpPr>
          <p:spPr>
            <a:xfrm>
              <a:off x="6071207" y="6066832"/>
              <a:ext cx="282924" cy="18667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148" b="0" i="1">
                  <a:solidFill>
                    <a:srgbClr val="111111"/>
                  </a:solidFill>
                  <a:latin typeface="Times New Roman"/>
                </a:rPr>
                <a:t>ℒᵣₐₜₑ</a:t>
              </a:r>
            </a:p>
          </p:txBody>
        </p:sp>
        <p:sp>
          <p:nvSpPr>
            <p:cNvPr id="573" name="pi_mscl_figure__panel_b__rate_path__rect_091"/>
            <p:cNvSpPr/>
            <p:nvPr/>
          </p:nvSpPr>
          <p:spPr>
            <a:xfrm>
              <a:off x="5605621" y="5758751"/>
              <a:ext cx="1214095" cy="601578"/>
            </a:xfrm>
            <a:prstGeom prst="roundRect">
              <a:avLst>
                <a:gd name="adj" fmla="val 10909"/>
              </a:avLst>
            </a:prstGeom>
            <a:noFill/>
            <a:ln w="10937">
              <a:solidFill>
                <a:srgbClr val="6642A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4" name="pi_mscl_figure__panel_b__rate_path__polyline_038"/>
            <p:cNvSpPr/>
            <p:nvPr/>
          </p:nvSpPr>
          <p:spPr>
            <a:xfrm>
              <a:off x="5147446" y="6058821"/>
              <a:ext cx="364550" cy="0"/>
            </a:xfrm>
            <a:custGeom>
              <a:avLst/>
              <a:gdLst/>
              <a:ahLst/>
              <a:cxnLst/>
              <a:rect l="l" t="t" r="r" b="b"/>
              <a:pathLst>
                <a:path w="50" h="0">
                  <a:moveTo>
                    <a:pt x="0" y="0"/>
                  </a:moveTo>
                  <a:lnTo>
                    <a:pt x="50" y="0"/>
                  </a:lnTo>
                </a:path>
              </a:pathLst>
            </a:custGeom>
            <a:noFill/>
            <a:ln w="11666">
              <a:solidFill>
                <a:srgbClr val="6642A3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5" name="pi_mscl_figure__panel_b__rate_path__polygon_240"/>
            <p:cNvSpPr/>
            <p:nvPr/>
          </p:nvSpPr>
          <p:spPr>
            <a:xfrm>
              <a:off x="5453668" y="6029657"/>
              <a:ext cx="58328" cy="58328"/>
            </a:xfrm>
            <a:custGeom>
              <a:avLst/>
              <a:gdLst/>
              <a:ahLst/>
              <a:cxnLst/>
              <a:rect l="l" t="t" r="r" b="b"/>
              <a:pathLst>
                <a:path w="8" h="8">
                  <a:moveTo>
                    <a:pt x="8" y="4"/>
                  </a:move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6642A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76" name="module__pi_mscl_figure__panel_b__objective"/>
          <p:cNvGrpSpPr/>
          <p:nvPr/>
        </p:nvGrpSpPr>
        <p:grpSpPr>
          <a:xfrm>
            <a:off x="9151291" y="4834507"/>
            <a:ext cx="2625071" cy="751062"/>
            <a:chOff x="9151291" y="4834507"/>
            <a:chExt cx="2625071" cy="751062"/>
          </a:xfrm>
        </p:grpSpPr>
        <p:sp>
          <p:nvSpPr>
            <p:cNvPr id="577" name="pi_mscl_figure__panel_b__objective__rect_092"/>
            <p:cNvSpPr/>
            <p:nvPr/>
          </p:nvSpPr>
          <p:spPr>
            <a:xfrm>
              <a:off x="9151291" y="4834507"/>
              <a:ext cx="2625071" cy="751062"/>
            </a:xfrm>
            <a:prstGeom prst="roundRect">
              <a:avLst>
                <a:gd name="adj" fmla="val 9708"/>
              </a:avLst>
            </a:prstGeom>
            <a:solidFill>
              <a:srgbClr val="EEF5F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8" name="pi_mscl_figure__panel_b__objective__text_086"/>
            <p:cNvSpPr txBox="1"/>
            <p:nvPr/>
          </p:nvSpPr>
          <p:spPr>
            <a:xfrm>
              <a:off x="9982564" y="5016803"/>
              <a:ext cx="962526" cy="14583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861" b="1" i="0">
                  <a:solidFill>
                    <a:srgbClr val="111111"/>
                  </a:solidFill>
                  <a:latin typeface="Arial"/>
                </a:rPr>
                <a:t>Training objective</a:t>
              </a:r>
            </a:p>
          </p:txBody>
        </p:sp>
        <p:sp>
          <p:nvSpPr>
            <p:cNvPr id="579" name="pi_mscl_figure__panel_b__objective__text_087"/>
            <p:cNvSpPr txBox="1"/>
            <p:nvPr/>
          </p:nvSpPr>
          <p:spPr>
            <a:xfrm>
              <a:off x="9627742" y="5257435"/>
              <a:ext cx="1672170" cy="16800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033" b="0" i="1">
                  <a:solidFill>
                    <a:srgbClr val="111111"/>
                  </a:solidFill>
                  <a:latin typeface="Times New Roman"/>
                </a:rPr>
                <a:t>ℒ = ℒₛᵤₚ + λₘₒₙₒℒₘₒₙₒ + λᵣₐₜₑℒᵣₐₜₑ</a:t>
              </a:r>
            </a:p>
          </p:txBody>
        </p:sp>
        <p:sp>
          <p:nvSpPr>
            <p:cNvPr id="580" name="pi_mscl_figure__panel_b__objective__rect_093"/>
            <p:cNvSpPr/>
            <p:nvPr/>
          </p:nvSpPr>
          <p:spPr>
            <a:xfrm>
              <a:off x="9156760" y="4839975"/>
              <a:ext cx="2614133" cy="740124"/>
            </a:xfrm>
            <a:prstGeom prst="roundRect">
              <a:avLst>
                <a:gd name="adj" fmla="val 8866"/>
              </a:avLst>
            </a:prstGeom>
            <a:noFill/>
            <a:ln w="10937">
              <a:solidFill>
                <a:srgbClr val="1F5E9E"/>
              </a:solidFill>
              <a:prstDash val="solid"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581" name="pi_mscl_figure__panel_b__rect_094"/>
          <p:cNvSpPr/>
          <p:nvPr/>
        </p:nvSpPr>
        <p:spPr>
          <a:xfrm>
            <a:off x="78387" y="3644109"/>
            <a:ext cx="12035224" cy="3109980"/>
          </a:xfrm>
          <a:prstGeom prst="roundRect">
            <a:avLst>
              <a:gd name="adj" fmla="val 2813"/>
            </a:avLst>
          </a:prstGeom>
          <a:noFill/>
          <a:ln w="10937">
            <a:solidFill>
              <a:srgbClr val="AEB4B8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PI-MSCL architecture — native editable shapes (grouped modules)</dc:title>
  <dc:subject>Native PowerPoint/DrawingML reconstruction from img2pptx SVG</dc:subject>
  <dc:creator>Codex / img2pptx native-shape workflow</dc:creator>
  <cp:keywords>PI-MSCL, SOH, CNN-LSTM, editable PowerPoint, DrawingML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