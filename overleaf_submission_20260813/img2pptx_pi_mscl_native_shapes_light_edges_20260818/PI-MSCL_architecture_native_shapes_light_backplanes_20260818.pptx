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module__pi_mscl_figure__panel_a__model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" name="pi_mscl_figure__panel_a__model_connectors__polyline_001"/>
            <p:cNvSpPr/>
            <p:nvPr/>
          </p:nvSpPr>
          <p:spPr>
            <a:xfrm>
              <a:off x="1793586" y="1035322"/>
              <a:ext cx="554116" cy="845756"/>
            </a:xfrm>
            <a:custGeom>
              <a:avLst/>
              <a:gdLst/>
              <a:ahLst/>
              <a:cxnLst/>
              <a:rect l="l" t="t" r="r" b="b"/>
              <a:pathLst>
                <a:path w="76" h="116">
                  <a:moveTo>
                    <a:pt x="0" y="116"/>
                  </a:move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i_mscl_figure__panel_a__model_connectors__polygon_001"/>
            <p:cNvSpPr/>
            <p:nvPr/>
          </p:nvSpPr>
          <p:spPr>
            <a:xfrm>
              <a:off x="2289374" y="1006158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i_mscl_figure__panel_a__model_connectors__polyline_002"/>
            <p:cNvSpPr/>
            <p:nvPr/>
          </p:nvSpPr>
          <p:spPr>
            <a:xfrm>
              <a:off x="1509237" y="1881078"/>
              <a:ext cx="838465" cy="0"/>
            </a:xfrm>
            <a:custGeom>
              <a:avLst/>
              <a:gdLst/>
              <a:ahLst/>
              <a:cxnLst/>
              <a:rect l="l" t="t" r="r" b="b"/>
              <a:pathLst>
                <a:path w="115" h="0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i_mscl_figure__panel_a__model_connectors__polygon_002"/>
            <p:cNvSpPr/>
            <p:nvPr/>
          </p:nvSpPr>
          <p:spPr>
            <a:xfrm>
              <a:off x="2289374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i_mscl_figure__panel_a__model_connectors__polyline_003"/>
            <p:cNvSpPr/>
            <p:nvPr/>
          </p:nvSpPr>
          <p:spPr>
            <a:xfrm>
              <a:off x="1793586" y="1881078"/>
              <a:ext cx="554116" cy="838465"/>
            </a:xfrm>
            <a:custGeom>
              <a:avLst/>
              <a:gdLst/>
              <a:ahLst/>
              <a:cxnLst/>
              <a:rect l="l" t="t" r="r" b="b"/>
              <a:pathLst>
                <a:path w="76" h="115">
                  <a:moveTo>
                    <a:pt x="0" y="0"/>
                  </a:moveTo>
                  <a:lnTo>
                    <a:pt x="0" y="115"/>
                  </a:lnTo>
                  <a:lnTo>
                    <a:pt x="76" y="115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i_mscl_figure__panel_a__model_connectors__polygon_003"/>
            <p:cNvSpPr/>
            <p:nvPr/>
          </p:nvSpPr>
          <p:spPr>
            <a:xfrm>
              <a:off x="2289374" y="269037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_mscl_figure__panel_a__model_connectors__polyline_004"/>
            <p:cNvSpPr/>
            <p:nvPr/>
          </p:nvSpPr>
          <p:spPr>
            <a:xfrm>
              <a:off x="5089118" y="1035322"/>
              <a:ext cx="597862" cy="845756"/>
            </a:xfrm>
            <a:custGeom>
              <a:avLst/>
              <a:gdLst/>
              <a:ahLst/>
              <a:cxnLst/>
              <a:rect l="l" t="t" r="r" b="b"/>
              <a:pathLst>
                <a:path w="82" h="116">
                  <a:moveTo>
                    <a:pt x="0" y="0"/>
                  </a:moveTo>
                  <a:lnTo>
                    <a:pt x="42" y="0"/>
                  </a:lnTo>
                  <a:lnTo>
                    <a:pt x="42" y="104"/>
                  </a:lnTo>
                  <a:lnTo>
                    <a:pt x="62" y="116"/>
                  </a:lnTo>
                  <a:lnTo>
                    <a:pt x="82" y="116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i_mscl_figure__panel_a__model_connectors__polygon_004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i_mscl_figure__panel_a__model_connectors__polyline_005"/>
            <p:cNvSpPr/>
            <p:nvPr/>
          </p:nvSpPr>
          <p:spPr>
            <a:xfrm>
              <a:off x="5089118" y="1881078"/>
              <a:ext cx="597862" cy="0"/>
            </a:xfrm>
            <a:custGeom>
              <a:avLst/>
              <a:gdLst/>
              <a:ahLst/>
              <a:cxnLst/>
              <a:rect l="l" t="t" r="r" b="b"/>
              <a:pathLst>
                <a:path w="82" h="0">
                  <a:moveTo>
                    <a:pt x="0" y="0"/>
                  </a:move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pi_mscl_figure__panel_a__model_connectors__polygon_005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i_mscl_figure__panel_a__model_connectors__polyline_006"/>
            <p:cNvSpPr/>
            <p:nvPr/>
          </p:nvSpPr>
          <p:spPr>
            <a:xfrm>
              <a:off x="5089118" y="1881078"/>
              <a:ext cx="597862" cy="838465"/>
            </a:xfrm>
            <a:custGeom>
              <a:avLst/>
              <a:gdLst/>
              <a:ahLst/>
              <a:cxnLst/>
              <a:rect l="l" t="t" r="r" b="b"/>
              <a:pathLst>
                <a:path w="82" h="115">
                  <a:moveTo>
                    <a:pt x="0" y="115"/>
                  </a:moveTo>
                  <a:lnTo>
                    <a:pt x="42" y="115"/>
                  </a:lnTo>
                  <a:lnTo>
                    <a:pt x="42" y="12"/>
                  </a:lnTo>
                  <a:lnTo>
                    <a:pt x="62" y="0"/>
                  </a:ln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_mscl_figure__panel_a__model_connectors__polygon_006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i_mscl_figure__panel_a__model_connectors__polyline_007"/>
            <p:cNvSpPr/>
            <p:nvPr/>
          </p:nvSpPr>
          <p:spPr>
            <a:xfrm>
              <a:off x="6430662" y="1917533"/>
              <a:ext cx="291640" cy="0"/>
            </a:xfrm>
            <a:custGeom>
              <a:avLst/>
              <a:gdLst/>
              <a:ahLst/>
              <a:cxnLst/>
              <a:rect l="l" t="t" r="r" b="b"/>
              <a:pathLst>
                <a:path w="40" h="0">
                  <a:moveTo>
                    <a:pt x="0" y="0"/>
                  </a:moveTo>
                  <a:lnTo>
                    <a:pt x="40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i_mscl_figure__panel_a__model_connectors__polygon_007"/>
            <p:cNvSpPr/>
            <p:nvPr/>
          </p:nvSpPr>
          <p:spPr>
            <a:xfrm>
              <a:off x="6663974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i_mscl_figure__panel_a__model_connectors__polyline_008"/>
            <p:cNvSpPr/>
            <p:nvPr/>
          </p:nvSpPr>
          <p:spPr>
            <a:xfrm>
              <a:off x="7247254" y="1917533"/>
              <a:ext cx="160402" cy="0"/>
            </a:xfrm>
            <a:custGeom>
              <a:avLst/>
              <a:gdLst/>
              <a:ahLst/>
              <a:cxnLst/>
              <a:rect l="l" t="t" r="r" b="b"/>
              <a:pathLst>
                <a:path w="22" h="0">
                  <a:moveTo>
                    <a:pt x="0" y="0"/>
                  </a:moveTo>
                  <a:lnTo>
                    <a:pt x="22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i_mscl_figure__panel_a__model_connectors__polygon_008"/>
            <p:cNvSpPr/>
            <p:nvPr/>
          </p:nvSpPr>
          <p:spPr>
            <a:xfrm>
              <a:off x="7349328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i_mscl_figure__panel_a__model_connectors__polyline_009"/>
            <p:cNvSpPr/>
            <p:nvPr/>
          </p:nvSpPr>
          <p:spPr>
            <a:xfrm>
              <a:off x="9609538" y="1895660"/>
              <a:ext cx="138529" cy="0"/>
            </a:xfrm>
            <a:custGeom>
              <a:avLst/>
              <a:gdLst/>
              <a:ahLst/>
              <a:cxnLst/>
              <a:rect l="l" t="t" r="r" b="b"/>
              <a:pathLst>
                <a:path w="19" h="0">
                  <a:moveTo>
                    <a:pt x="0" y="0"/>
                  </a:moveTo>
                  <a:lnTo>
                    <a:pt x="19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i_mscl_figure__panel_a__model_connectors__polygon_009"/>
            <p:cNvSpPr/>
            <p:nvPr/>
          </p:nvSpPr>
          <p:spPr>
            <a:xfrm>
              <a:off x="9689739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i_mscl_figure__panel_a__model_connectors__polyline_010"/>
            <p:cNvSpPr/>
            <p:nvPr/>
          </p:nvSpPr>
          <p:spPr>
            <a:xfrm>
              <a:off x="10695897" y="1895660"/>
              <a:ext cx="153111" cy="0"/>
            </a:xfrm>
            <a:custGeom>
              <a:avLst/>
              <a:gdLst/>
              <a:ahLst/>
              <a:cxnLst/>
              <a:rect l="l" t="t" r="r" b="b"/>
              <a:pathLst>
                <a:path w="21" h="0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i_mscl_figure__panel_a__model_connectors__polygon_010"/>
            <p:cNvSpPr/>
            <p:nvPr/>
          </p:nvSpPr>
          <p:spPr>
            <a:xfrm>
              <a:off x="10790680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module__pi_mscl_figure__panel_a__panel_a_header"/>
          <p:cNvGrpSpPr/>
          <p:nvPr/>
        </p:nvGrpSpPr>
        <p:grpSpPr>
          <a:xfrm>
            <a:off x="167712" y="175004"/>
            <a:ext cx="2036472" cy="234506"/>
            <a:chOff x="167712" y="175004"/>
            <a:chExt cx="2036472" cy="234506"/>
          </a:xfrm>
        </p:grpSpPr>
        <p:sp>
          <p:nvSpPr>
            <p:cNvPr id="26" name="pi_mscl_figure__panel_a__panel_a_header__rect_003"/>
            <p:cNvSpPr/>
            <p:nvPr/>
          </p:nvSpPr>
          <p:spPr>
            <a:xfrm>
              <a:off x="167712" y="175004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i_mscl_figure__panel_a__panel_a_header__text_001"/>
            <p:cNvSpPr txBox="1"/>
            <p:nvPr/>
          </p:nvSpPr>
          <p:spPr>
            <a:xfrm>
              <a:off x="224881" y="211464"/>
              <a:ext cx="104419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a</a:t>
              </a:r>
            </a:p>
          </p:txBody>
        </p:sp>
        <p:sp>
          <p:nvSpPr>
            <p:cNvPr id="28" name="pi_mscl_figure__panel_a__panel_a_header__text_002"/>
            <p:cNvSpPr txBox="1"/>
            <p:nvPr/>
          </p:nvSpPr>
          <p:spPr>
            <a:xfrm>
              <a:off x="510430" y="204172"/>
              <a:ext cx="1693754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PI–MSCL architecture</a:t>
              </a:r>
            </a:p>
          </p:txBody>
        </p:sp>
      </p:grpSp>
      <p:grpSp>
        <p:nvGrpSpPr>
          <p:cNvPr id="29" name="module__pi_mscl_figure__panel_a__input_sequence"/>
          <p:cNvGrpSpPr/>
          <p:nvPr/>
        </p:nvGrpSpPr>
        <p:grpSpPr>
          <a:xfrm>
            <a:off x="40105" y="634392"/>
            <a:ext cx="1403513" cy="2384439"/>
            <a:chOff x="40105" y="634392"/>
            <a:chExt cx="1403513" cy="2384439"/>
          </a:xfrm>
        </p:grpSpPr>
        <p:sp>
          <p:nvSpPr>
            <p:cNvPr id="30" name="pi_mscl_figure__panel_a__input_sequence__text_003"/>
            <p:cNvSpPr txBox="1"/>
            <p:nvPr/>
          </p:nvSpPr>
          <p:spPr>
            <a:xfrm>
              <a:off x="820334" y="634392"/>
              <a:ext cx="29896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Input</a:t>
              </a:r>
            </a:p>
          </p:txBody>
        </p:sp>
        <p:sp>
          <p:nvSpPr>
            <p:cNvPr id="31" name="pi_mscl_figure__panel_a__input_sequence__text_004"/>
            <p:cNvSpPr txBox="1"/>
            <p:nvPr/>
          </p:nvSpPr>
          <p:spPr>
            <a:xfrm>
              <a:off x="787521" y="838564"/>
              <a:ext cx="36459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0">
                  <a:solidFill>
                    <a:srgbClr val="111111"/>
                  </a:solidFill>
                  <a:latin typeface="Times New Roman"/>
                </a:rPr>
                <a:t>40 × 14</a:t>
              </a:r>
            </a:p>
          </p:txBody>
        </p:sp>
        <p:sp>
          <p:nvSpPr>
            <p:cNvPr id="32" name="pi_mscl_figure__panel_a__input_sequence__rect_004"/>
            <p:cNvSpPr/>
            <p:nvPr/>
          </p:nvSpPr>
          <p:spPr>
            <a:xfrm>
              <a:off x="510430" y="1093779"/>
              <a:ext cx="926066" cy="1618794"/>
            </a:xfrm>
            <a:prstGeom prst="rect">
              <a:avLst/>
            </a:prstGeom>
            <a:solidFill>
              <a:srgbClr val="FFFFFF"/>
            </a:solidFill>
            <a:ln w="11666">
              <a:solidFill>
                <a:srgbClr val="2026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i_mscl_figure__panel_a__input_sequence__rect_005"/>
            <p:cNvSpPr/>
            <p:nvPr/>
          </p:nvSpPr>
          <p:spPr>
            <a:xfrm>
              <a:off x="568765" y="1130239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i_mscl_figure__panel_a__input_sequence__rect_006"/>
            <p:cNvSpPr/>
            <p:nvPr/>
          </p:nvSpPr>
          <p:spPr>
            <a:xfrm>
              <a:off x="707310" y="1130239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i_mscl_figure__panel_a__input_sequence__rect_007"/>
            <p:cNvSpPr/>
            <p:nvPr/>
          </p:nvSpPr>
          <p:spPr>
            <a:xfrm>
              <a:off x="845856" y="1130239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i_mscl_figure__panel_a__input_sequence__rect_008"/>
            <p:cNvSpPr/>
            <p:nvPr/>
          </p:nvSpPr>
          <p:spPr>
            <a:xfrm>
              <a:off x="984401" y="1130239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i_mscl_figure__panel_a__input_sequence__rect_009"/>
            <p:cNvSpPr/>
            <p:nvPr/>
          </p:nvSpPr>
          <p:spPr>
            <a:xfrm>
              <a:off x="1122947" y="1130239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pi_mscl_figure__panel_a__input_sequence__rect_010"/>
            <p:cNvSpPr/>
            <p:nvPr/>
          </p:nvSpPr>
          <p:spPr>
            <a:xfrm>
              <a:off x="1261492" y="1130239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i_mscl_figure__panel_a__input_sequence__rect_011"/>
            <p:cNvSpPr/>
            <p:nvPr/>
          </p:nvSpPr>
          <p:spPr>
            <a:xfrm>
              <a:off x="568765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i_mscl_figure__panel_a__input_sequence__rect_012"/>
            <p:cNvSpPr/>
            <p:nvPr/>
          </p:nvSpPr>
          <p:spPr>
            <a:xfrm>
              <a:off x="707310" y="1268784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i_mscl_figure__panel_a__input_sequence__rect_013"/>
            <p:cNvSpPr/>
            <p:nvPr/>
          </p:nvSpPr>
          <p:spPr>
            <a:xfrm>
              <a:off x="845856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i_mscl_figure__panel_a__input_sequence__rect_014"/>
            <p:cNvSpPr/>
            <p:nvPr/>
          </p:nvSpPr>
          <p:spPr>
            <a:xfrm>
              <a:off x="984401" y="1268784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i_mscl_figure__panel_a__input_sequence__rect_015"/>
            <p:cNvSpPr/>
            <p:nvPr/>
          </p:nvSpPr>
          <p:spPr>
            <a:xfrm>
              <a:off x="1122947" y="1268784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i_mscl_figure__panel_a__input_sequence__rect_016"/>
            <p:cNvSpPr/>
            <p:nvPr/>
          </p:nvSpPr>
          <p:spPr>
            <a:xfrm>
              <a:off x="1261492" y="1268784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i_mscl_figure__panel_a__input_sequence__rect_017"/>
            <p:cNvSpPr/>
            <p:nvPr/>
          </p:nvSpPr>
          <p:spPr>
            <a:xfrm>
              <a:off x="568765" y="1407330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i_mscl_figure__panel_a__input_sequence__rect_018"/>
            <p:cNvSpPr/>
            <p:nvPr/>
          </p:nvSpPr>
          <p:spPr>
            <a:xfrm>
              <a:off x="707310" y="1407330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pi_mscl_figure__panel_a__input_sequence__rect_019"/>
            <p:cNvSpPr/>
            <p:nvPr/>
          </p:nvSpPr>
          <p:spPr>
            <a:xfrm>
              <a:off x="845856" y="1407330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i_mscl_figure__panel_a__input_sequence__rect_020"/>
            <p:cNvSpPr/>
            <p:nvPr/>
          </p:nvSpPr>
          <p:spPr>
            <a:xfrm>
              <a:off x="984401" y="1407330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i_mscl_figure__panel_a__input_sequence__rect_021"/>
            <p:cNvSpPr/>
            <p:nvPr/>
          </p:nvSpPr>
          <p:spPr>
            <a:xfrm>
              <a:off x="1122947" y="1407330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i_mscl_figure__panel_a__input_sequence__rect_022"/>
            <p:cNvSpPr/>
            <p:nvPr/>
          </p:nvSpPr>
          <p:spPr>
            <a:xfrm>
              <a:off x="1261492" y="1407330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i_mscl_figure__panel_a__input_sequence__rect_023"/>
            <p:cNvSpPr/>
            <p:nvPr/>
          </p:nvSpPr>
          <p:spPr>
            <a:xfrm>
              <a:off x="568765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i_mscl_figure__panel_a__input_sequence__rect_024"/>
            <p:cNvSpPr/>
            <p:nvPr/>
          </p:nvSpPr>
          <p:spPr>
            <a:xfrm>
              <a:off x="707310" y="1545875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pi_mscl_figure__panel_a__input_sequence__rect_025"/>
            <p:cNvSpPr/>
            <p:nvPr/>
          </p:nvSpPr>
          <p:spPr>
            <a:xfrm>
              <a:off x="845856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i_mscl_figure__panel_a__input_sequence__rect_026"/>
            <p:cNvSpPr/>
            <p:nvPr/>
          </p:nvSpPr>
          <p:spPr>
            <a:xfrm>
              <a:off x="984401" y="1545875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i_mscl_figure__panel_a__input_sequence__rect_027"/>
            <p:cNvSpPr/>
            <p:nvPr/>
          </p:nvSpPr>
          <p:spPr>
            <a:xfrm>
              <a:off x="1122947" y="1545875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i_mscl_figure__panel_a__input_sequence__rect_028"/>
            <p:cNvSpPr/>
            <p:nvPr/>
          </p:nvSpPr>
          <p:spPr>
            <a:xfrm>
              <a:off x="1261492" y="1545875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i_mscl_figure__panel_a__input_sequence__rect_029"/>
            <p:cNvSpPr/>
            <p:nvPr/>
          </p:nvSpPr>
          <p:spPr>
            <a:xfrm>
              <a:off x="568765" y="1684421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i_mscl_figure__panel_a__input_sequence__rect_030"/>
            <p:cNvSpPr/>
            <p:nvPr/>
          </p:nvSpPr>
          <p:spPr>
            <a:xfrm>
              <a:off x="707310" y="1684421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i_mscl_figure__panel_a__input_sequence__rect_031"/>
            <p:cNvSpPr/>
            <p:nvPr/>
          </p:nvSpPr>
          <p:spPr>
            <a:xfrm>
              <a:off x="845856" y="1684421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i_mscl_figure__panel_a__input_sequence__rect_032"/>
            <p:cNvSpPr/>
            <p:nvPr/>
          </p:nvSpPr>
          <p:spPr>
            <a:xfrm>
              <a:off x="984401" y="1684421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i_mscl_figure__panel_a__input_sequence__rect_033"/>
            <p:cNvSpPr/>
            <p:nvPr/>
          </p:nvSpPr>
          <p:spPr>
            <a:xfrm>
              <a:off x="1122947" y="1684421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i_mscl_figure__panel_a__input_sequence__rect_034"/>
            <p:cNvSpPr/>
            <p:nvPr/>
          </p:nvSpPr>
          <p:spPr>
            <a:xfrm>
              <a:off x="1261492" y="1684421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i_mscl_figure__panel_a__input_sequence__rect_035"/>
            <p:cNvSpPr/>
            <p:nvPr/>
          </p:nvSpPr>
          <p:spPr>
            <a:xfrm>
              <a:off x="568765" y="1822966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i_mscl_figure__panel_a__input_sequence__rect_036"/>
            <p:cNvSpPr/>
            <p:nvPr/>
          </p:nvSpPr>
          <p:spPr>
            <a:xfrm>
              <a:off x="707310" y="1822966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i_mscl_figure__panel_a__input_sequence__rect_037"/>
            <p:cNvSpPr/>
            <p:nvPr/>
          </p:nvSpPr>
          <p:spPr>
            <a:xfrm>
              <a:off x="845856" y="1822966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i_mscl_figure__panel_a__input_sequence__rect_038"/>
            <p:cNvSpPr/>
            <p:nvPr/>
          </p:nvSpPr>
          <p:spPr>
            <a:xfrm>
              <a:off x="984401" y="1822966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i_mscl_figure__panel_a__input_sequence__rect_039"/>
            <p:cNvSpPr/>
            <p:nvPr/>
          </p:nvSpPr>
          <p:spPr>
            <a:xfrm>
              <a:off x="1122947" y="1822966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pi_mscl_figure__panel_a__input_sequence__rect_040"/>
            <p:cNvSpPr/>
            <p:nvPr/>
          </p:nvSpPr>
          <p:spPr>
            <a:xfrm>
              <a:off x="1261492" y="1822966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i_mscl_figure__panel_a__input_sequence__rect_041"/>
            <p:cNvSpPr/>
            <p:nvPr/>
          </p:nvSpPr>
          <p:spPr>
            <a:xfrm>
              <a:off x="568765" y="1961511"/>
              <a:ext cx="123961" cy="123961"/>
            </a:xfrm>
            <a:prstGeom prst="rect">
              <a:avLst/>
            </a:prstGeom>
            <a:solidFill>
              <a:srgbClr val="BBA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i_mscl_figure__panel_a__input_sequence__rect_042"/>
            <p:cNvSpPr/>
            <p:nvPr/>
          </p:nvSpPr>
          <p:spPr>
            <a:xfrm>
              <a:off x="707310" y="1961511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i_mscl_figure__panel_a__input_sequence__rect_043"/>
            <p:cNvSpPr/>
            <p:nvPr/>
          </p:nvSpPr>
          <p:spPr>
            <a:xfrm>
              <a:off x="845856" y="1961511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i_mscl_figure__panel_a__input_sequence__rect_044"/>
            <p:cNvSpPr/>
            <p:nvPr/>
          </p:nvSpPr>
          <p:spPr>
            <a:xfrm>
              <a:off x="984401" y="1961511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i_mscl_figure__panel_a__input_sequence__rect_045"/>
            <p:cNvSpPr/>
            <p:nvPr/>
          </p:nvSpPr>
          <p:spPr>
            <a:xfrm>
              <a:off x="1122947" y="1961511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i_mscl_figure__panel_a__input_sequence__rect_046"/>
            <p:cNvSpPr/>
            <p:nvPr/>
          </p:nvSpPr>
          <p:spPr>
            <a:xfrm>
              <a:off x="1261492" y="1961511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i_mscl_figure__panel_a__input_sequence__rect_047"/>
            <p:cNvSpPr/>
            <p:nvPr/>
          </p:nvSpPr>
          <p:spPr>
            <a:xfrm>
              <a:off x="568765" y="2100057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i_mscl_figure__panel_a__input_sequence__rect_048"/>
            <p:cNvSpPr/>
            <p:nvPr/>
          </p:nvSpPr>
          <p:spPr>
            <a:xfrm>
              <a:off x="707310" y="2100057"/>
              <a:ext cx="123961" cy="123961"/>
            </a:xfrm>
            <a:prstGeom prst="rect">
              <a:avLst/>
            </a:prstGeom>
            <a:solidFill>
              <a:srgbClr val="BBA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i_mscl_figure__panel_a__input_sequence__rect_049"/>
            <p:cNvSpPr/>
            <p:nvPr/>
          </p:nvSpPr>
          <p:spPr>
            <a:xfrm>
              <a:off x="845856" y="2100057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i_mscl_figure__panel_a__input_sequence__rect_050"/>
            <p:cNvSpPr/>
            <p:nvPr/>
          </p:nvSpPr>
          <p:spPr>
            <a:xfrm>
              <a:off x="984401" y="2100057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i_mscl_figure__panel_a__input_sequence__rect_051"/>
            <p:cNvSpPr/>
            <p:nvPr/>
          </p:nvSpPr>
          <p:spPr>
            <a:xfrm>
              <a:off x="1122947" y="2100057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i_mscl_figure__panel_a__input_sequence__rect_052"/>
            <p:cNvSpPr/>
            <p:nvPr/>
          </p:nvSpPr>
          <p:spPr>
            <a:xfrm>
              <a:off x="1261492" y="2100057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i_mscl_figure__panel_a__input_sequence__text_005"/>
            <p:cNvSpPr txBox="1"/>
            <p:nvPr/>
          </p:nvSpPr>
          <p:spPr>
            <a:xfrm>
              <a:off x="555056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2" name="pi_mscl_figure__panel_a__input_sequence__text_006"/>
            <p:cNvSpPr txBox="1"/>
            <p:nvPr/>
          </p:nvSpPr>
          <p:spPr>
            <a:xfrm>
              <a:off x="832147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3" name="pi_mscl_figure__panel_a__input_sequence__text_007"/>
            <p:cNvSpPr txBox="1"/>
            <p:nvPr/>
          </p:nvSpPr>
          <p:spPr>
            <a:xfrm>
              <a:off x="1109238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4" name="pi_mscl_figure__panel_a__input_sequence__rect_053"/>
            <p:cNvSpPr/>
            <p:nvPr/>
          </p:nvSpPr>
          <p:spPr>
            <a:xfrm>
              <a:off x="568765" y="2435483"/>
              <a:ext cx="123961" cy="123961"/>
            </a:xfrm>
            <a:prstGeom prst="rect">
              <a:avLst/>
            </a:prstGeom>
            <a:solidFill>
              <a:srgbClr val="D8DC9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i_mscl_figure__panel_a__input_sequence__rect_054"/>
            <p:cNvSpPr/>
            <p:nvPr/>
          </p:nvSpPr>
          <p:spPr>
            <a:xfrm>
              <a:off x="707310" y="2435483"/>
              <a:ext cx="123961" cy="123961"/>
            </a:xfrm>
            <a:prstGeom prst="rect">
              <a:avLst/>
            </a:prstGeom>
            <a:solidFill>
              <a:srgbClr val="DDE1A3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pi_mscl_figure__panel_a__input_sequence__rect_055"/>
            <p:cNvSpPr/>
            <p:nvPr/>
          </p:nvSpPr>
          <p:spPr>
            <a:xfrm>
              <a:off x="845856" y="2435483"/>
              <a:ext cx="123961" cy="123961"/>
            </a:xfrm>
            <a:prstGeom prst="rect">
              <a:avLst/>
            </a:prstGeom>
            <a:solidFill>
              <a:srgbClr val="E4E8B0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i_mscl_figure__panel_a__input_sequence__rect_056"/>
            <p:cNvSpPr/>
            <p:nvPr/>
          </p:nvSpPr>
          <p:spPr>
            <a:xfrm>
              <a:off x="984401" y="2435483"/>
              <a:ext cx="123961" cy="123961"/>
            </a:xfrm>
            <a:prstGeom prst="rect">
              <a:avLst/>
            </a:prstGeom>
            <a:solidFill>
              <a:srgbClr val="C4DCCB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i_mscl_figure__panel_a__input_sequence__rect_057"/>
            <p:cNvSpPr/>
            <p:nvPr/>
          </p:nvSpPr>
          <p:spPr>
            <a:xfrm>
              <a:off x="1122947" y="2435483"/>
              <a:ext cx="123961" cy="123961"/>
            </a:xfrm>
            <a:prstGeom prst="rect">
              <a:avLst/>
            </a:prstGeom>
            <a:solidFill>
              <a:srgbClr val="CEE4D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i_mscl_figure__panel_a__input_sequence__rect_058"/>
            <p:cNvSpPr/>
            <p:nvPr/>
          </p:nvSpPr>
          <p:spPr>
            <a:xfrm>
              <a:off x="1261492" y="2435483"/>
              <a:ext cx="123961" cy="123961"/>
            </a:xfrm>
            <a:prstGeom prst="rect">
              <a:avLst/>
            </a:prstGeom>
            <a:solidFill>
              <a:srgbClr val="D8E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i_mscl_figure__panel_a__input_sequence__rect_059"/>
            <p:cNvSpPr/>
            <p:nvPr/>
          </p:nvSpPr>
          <p:spPr>
            <a:xfrm>
              <a:off x="568765" y="2574028"/>
              <a:ext cx="123961" cy="123961"/>
            </a:xfrm>
            <a:prstGeom prst="rect">
              <a:avLst/>
            </a:prstGeom>
            <a:solidFill>
              <a:srgbClr val="D8DC9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i_mscl_figure__panel_a__input_sequence__rect_060"/>
            <p:cNvSpPr/>
            <p:nvPr/>
          </p:nvSpPr>
          <p:spPr>
            <a:xfrm>
              <a:off x="707310" y="2574028"/>
              <a:ext cx="123961" cy="123961"/>
            </a:xfrm>
            <a:prstGeom prst="rect">
              <a:avLst/>
            </a:prstGeom>
            <a:solidFill>
              <a:srgbClr val="DDE1A3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i_mscl_figure__panel_a__input_sequence__rect_061"/>
            <p:cNvSpPr/>
            <p:nvPr/>
          </p:nvSpPr>
          <p:spPr>
            <a:xfrm>
              <a:off x="845856" y="2574028"/>
              <a:ext cx="123961" cy="123961"/>
            </a:xfrm>
            <a:prstGeom prst="rect">
              <a:avLst/>
            </a:prstGeom>
            <a:solidFill>
              <a:srgbClr val="E4E8B0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i_mscl_figure__panel_a__input_sequence__rect_062"/>
            <p:cNvSpPr/>
            <p:nvPr/>
          </p:nvSpPr>
          <p:spPr>
            <a:xfrm>
              <a:off x="984401" y="2574028"/>
              <a:ext cx="123961" cy="123961"/>
            </a:xfrm>
            <a:prstGeom prst="rect">
              <a:avLst/>
            </a:prstGeom>
            <a:solidFill>
              <a:srgbClr val="C4DCCB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i_mscl_figure__panel_a__input_sequence__rect_063"/>
            <p:cNvSpPr/>
            <p:nvPr/>
          </p:nvSpPr>
          <p:spPr>
            <a:xfrm>
              <a:off x="1122947" y="2574028"/>
              <a:ext cx="123961" cy="123961"/>
            </a:xfrm>
            <a:prstGeom prst="rect">
              <a:avLst/>
            </a:prstGeom>
            <a:solidFill>
              <a:srgbClr val="CEE4D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i_mscl_figure__panel_a__input_sequence__rect_064"/>
            <p:cNvSpPr/>
            <p:nvPr/>
          </p:nvSpPr>
          <p:spPr>
            <a:xfrm>
              <a:off x="1261492" y="2574028"/>
              <a:ext cx="123961" cy="123961"/>
            </a:xfrm>
            <a:prstGeom prst="rect">
              <a:avLst/>
            </a:prstGeom>
            <a:solidFill>
              <a:srgbClr val="D8E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pi_mscl_figure__panel_a__input_sequence__line_001"/>
            <p:cNvCxnSpPr/>
            <p:nvPr/>
          </p:nvCxnSpPr>
          <p:spPr>
            <a:xfrm>
              <a:off x="386468" y="1093779"/>
              <a:ext cx="0" cy="1589627"/>
            </a:xfrm>
            <a:prstGeom prst="line">
              <a:avLst/>
            </a:prstGeom>
            <a:ln w="8750">
              <a:solidFill>
                <a:srgbClr val="333333"/>
              </a:solidFill>
              <a:prstDash val="solid"/>
            </a:ln>
          </p:spPr>
        </p:cxnSp>
        <p:sp>
          <p:nvSpPr>
            <p:cNvPr id="97" name="pi_mscl_figure__panel_a__input_sequence__polyline_011"/>
            <p:cNvSpPr/>
            <p:nvPr/>
          </p:nvSpPr>
          <p:spPr>
            <a:xfrm>
              <a:off x="386423" y="1093650"/>
              <a:ext cx="0" cy="1589438"/>
            </a:xfrm>
            <a:custGeom>
              <a:avLst/>
              <a:gdLst/>
              <a:ahLst/>
              <a:cxnLst/>
              <a:rect l="l" t="t" r="r" b="b"/>
              <a:pathLst>
                <a:path w="0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i_mscl_figure__panel_a__input_sequence__polygon_011"/>
            <p:cNvSpPr/>
            <p:nvPr/>
          </p:nvSpPr>
          <p:spPr>
            <a:xfrm>
              <a:off x="364550" y="2632051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7"/>
                  </a:move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i_mscl_figure__panel_a__input_sequence__text_008"/>
            <p:cNvSpPr txBox="1"/>
            <p:nvPr/>
          </p:nvSpPr>
          <p:spPr>
            <a:xfrm rot="16200000">
              <a:off x="40105" y="1848487"/>
              <a:ext cx="488555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features (14)</a:t>
              </a:r>
            </a:p>
          </p:txBody>
        </p:sp>
        <p:sp>
          <p:nvSpPr>
            <p:cNvPr id="100" name="pi_mscl_figure__panel_a__input_sequence__polyline_012"/>
            <p:cNvSpPr/>
            <p:nvPr/>
          </p:nvSpPr>
          <p:spPr>
            <a:xfrm>
              <a:off x="510370" y="2821617"/>
              <a:ext cx="933248" cy="0"/>
            </a:xfrm>
            <a:custGeom>
              <a:avLst/>
              <a:gdLst/>
              <a:ahLst/>
              <a:cxnLst/>
              <a:rect l="l" t="t" r="r" b="b"/>
              <a:pathLst>
                <a:path w="128" h="0">
                  <a:moveTo>
                    <a:pt x="0" y="0"/>
                  </a:moveTo>
                  <a:lnTo>
                    <a:pt x="128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i_mscl_figure__panel_a__input_sequence__polygon_012"/>
            <p:cNvSpPr/>
            <p:nvPr/>
          </p:nvSpPr>
          <p:spPr>
            <a:xfrm>
              <a:off x="1392581" y="2799744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i_mscl_figure__panel_a__input_sequence__text_009"/>
            <p:cNvSpPr txBox="1"/>
            <p:nvPr/>
          </p:nvSpPr>
          <p:spPr>
            <a:xfrm>
              <a:off x="663559" y="2909454"/>
              <a:ext cx="62710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time (40 cycles)</a:t>
              </a:r>
            </a:p>
          </p:txBody>
        </p:sp>
      </p:grpSp>
      <p:sp>
        <p:nvSpPr>
          <p:cNvPr id="103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4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grpSp>
        <p:nvGrpSpPr>
          <p:cNvPr id="105" name="module__pi_mscl_figure__panel_a__multiscale_cnn__cnn_k3"/>
          <p:cNvGrpSpPr/>
          <p:nvPr/>
        </p:nvGrpSpPr>
        <p:grpSpPr>
          <a:xfrm>
            <a:off x="0" y="0"/>
            <a:ext cx="4958467" cy="1341702"/>
            <a:chOff x="0" y="0"/>
            <a:chExt cx="4958467" cy="1341702"/>
          </a:xfrm>
        </p:grpSpPr>
        <p:sp>
          <p:nvSpPr>
            <p:cNvPr id="106" name="panel_a__multiscale_cnn__cnn_k3__text_012"/>
            <p:cNvSpPr txBox="1"/>
            <p:nvPr/>
          </p:nvSpPr>
          <p:spPr>
            <a:xfrm>
              <a:off x="1954220" y="838564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0A5AA6"/>
                  </a:solidFill>
                  <a:latin typeface="Times New Roman"/>
                </a:rPr>
                <a:t>k = 3</a:t>
              </a:r>
            </a:p>
          </p:txBody>
        </p:sp>
        <p:grpSp>
          <p:nvGrpSpPr>
            <p:cNvPr id="107" name="module__pi_mscl_figure__panel_a__multiscale_cnn__cnn_k3__cnn_k3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multiscale_cnn__cnn_k3__cnn_k3_40__polygon_013"/>
              <p:cNvSpPr/>
              <p:nvPr/>
            </p:nvSpPr>
            <p:spPr>
              <a:xfrm>
                <a:off x="2369575" y="61244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multiscale_cnn__cnn_k3__cnn_k3_40__polygon_014"/>
              <p:cNvSpPr/>
              <p:nvPr/>
            </p:nvSpPr>
            <p:spPr>
              <a:xfrm>
                <a:off x="2406030" y="63431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multiscale_cnn__cnn_k3__cnn_k3_40__polygon_015"/>
              <p:cNvSpPr/>
              <p:nvPr/>
            </p:nvSpPr>
            <p:spPr>
              <a:xfrm>
                <a:off x="2442485" y="65619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multiscale_cnn__cnn_k3__cnn_k3_40__polygon_016"/>
              <p:cNvSpPr/>
              <p:nvPr/>
            </p:nvSpPr>
            <p:spPr>
              <a:xfrm>
                <a:off x="2478940" y="67806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multiscale_cnn__cnn_k3__cnn_k3_40__polygon_017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multiscale_cnn__cnn_k3__cnn_k3_40__polygon_018"/>
              <p:cNvSpPr/>
              <p:nvPr/>
            </p:nvSpPr>
            <p:spPr>
              <a:xfrm>
                <a:off x="2515395" y="73639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multiscale_cnn__cnn_k3__cnn_k3_40__polygon_019"/>
              <p:cNvSpPr/>
              <p:nvPr/>
            </p:nvSpPr>
            <p:spPr>
              <a:xfrm>
                <a:off x="2610178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FA3D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ltiscale_cnn__cnn_k3__cnn_k3_40__polygon_020"/>
              <p:cNvSpPr/>
              <p:nvPr/>
            </p:nvSpPr>
            <p:spPr>
              <a:xfrm>
                <a:off x="2697670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5A6D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multiscale_cnn__cnn_k3__cnn_k3_40__polygon_021"/>
              <p:cNvSpPr/>
              <p:nvPr/>
            </p:nvSpPr>
            <p:spPr>
              <a:xfrm>
                <a:off x="2785162" y="72180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AAAD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multiscale_cnn__cnn_k3__cnn_k3_40__polygon_022"/>
              <p:cNvSpPr/>
              <p:nvPr/>
            </p:nvSpPr>
            <p:spPr>
              <a:xfrm>
                <a:off x="2879945" y="71451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ADD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multiscale_cnn__cnn_k3__cnn_k3_40__polygon_023"/>
              <p:cNvSpPr/>
              <p:nvPr/>
            </p:nvSpPr>
            <p:spPr>
              <a:xfrm>
                <a:off x="2974728" y="70722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5B1D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multiscale_cnn__cnn_k3__cnn_k3_40__polygon_024"/>
              <p:cNvSpPr/>
              <p:nvPr/>
            </p:nvSpPr>
            <p:spPr>
              <a:xfrm>
                <a:off x="3062220" y="70722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BB5D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multiscale_cnn__cnn_k3__cnn_k3_40__polygon_025"/>
              <p:cNvSpPr/>
              <p:nvPr/>
            </p:nvSpPr>
            <p:spPr>
              <a:xfrm>
                <a:off x="3149712" y="69993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0B8D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multiscale_cnn__cnn_k3__cnn_k3_40__polygon_026"/>
              <p:cNvSpPr/>
              <p:nvPr/>
            </p:nvSpPr>
            <p:spPr>
              <a:xfrm>
                <a:off x="2515395" y="87492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BCE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multiscale_cnn__cnn_k3__cnn_k3_40__polygon_027"/>
              <p:cNvSpPr/>
              <p:nvPr/>
            </p:nvSpPr>
            <p:spPr>
              <a:xfrm>
                <a:off x="2610178" y="87492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BBFE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multiscale_cnn__cnn_k3__cnn_k3_40__polygon_028"/>
              <p:cNvSpPr/>
              <p:nvPr/>
            </p:nvSpPr>
            <p:spPr>
              <a:xfrm>
                <a:off x="2697670" y="86762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1C3E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multiscale_cnn__cnn_k3__cnn_k3_40__polygon_029"/>
              <p:cNvSpPr/>
              <p:nvPr/>
            </p:nvSpPr>
            <p:spPr>
              <a:xfrm>
                <a:off x="2785162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6C7E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multiscale_cnn__cnn_k3__cnn_k3_40__polygon_030"/>
              <p:cNvSpPr/>
              <p:nvPr/>
            </p:nvSpPr>
            <p:spPr>
              <a:xfrm>
                <a:off x="2879945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CAE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multiscale_cnn__cnn_k3__cnn_k3_40__polygon_031"/>
              <p:cNvSpPr/>
              <p:nvPr/>
            </p:nvSpPr>
            <p:spPr>
              <a:xfrm>
                <a:off x="2974728" y="85304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CEE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multiscale_cnn__cnn_k3__cnn_k3_40__polygon_032"/>
              <p:cNvSpPr/>
              <p:nvPr/>
            </p:nvSpPr>
            <p:spPr>
              <a:xfrm>
                <a:off x="3062220" y="84575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7D2E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multiscale_cnn__cnn_k3__cnn_k3_40__polygon_033"/>
              <p:cNvSpPr/>
              <p:nvPr/>
            </p:nvSpPr>
            <p:spPr>
              <a:xfrm>
                <a:off x="3149712" y="83846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5E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multiscale_cnn__cnn_k3__cnn_k3_40__polygon_034"/>
              <p:cNvSpPr/>
              <p:nvPr/>
            </p:nvSpPr>
            <p:spPr>
              <a:xfrm>
                <a:off x="2515395" y="102074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9EF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multiscale_cnn__cnn_k3__cnn_k3_40__polygon_035"/>
              <p:cNvSpPr/>
              <p:nvPr/>
            </p:nvSpPr>
            <p:spPr>
              <a:xfrm>
                <a:off x="2610178" y="101344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7DCF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multiscale_cnn__cnn_k3__cnn_k3_40__polygon_036"/>
              <p:cNvSpPr/>
              <p:nvPr/>
            </p:nvSpPr>
            <p:spPr>
              <a:xfrm>
                <a:off x="2697670" y="100615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0F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multiscale_cnn__cnn_k3__cnn_k3_40__polygon_037"/>
              <p:cNvSpPr/>
              <p:nvPr/>
            </p:nvSpPr>
            <p:spPr>
              <a:xfrm>
                <a:off x="2785162" y="100615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4F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multiscale_cnn__cnn_k3__cnn_k3_40__polygon_038"/>
              <p:cNvSpPr/>
              <p:nvPr/>
            </p:nvSpPr>
            <p:spPr>
              <a:xfrm>
                <a:off x="2879945" y="99886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E7F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multiscale_cnn__cnn_k3__cnn_k3_40__polygon_039"/>
              <p:cNvSpPr/>
              <p:nvPr/>
            </p:nvSpPr>
            <p:spPr>
              <a:xfrm>
                <a:off x="2974728" y="99157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EBF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multiscale_cnn__cnn_k3__cnn_k3_40__polygon_040"/>
              <p:cNvSpPr/>
              <p:nvPr/>
            </p:nvSpPr>
            <p:spPr>
              <a:xfrm>
                <a:off x="3062220" y="9842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3EEF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multiscale_cnn__cnn_k3__cnn_k3_40__polygon_041"/>
              <p:cNvSpPr/>
              <p:nvPr/>
            </p:nvSpPr>
            <p:spPr>
              <a:xfrm>
                <a:off x="3149712" y="9842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multiscale_cnn__cnn_k3__cnn_k3_40__polygon_042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8" name="panel_a__multiscale_cnn__cnn_k3__polyline_013"/>
            <p:cNvSpPr/>
            <p:nvPr/>
          </p:nvSpPr>
          <p:spPr>
            <a:xfrm>
              <a:off x="3244495" y="91137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anel_a__multiscale_cnn__cnn_k3__polygon_043"/>
            <p:cNvSpPr/>
            <p:nvPr/>
          </p:nvSpPr>
          <p:spPr>
            <a:xfrm>
              <a:off x="3521553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module__pi_mscl_figure__panel_a__multiscale_cnn__cnn_k3__cnn_k3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1" name="multiscale_cnn__cnn_k3__cnn_k3_20__polygon_044"/>
              <p:cNvSpPr/>
              <p:nvPr/>
            </p:nvSpPr>
            <p:spPr>
              <a:xfrm>
                <a:off x="3499680" y="61244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multiscale_cnn__cnn_k3__cnn_k3_20__polygon_045"/>
              <p:cNvSpPr/>
              <p:nvPr/>
            </p:nvSpPr>
            <p:spPr>
              <a:xfrm>
                <a:off x="3536135" y="63431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multiscale_cnn__cnn_k3__cnn_k3_20__polygon_046"/>
              <p:cNvSpPr/>
              <p:nvPr/>
            </p:nvSpPr>
            <p:spPr>
              <a:xfrm>
                <a:off x="3572590" y="65619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multiscale_cnn__cnn_k3__cnn_k3_20__polygon_047"/>
              <p:cNvSpPr/>
              <p:nvPr/>
            </p:nvSpPr>
            <p:spPr>
              <a:xfrm>
                <a:off x="3609045" y="67806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multiscale_cnn__cnn_k3__cnn_k3_20__polygon_048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multiscale_cnn__cnn_k3__cnn_k3_20__polygon_049"/>
              <p:cNvSpPr/>
              <p:nvPr/>
            </p:nvSpPr>
            <p:spPr>
              <a:xfrm>
                <a:off x="3645500" y="72910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multiscale_cnn__cnn_k3__cnn_k3_20__polygon_050"/>
              <p:cNvSpPr/>
              <p:nvPr/>
            </p:nvSpPr>
            <p:spPr>
              <a:xfrm>
                <a:off x="3784029" y="72180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5A7D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multiscale_cnn__cnn_k3__cnn_k3_20__polygon_051"/>
              <p:cNvSpPr/>
              <p:nvPr/>
            </p:nvSpPr>
            <p:spPr>
              <a:xfrm>
                <a:off x="3922558" y="70722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AED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multiscale_cnn__cnn_k3__cnn_k3_20__polygon_052"/>
              <p:cNvSpPr/>
              <p:nvPr/>
            </p:nvSpPr>
            <p:spPr>
              <a:xfrm>
                <a:off x="4061087" y="69993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CB6D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multiscale_cnn__cnn_k3__cnn_k3_20__polygon_053"/>
              <p:cNvSpPr/>
              <p:nvPr/>
            </p:nvSpPr>
            <p:spPr>
              <a:xfrm>
                <a:off x="3645500" y="87492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8BDE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multiscale_cnn__cnn_k3__cnn_k3_20__polygon_054"/>
              <p:cNvSpPr/>
              <p:nvPr/>
            </p:nvSpPr>
            <p:spPr>
              <a:xfrm>
                <a:off x="3784029" y="86033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3C5E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multiscale_cnn__cnn_k3__cnn_k3_20__polygon_055"/>
              <p:cNvSpPr/>
              <p:nvPr/>
            </p:nvSpPr>
            <p:spPr>
              <a:xfrm>
                <a:off x="3922558" y="85304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FCCE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multiscale_cnn__cnn_k3__cnn_k3_20__polygon_056"/>
              <p:cNvSpPr/>
              <p:nvPr/>
            </p:nvSpPr>
            <p:spPr>
              <a:xfrm>
                <a:off x="4061087" y="8384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4E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multiscale_cnn__cnn_k3__cnn_k3_20__polygon_057"/>
              <p:cNvSpPr/>
              <p:nvPr/>
            </p:nvSpPr>
            <p:spPr>
              <a:xfrm>
                <a:off x="3645500" y="101344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DBF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multiscale_cnn__cnn_k3__cnn_k3_20__polygon_058"/>
              <p:cNvSpPr/>
              <p:nvPr/>
            </p:nvSpPr>
            <p:spPr>
              <a:xfrm>
                <a:off x="3784029" y="100615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1E3F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multiscale_cnn__cnn_k3__cnn_k3_20__polygon_059"/>
              <p:cNvSpPr/>
              <p:nvPr/>
            </p:nvSpPr>
            <p:spPr>
              <a:xfrm>
                <a:off x="3922558" y="99157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DEAF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ltiscale_cnn__cnn_k3__cnn_k3_20__polygon_060"/>
              <p:cNvSpPr/>
              <p:nvPr/>
            </p:nvSpPr>
            <p:spPr>
              <a:xfrm>
                <a:off x="4061087" y="9842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multiscale_cnn__cnn_k3__cnn_k3_20__polygon_061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" name="panel_a__multiscale_cnn__cnn_k3__polyline_014"/>
            <p:cNvSpPr/>
            <p:nvPr/>
          </p:nvSpPr>
          <p:spPr>
            <a:xfrm>
              <a:off x="4199616" y="91137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nel_a__multiscale_cnn__cnn_k3__polygon_062"/>
            <p:cNvSpPr/>
            <p:nvPr/>
          </p:nvSpPr>
          <p:spPr>
            <a:xfrm>
              <a:off x="4586039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1" name="module__pi_mscl_figure__panel_a__multiscale_cnn__cnn_k3__cnn_k3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2" name="multiscale_cnn__cnn_k3__cnn_k3_10__polygon_063"/>
              <p:cNvSpPr/>
              <p:nvPr/>
            </p:nvSpPr>
            <p:spPr>
              <a:xfrm>
                <a:off x="4564166" y="61244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multiscale_cnn__cnn_k3__cnn_k3_10__polygon_064"/>
              <p:cNvSpPr/>
              <p:nvPr/>
            </p:nvSpPr>
            <p:spPr>
              <a:xfrm>
                <a:off x="4600621" y="63431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multiscale_cnn__cnn_k3__cnn_k3_10__polygon_065"/>
              <p:cNvSpPr/>
              <p:nvPr/>
            </p:nvSpPr>
            <p:spPr>
              <a:xfrm>
                <a:off x="4637076" y="65619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multiscale_cnn__cnn_k3__cnn_k3_10__polygon_066"/>
              <p:cNvSpPr/>
              <p:nvPr/>
            </p:nvSpPr>
            <p:spPr>
              <a:xfrm>
                <a:off x="4673531" y="67806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multiscale_cnn__cnn_k3__cnn_k3_10__polygon_067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multiscale_cnn__cnn_k3__cnn_k3_10__polygon_068"/>
              <p:cNvSpPr/>
              <p:nvPr/>
            </p:nvSpPr>
            <p:spPr>
              <a:xfrm>
                <a:off x="4709986" y="72180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multiscale_cnn__cnn_k3__cnn_k3_10__polygon_069"/>
              <p:cNvSpPr/>
              <p:nvPr/>
            </p:nvSpPr>
            <p:spPr>
              <a:xfrm>
                <a:off x="4899552" y="69993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3B0DA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multiscale_cnn__cnn_k3__cnn_k3_10__polygon_070"/>
              <p:cNvSpPr/>
              <p:nvPr/>
            </p:nvSpPr>
            <p:spPr>
              <a:xfrm>
                <a:off x="4709986" y="86033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CC0E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ultiscale_cnn__cnn_k3__cnn_k3_10__polygon_071"/>
              <p:cNvSpPr/>
              <p:nvPr/>
            </p:nvSpPr>
            <p:spPr>
              <a:xfrm>
                <a:off x="4899552" y="83846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6D1E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ultiscale_cnn__cnn_k3__cnn_k3_10__polygon_072"/>
              <p:cNvSpPr/>
              <p:nvPr/>
            </p:nvSpPr>
            <p:spPr>
              <a:xfrm>
                <a:off x="4709986" y="100615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FE1F3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ultiscale_cnn__cnn_k3__cnn_k3_10__polygon_073"/>
              <p:cNvSpPr/>
              <p:nvPr/>
            </p:nvSpPr>
            <p:spPr>
              <a:xfrm>
                <a:off x="4899552" y="98428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ultiscale_cnn__cnn_k3__cnn_k3_10__polygon_074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" name="panel_a__multiscale_cnn__cnn_k3__text_013"/>
            <p:cNvSpPr txBox="1"/>
            <p:nvPr/>
          </p:nvSpPr>
          <p:spPr>
            <a:xfrm>
              <a:off x="2821952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175" name="panel_a__multiscale_cnn__cnn_k3__text_014"/>
            <p:cNvSpPr txBox="1"/>
            <p:nvPr/>
          </p:nvSpPr>
          <p:spPr>
            <a:xfrm>
              <a:off x="386468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176" name="panel_a__multiscale_cnn__cnn_k3__text_015"/>
            <p:cNvSpPr txBox="1"/>
            <p:nvPr/>
          </p:nvSpPr>
          <p:spPr>
            <a:xfrm>
              <a:off x="484179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177" name="module__pi_mscl_figure__panel_a__multiscale_cnn__cnn_k7"/>
          <p:cNvGrpSpPr/>
          <p:nvPr/>
        </p:nvGrpSpPr>
        <p:grpSpPr>
          <a:xfrm>
            <a:off x="0" y="0"/>
            <a:ext cx="4958467" cy="2180266"/>
            <a:chOff x="0" y="0"/>
            <a:chExt cx="4958467" cy="2180266"/>
          </a:xfrm>
        </p:grpSpPr>
        <p:sp>
          <p:nvSpPr>
            <p:cNvPr id="178" name="panel_a__multiscale_cnn__cnn_k7__text_016"/>
            <p:cNvSpPr txBox="1"/>
            <p:nvPr/>
          </p:nvSpPr>
          <p:spPr>
            <a:xfrm>
              <a:off x="1954220" y="1677129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148129"/>
                  </a:solidFill>
                  <a:latin typeface="Times New Roman"/>
                </a:rPr>
                <a:t>k = 7</a:t>
              </a:r>
            </a:p>
          </p:txBody>
        </p:sp>
        <p:grpSp>
          <p:nvGrpSpPr>
            <p:cNvPr id="179" name="module__pi_mscl_figure__panel_a__multiscale_cnn__cnn_k7__cnn_k7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multiscale_cnn__cnn_k7__cnn_k7_40__polygon_075"/>
              <p:cNvSpPr/>
              <p:nvPr/>
            </p:nvSpPr>
            <p:spPr>
              <a:xfrm>
                <a:off x="2369575" y="1450909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multiscale_cnn__cnn_k7__cnn_k7_40__polygon_076"/>
              <p:cNvSpPr/>
              <p:nvPr/>
            </p:nvSpPr>
            <p:spPr>
              <a:xfrm>
                <a:off x="2406030" y="1472782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multiscale_cnn__cnn_k7__cnn_k7_40__polygon_077"/>
              <p:cNvSpPr/>
              <p:nvPr/>
            </p:nvSpPr>
            <p:spPr>
              <a:xfrm>
                <a:off x="2442485" y="1494655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multiscale_cnn__cnn_k7__cnn_k7_40__polygon_078"/>
              <p:cNvSpPr/>
              <p:nvPr/>
            </p:nvSpPr>
            <p:spPr>
              <a:xfrm>
                <a:off x="2478940" y="1516528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multiscale_cnn__cnn_k7__cnn_k7_40__polygon_079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multiscale_cnn__cnn_k7__cnn_k7_40__polygon_080"/>
              <p:cNvSpPr/>
              <p:nvPr/>
            </p:nvSpPr>
            <p:spPr>
              <a:xfrm>
                <a:off x="2515395" y="157485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multiscale_cnn__cnn_k7__cnn_k7_40__polygon_081"/>
              <p:cNvSpPr/>
              <p:nvPr/>
            </p:nvSpPr>
            <p:spPr>
              <a:xfrm>
                <a:off x="2610178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CAD7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multiscale_cnn__cnn_k7__cnn_k7_40__polygon_082"/>
              <p:cNvSpPr/>
              <p:nvPr/>
            </p:nvSpPr>
            <p:spPr>
              <a:xfrm>
                <a:off x="2697670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1B17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multiscale_cnn__cnn_k7__cnn_k7_40__polygon_083"/>
              <p:cNvSpPr/>
              <p:nvPr/>
            </p:nvSpPr>
            <p:spPr>
              <a:xfrm>
                <a:off x="2785162" y="1560274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7B47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multiscale_cnn__cnn_k7__cnn_k7_40__polygon_084"/>
              <p:cNvSpPr/>
              <p:nvPr/>
            </p:nvSpPr>
            <p:spPr>
              <a:xfrm>
                <a:off x="2879945" y="155298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DB78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multiscale_cnn__cnn_k7__cnn_k7_40__polygon_085"/>
              <p:cNvSpPr/>
              <p:nvPr/>
            </p:nvSpPr>
            <p:spPr>
              <a:xfrm>
                <a:off x="2974728" y="1545692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3BA8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multiscale_cnn__cnn_k7__cnn_k7_40__polygon_086"/>
              <p:cNvSpPr/>
              <p:nvPr/>
            </p:nvSpPr>
            <p:spPr>
              <a:xfrm>
                <a:off x="3062220" y="154569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8BE8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multiscale_cnn__cnn_k7__cnn_k7_40__polygon_087"/>
              <p:cNvSpPr/>
              <p:nvPr/>
            </p:nvSpPr>
            <p:spPr>
              <a:xfrm>
                <a:off x="3149712" y="153840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EC19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multiscale_cnn__cnn_k7__cnn_k7_40__polygon_088"/>
              <p:cNvSpPr/>
              <p:nvPr/>
            </p:nvSpPr>
            <p:spPr>
              <a:xfrm>
                <a:off x="2515395" y="17133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4C49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multiscale_cnn__cnn_k7__cnn_k7_40__polygon_089"/>
              <p:cNvSpPr/>
              <p:nvPr/>
            </p:nvSpPr>
            <p:spPr>
              <a:xfrm>
                <a:off x="2610178" y="17133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AC79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multiscale_cnn__cnn_k7__cnn_k7_40__polygon_090"/>
              <p:cNvSpPr/>
              <p:nvPr/>
            </p:nvSpPr>
            <p:spPr>
              <a:xfrm>
                <a:off x="2697670" y="170609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FCBA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multiscale_cnn__cnn_k7__cnn_k7_40__polygon_091"/>
              <p:cNvSpPr/>
              <p:nvPr/>
            </p:nvSpPr>
            <p:spPr>
              <a:xfrm>
                <a:off x="2785162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5CEA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multiscale_cnn__cnn_k7__cnn_k7_40__polygon_092"/>
              <p:cNvSpPr/>
              <p:nvPr/>
            </p:nvSpPr>
            <p:spPr>
              <a:xfrm>
                <a:off x="2879945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BD1A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multiscale_cnn__cnn_k7__cnn_k7_40__polygon_093"/>
              <p:cNvSpPr/>
              <p:nvPr/>
            </p:nvSpPr>
            <p:spPr>
              <a:xfrm>
                <a:off x="2974728" y="169151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D4B3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multiscale_cnn__cnn_k7__cnn_k7_40__polygon_094"/>
              <p:cNvSpPr/>
              <p:nvPr/>
            </p:nvSpPr>
            <p:spPr>
              <a:xfrm>
                <a:off x="3062220" y="168422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D8B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multiscale_cnn__cnn_k7__cnn_k7_40__polygon_095"/>
              <p:cNvSpPr/>
              <p:nvPr/>
            </p:nvSpPr>
            <p:spPr>
              <a:xfrm>
                <a:off x="3149712" y="167693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BB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multiscale_cnn__cnn_k7__cnn_k7_40__polygon_096"/>
              <p:cNvSpPr/>
              <p:nvPr/>
            </p:nvSpPr>
            <p:spPr>
              <a:xfrm>
                <a:off x="2515395" y="185920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EC3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multiscale_cnn__cnn_k7__cnn_k7_40__polygon_097"/>
              <p:cNvSpPr/>
              <p:nvPr/>
            </p:nvSpPr>
            <p:spPr>
              <a:xfrm>
                <a:off x="2610178" y="185191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E1C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multiscale_cnn__cnn_k7__cnn_k7_40__polygon_098"/>
              <p:cNvSpPr/>
              <p:nvPr/>
            </p:nvSpPr>
            <p:spPr>
              <a:xfrm>
                <a:off x="2697670" y="1844623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5C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multiscale_cnn__cnn_k7__cnn_k7_40__polygon_099"/>
              <p:cNvSpPr/>
              <p:nvPr/>
            </p:nvSpPr>
            <p:spPr>
              <a:xfrm>
                <a:off x="2785162" y="184462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E8D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multiscale_cnn__cnn_k7__cnn_k7_40__polygon_100"/>
              <p:cNvSpPr/>
              <p:nvPr/>
            </p:nvSpPr>
            <p:spPr>
              <a:xfrm>
                <a:off x="2879945" y="1837332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9EBD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multiscale_cnn__cnn_k7__cnn_k7_40__polygon_101"/>
              <p:cNvSpPr/>
              <p:nvPr/>
            </p:nvSpPr>
            <p:spPr>
              <a:xfrm>
                <a:off x="2974728" y="183004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FEEDF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multiscale_cnn__cnn_k7__cnn_k7_40__polygon_102"/>
              <p:cNvSpPr/>
              <p:nvPr/>
            </p:nvSpPr>
            <p:spPr>
              <a:xfrm>
                <a:off x="3062220" y="18227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4F2E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multiscale_cnn__cnn_k7__cnn_k7_40__polygon_103"/>
              <p:cNvSpPr/>
              <p:nvPr/>
            </p:nvSpPr>
            <p:spPr>
              <a:xfrm>
                <a:off x="3149712" y="18227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multiscale_cnn__cnn_k7__cnn_k7_40__polygon_104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0" name="panel_a__multiscale_cnn__cnn_k7__polyline_015"/>
            <p:cNvSpPr/>
            <p:nvPr/>
          </p:nvSpPr>
          <p:spPr>
            <a:xfrm>
              <a:off x="3244495" y="1749840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anel_a__multiscale_cnn__cnn_k7__polygon_105"/>
            <p:cNvSpPr/>
            <p:nvPr/>
          </p:nvSpPr>
          <p:spPr>
            <a:xfrm>
              <a:off x="3521553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2" name="module__pi_mscl_figure__panel_a__multiscale_cnn__cnn_k7__cnn_k7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3" name="multiscale_cnn__cnn_k7__cnn_k7_20__polygon_106"/>
              <p:cNvSpPr/>
              <p:nvPr/>
            </p:nvSpPr>
            <p:spPr>
              <a:xfrm>
                <a:off x="3499680" y="1450909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multiscale_cnn__cnn_k7__cnn_k7_20__polygon_107"/>
              <p:cNvSpPr/>
              <p:nvPr/>
            </p:nvSpPr>
            <p:spPr>
              <a:xfrm>
                <a:off x="3536135" y="1472782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multiscale_cnn__cnn_k7__cnn_k7_20__polygon_108"/>
              <p:cNvSpPr/>
              <p:nvPr/>
            </p:nvSpPr>
            <p:spPr>
              <a:xfrm>
                <a:off x="3572590" y="1494655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multiscale_cnn__cnn_k7__cnn_k7_20__polygon_109"/>
              <p:cNvSpPr/>
              <p:nvPr/>
            </p:nvSpPr>
            <p:spPr>
              <a:xfrm>
                <a:off x="3609045" y="1516528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multiscale_cnn__cnn_k7__cnn_k7_20__polygon_110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multiscale_cnn__cnn_k7__cnn_k7_20__polygon_111"/>
              <p:cNvSpPr/>
              <p:nvPr/>
            </p:nvSpPr>
            <p:spPr>
              <a:xfrm>
                <a:off x="3645500" y="15675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multiscale_cnn__cnn_k7__cnn_k7_20__polygon_112"/>
              <p:cNvSpPr/>
              <p:nvPr/>
            </p:nvSpPr>
            <p:spPr>
              <a:xfrm>
                <a:off x="3784029" y="156027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2B17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multiscale_cnn__cnn_k7__cnn_k7_20__polygon_113"/>
              <p:cNvSpPr/>
              <p:nvPr/>
            </p:nvSpPr>
            <p:spPr>
              <a:xfrm>
                <a:off x="3922558" y="154569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EB88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multiscale_cnn__cnn_k7__cnn_k7_20__polygon_114"/>
              <p:cNvSpPr/>
              <p:nvPr/>
            </p:nvSpPr>
            <p:spPr>
              <a:xfrm>
                <a:off x="4061087" y="153840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BE8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multiscale_cnn__cnn_k7__cnn_k7_20__polygon_115"/>
              <p:cNvSpPr/>
              <p:nvPr/>
            </p:nvSpPr>
            <p:spPr>
              <a:xfrm>
                <a:off x="3645500" y="17133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C59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multiscale_cnn__cnn_k7__cnn_k7_20__polygon_116"/>
              <p:cNvSpPr/>
              <p:nvPr/>
            </p:nvSpPr>
            <p:spPr>
              <a:xfrm>
                <a:off x="3784029" y="1698803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2CCA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multiscale_cnn__cnn_k7__cnn_k7_20__polygon_117"/>
              <p:cNvSpPr/>
              <p:nvPr/>
            </p:nvSpPr>
            <p:spPr>
              <a:xfrm>
                <a:off x="3922558" y="169151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ED3B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multiscale_cnn__cnn_k7__cnn_k7_20__polygon_118"/>
              <p:cNvSpPr/>
              <p:nvPr/>
            </p:nvSpPr>
            <p:spPr>
              <a:xfrm>
                <a:off x="4061087" y="16769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AB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multiscale_cnn__cnn_k7__cnn_k7_20__polygon_119"/>
              <p:cNvSpPr/>
              <p:nvPr/>
            </p:nvSpPr>
            <p:spPr>
              <a:xfrm>
                <a:off x="3645500" y="185191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E1C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multiscale_cnn__cnn_k7__cnn_k7_20__polygon_120"/>
              <p:cNvSpPr/>
              <p:nvPr/>
            </p:nvSpPr>
            <p:spPr>
              <a:xfrm>
                <a:off x="3784029" y="1844623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7D3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multiscale_cnn__cnn_k7__cnn_k7_20__polygon_121"/>
              <p:cNvSpPr/>
              <p:nvPr/>
            </p:nvSpPr>
            <p:spPr>
              <a:xfrm>
                <a:off x="3922558" y="183004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EEED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multiscale_cnn__cnn_k7__cnn_k7_20__polygon_122"/>
              <p:cNvSpPr/>
              <p:nvPr/>
            </p:nvSpPr>
            <p:spPr>
              <a:xfrm>
                <a:off x="4061087" y="18227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multiscale_cnn__cnn_k7__cnn_k7_20__polygon_123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1" name="panel_a__multiscale_cnn__cnn_k7__polyline_016"/>
            <p:cNvSpPr/>
            <p:nvPr/>
          </p:nvSpPr>
          <p:spPr>
            <a:xfrm>
              <a:off x="4199616" y="1749840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nel_a__multiscale_cnn__cnn_k7__polygon_124"/>
            <p:cNvSpPr/>
            <p:nvPr/>
          </p:nvSpPr>
          <p:spPr>
            <a:xfrm>
              <a:off x="4586039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3" name="module__pi_mscl_figure__panel_a__multiscale_cnn__cnn_k7__cnn_k7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4" name="multiscale_cnn__cnn_k7__cnn_k7_10__polygon_125"/>
              <p:cNvSpPr/>
              <p:nvPr/>
            </p:nvSpPr>
            <p:spPr>
              <a:xfrm>
                <a:off x="4564166" y="1450909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multiscale_cnn__cnn_k7__cnn_k7_10__polygon_126"/>
              <p:cNvSpPr/>
              <p:nvPr/>
            </p:nvSpPr>
            <p:spPr>
              <a:xfrm>
                <a:off x="4600621" y="1472782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multiscale_cnn__cnn_k7__cnn_k7_10__polygon_127"/>
              <p:cNvSpPr/>
              <p:nvPr/>
            </p:nvSpPr>
            <p:spPr>
              <a:xfrm>
                <a:off x="4637076" y="1494655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multiscale_cnn__cnn_k7__cnn_k7_10__polygon_128"/>
              <p:cNvSpPr/>
              <p:nvPr/>
            </p:nvSpPr>
            <p:spPr>
              <a:xfrm>
                <a:off x="4673531" y="1516528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multiscale_cnn__cnn_k7__cnn_k7_10__polygon_129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multiscale_cnn__cnn_k7__cnn_k7_10__polygon_130"/>
              <p:cNvSpPr/>
              <p:nvPr/>
            </p:nvSpPr>
            <p:spPr>
              <a:xfrm>
                <a:off x="4709986" y="1560274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multiscale_cnn__cnn_k7__cnn_k7_10__polygon_131"/>
              <p:cNvSpPr/>
              <p:nvPr/>
            </p:nvSpPr>
            <p:spPr>
              <a:xfrm>
                <a:off x="4899552" y="1538401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B98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multiscale_cnn__cnn_k7__cnn_k7_10__polygon_132"/>
              <p:cNvSpPr/>
              <p:nvPr/>
            </p:nvSpPr>
            <p:spPr>
              <a:xfrm>
                <a:off x="4709986" y="169880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BC89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multiscale_cnn__cnn_k7__cnn_k7_10__polygon_133"/>
              <p:cNvSpPr/>
              <p:nvPr/>
            </p:nvSpPr>
            <p:spPr>
              <a:xfrm>
                <a:off x="4899552" y="1676930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5D7B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multiscale_cnn__cnn_k7__cnn_k7_10__polygon_134"/>
              <p:cNvSpPr/>
              <p:nvPr/>
            </p:nvSpPr>
            <p:spPr>
              <a:xfrm>
                <a:off x="4709986" y="184462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0E6D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multiscale_cnn__cnn_k7__cnn_k7_10__polygon_135"/>
              <p:cNvSpPr/>
              <p:nvPr/>
            </p:nvSpPr>
            <p:spPr>
              <a:xfrm>
                <a:off x="4899552" y="1822750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multiscale_cnn__cnn_k7__cnn_k7_10__polygon_136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6" name="panel_a__multiscale_cnn__cnn_k7__text_017"/>
            <p:cNvSpPr txBox="1"/>
            <p:nvPr/>
          </p:nvSpPr>
          <p:spPr>
            <a:xfrm>
              <a:off x="2821952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247" name="panel_a__multiscale_cnn__cnn_k7__text_018"/>
            <p:cNvSpPr txBox="1"/>
            <p:nvPr/>
          </p:nvSpPr>
          <p:spPr>
            <a:xfrm>
              <a:off x="386468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248" name="panel_a__multiscale_cnn__cnn_k7__text_019"/>
            <p:cNvSpPr txBox="1"/>
            <p:nvPr/>
          </p:nvSpPr>
          <p:spPr>
            <a:xfrm>
              <a:off x="484179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249" name="module__pi_mscl_figure__panel_a__multiscale_cnn__cnn_k15"/>
          <p:cNvGrpSpPr/>
          <p:nvPr/>
        </p:nvGrpSpPr>
        <p:grpSpPr>
          <a:xfrm>
            <a:off x="0" y="0"/>
            <a:ext cx="4958467" cy="3018831"/>
            <a:chOff x="0" y="0"/>
            <a:chExt cx="4958467" cy="3018831"/>
          </a:xfrm>
        </p:grpSpPr>
        <p:sp>
          <p:nvSpPr>
            <p:cNvPr id="250" name="panel_a__multiscale_cnn__cnn_k15__text_020"/>
            <p:cNvSpPr txBox="1"/>
            <p:nvPr/>
          </p:nvSpPr>
          <p:spPr>
            <a:xfrm>
              <a:off x="1895885" y="2515693"/>
              <a:ext cx="32084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6842A2"/>
                  </a:solidFill>
                  <a:latin typeface="Times New Roman"/>
                </a:rPr>
                <a:t>k = 15</a:t>
              </a:r>
            </a:p>
          </p:txBody>
        </p:sp>
        <p:grpSp>
          <p:nvGrpSpPr>
            <p:cNvPr id="251" name="module__pi_mscl_figure__panel_a__multiscale_cnn__cnn_k15__cnn_k15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2" name="multiscale_cnn__cnn_k15__cnn_k15_40__polygon_137"/>
              <p:cNvSpPr/>
              <p:nvPr/>
            </p:nvSpPr>
            <p:spPr>
              <a:xfrm>
                <a:off x="2369575" y="228937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multiscale_cnn__cnn_k15__cnn_k15_40__polygon_138"/>
              <p:cNvSpPr/>
              <p:nvPr/>
            </p:nvSpPr>
            <p:spPr>
              <a:xfrm>
                <a:off x="2406030" y="231124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multiscale_cnn__cnn_k15__cnn_k15_40__polygon_139"/>
              <p:cNvSpPr/>
              <p:nvPr/>
            </p:nvSpPr>
            <p:spPr>
              <a:xfrm>
                <a:off x="2442485" y="233312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multiscale_cnn__cnn_k15__cnn_k15_40__polygon_140"/>
              <p:cNvSpPr/>
              <p:nvPr/>
            </p:nvSpPr>
            <p:spPr>
              <a:xfrm>
                <a:off x="2478940" y="235499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multiscale_cnn__cnn_k15__cnn_k15_40__polygon_141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multiscale_cnn__cnn_k15__cnn_k15_40__polygon_142"/>
              <p:cNvSpPr/>
              <p:nvPr/>
            </p:nvSpPr>
            <p:spPr>
              <a:xfrm>
                <a:off x="2515395" y="241332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multiscale_cnn__cnn_k15__cnn_k15_40__polygon_143"/>
              <p:cNvSpPr/>
              <p:nvPr/>
            </p:nvSpPr>
            <p:spPr>
              <a:xfrm>
                <a:off x="2610178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56AB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multiscale_cnn__cnn_k15__cnn_k15_40__polygon_144"/>
              <p:cNvSpPr/>
              <p:nvPr/>
            </p:nvSpPr>
            <p:spPr>
              <a:xfrm>
                <a:off x="2697670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multiscale_cnn__cnn_k15__cnn_k15_40__polygon_145"/>
              <p:cNvSpPr/>
              <p:nvPr/>
            </p:nvSpPr>
            <p:spPr>
              <a:xfrm>
                <a:off x="2785162" y="239873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F76B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multiscale_cnn__cnn_k15__cnn_k15_40__polygon_146"/>
              <p:cNvSpPr/>
              <p:nvPr/>
            </p:nvSpPr>
            <p:spPr>
              <a:xfrm>
                <a:off x="2879945" y="239144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37CC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multiscale_cnn__cnn_k15__cnn_k15_40__polygon_147"/>
              <p:cNvSpPr/>
              <p:nvPr/>
            </p:nvSpPr>
            <p:spPr>
              <a:xfrm>
                <a:off x="2974728" y="238415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882C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multiscale_cnn__cnn_k15__cnn_k15_40__polygon_148"/>
              <p:cNvSpPr/>
              <p:nvPr/>
            </p:nvSpPr>
            <p:spPr>
              <a:xfrm>
                <a:off x="3062220" y="238415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D87C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multiscale_cnn__cnn_k15__cnn_k15_40__polygon_149"/>
              <p:cNvSpPr/>
              <p:nvPr/>
            </p:nvSpPr>
            <p:spPr>
              <a:xfrm>
                <a:off x="3149712" y="237686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28DC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multiscale_cnn__cnn_k15__cnn_k15_40__polygon_150"/>
              <p:cNvSpPr/>
              <p:nvPr/>
            </p:nvSpPr>
            <p:spPr>
              <a:xfrm>
                <a:off x="2515395" y="25518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793C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multiscale_cnn__cnn_k15__cnn_k15_40__polygon_151"/>
              <p:cNvSpPr/>
              <p:nvPr/>
            </p:nvSpPr>
            <p:spPr>
              <a:xfrm>
                <a:off x="2610178" y="25518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99CF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multiscale_cnn__cnn_k15__cnn_k15_40__polygon_152"/>
              <p:cNvSpPr/>
              <p:nvPr/>
            </p:nvSpPr>
            <p:spPr>
              <a:xfrm>
                <a:off x="2697670" y="254455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9FD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multiscale_cnn__cnn_k15__cnn_k15_40__polygon_153"/>
              <p:cNvSpPr/>
              <p:nvPr/>
            </p:nvSpPr>
            <p:spPr>
              <a:xfrm>
                <a:off x="2785162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A5D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multiscale_cnn__cnn_k15__cnn_k15_40__polygon_154"/>
              <p:cNvSpPr/>
              <p:nvPr/>
            </p:nvSpPr>
            <p:spPr>
              <a:xfrm>
                <a:off x="2879945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AABD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multiscale_cnn__cnn_k15__cnn_k15_40__polygon_155"/>
              <p:cNvSpPr/>
              <p:nvPr/>
            </p:nvSpPr>
            <p:spPr>
              <a:xfrm>
                <a:off x="2974728" y="252997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FB1D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multiscale_cnn__cnn_k15__cnn_k15_40__polygon_156"/>
              <p:cNvSpPr/>
              <p:nvPr/>
            </p:nvSpPr>
            <p:spPr>
              <a:xfrm>
                <a:off x="3062220" y="252268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4B7DE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multiscale_cnn__cnn_k15__cnn_k15_40__polygon_157"/>
              <p:cNvSpPr/>
              <p:nvPr/>
            </p:nvSpPr>
            <p:spPr>
              <a:xfrm>
                <a:off x="3149712" y="251539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9BDE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multiscale_cnn__cnn_k15__cnn_k15_40__polygon_158"/>
              <p:cNvSpPr/>
              <p:nvPr/>
            </p:nvSpPr>
            <p:spPr>
              <a:xfrm>
                <a:off x="2515395" y="269767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EC3E4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multiscale_cnn__cnn_k15__cnn_k15_40__polygon_159"/>
              <p:cNvSpPr/>
              <p:nvPr/>
            </p:nvSpPr>
            <p:spPr>
              <a:xfrm>
                <a:off x="2610178" y="269037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C9E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multiscale_cnn__cnn_k15__cnn_k15_40__polygon_160"/>
              <p:cNvSpPr/>
              <p:nvPr/>
            </p:nvSpPr>
            <p:spPr>
              <a:xfrm>
                <a:off x="2697670" y="268308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CEE9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multiscale_cnn__cnn_k15__cnn_k15_40__polygon_161"/>
              <p:cNvSpPr/>
              <p:nvPr/>
            </p:nvSpPr>
            <p:spPr>
              <a:xfrm>
                <a:off x="2785162" y="268308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D4E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multiscale_cnn__cnn_k15__cnn_k15_40__polygon_162"/>
              <p:cNvSpPr/>
              <p:nvPr/>
            </p:nvSpPr>
            <p:spPr>
              <a:xfrm>
                <a:off x="2879945" y="267579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1DAEF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multiscale_cnn__cnn_k15__cnn_k15_40__polygon_163"/>
              <p:cNvSpPr/>
              <p:nvPr/>
            </p:nvSpPr>
            <p:spPr>
              <a:xfrm>
                <a:off x="2974728" y="266850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multiscale_cnn__cnn_k15__cnn_k15_40__polygon_164"/>
              <p:cNvSpPr/>
              <p:nvPr/>
            </p:nvSpPr>
            <p:spPr>
              <a:xfrm>
                <a:off x="3062220" y="266121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BE6F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multiscale_cnn__cnn_k15__cnn_k15_40__polygon_165"/>
              <p:cNvSpPr/>
              <p:nvPr/>
            </p:nvSpPr>
            <p:spPr>
              <a:xfrm>
                <a:off x="3149712" y="266121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multiscale_cnn__cnn_k15__cnn_k15_40__polygon_166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2" name="panel_a__multiscale_cnn__cnn_k15__polyline_017"/>
            <p:cNvSpPr/>
            <p:nvPr/>
          </p:nvSpPr>
          <p:spPr>
            <a:xfrm>
              <a:off x="3244495" y="258830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nel_a__multiscale_cnn__cnn_k15__polygon_167"/>
            <p:cNvSpPr/>
            <p:nvPr/>
          </p:nvSpPr>
          <p:spPr>
            <a:xfrm>
              <a:off x="3521553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module__pi_mscl_figure__panel_a__multiscale_cnn__cnn_k15__cnn_k15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multiscale_cnn__cnn_k15__cnn_k15_20__polygon_168"/>
              <p:cNvSpPr/>
              <p:nvPr/>
            </p:nvSpPr>
            <p:spPr>
              <a:xfrm>
                <a:off x="3499680" y="228937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multiscale_cnn__cnn_k15__cnn_k15_20__polygon_169"/>
              <p:cNvSpPr/>
              <p:nvPr/>
            </p:nvSpPr>
            <p:spPr>
              <a:xfrm>
                <a:off x="3536135" y="231124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multiscale_cnn__cnn_k15__cnn_k15_20__polygon_170"/>
              <p:cNvSpPr/>
              <p:nvPr/>
            </p:nvSpPr>
            <p:spPr>
              <a:xfrm>
                <a:off x="3572590" y="233312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multiscale_cnn__cnn_k15__cnn_k15_20__polygon_171"/>
              <p:cNvSpPr/>
              <p:nvPr/>
            </p:nvSpPr>
            <p:spPr>
              <a:xfrm>
                <a:off x="3609045" y="235499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multiscale_cnn__cnn_k15__cnn_k15_20__polygon_172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multiscale_cnn__cnn_k15__cnn_k15_20__polygon_173"/>
              <p:cNvSpPr/>
              <p:nvPr/>
            </p:nvSpPr>
            <p:spPr>
              <a:xfrm>
                <a:off x="3645500" y="24060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multiscale_cnn__cnn_k15__cnn_k15_20__polygon_174"/>
              <p:cNvSpPr/>
              <p:nvPr/>
            </p:nvSpPr>
            <p:spPr>
              <a:xfrm>
                <a:off x="3784029" y="239873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multiscale_cnn__cnn_k15__cnn_k15_20__polygon_175"/>
              <p:cNvSpPr/>
              <p:nvPr/>
            </p:nvSpPr>
            <p:spPr>
              <a:xfrm>
                <a:off x="3922558" y="238415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47DC1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multiscale_cnn__cnn_k15__cnn_k15_20__polygon_176"/>
              <p:cNvSpPr/>
              <p:nvPr/>
            </p:nvSpPr>
            <p:spPr>
              <a:xfrm>
                <a:off x="4061087" y="237686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F89C7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multiscale_cnn__cnn_k15__cnn_k15_20__polygon_177"/>
              <p:cNvSpPr/>
              <p:nvPr/>
            </p:nvSpPr>
            <p:spPr>
              <a:xfrm>
                <a:off x="3645500" y="25518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995C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multiscale_cnn__cnn_k15__cnn_k15_20__polygon_178"/>
              <p:cNvSpPr/>
              <p:nvPr/>
            </p:nvSpPr>
            <p:spPr>
              <a:xfrm>
                <a:off x="3784029" y="253726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3A2D3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multiscale_cnn__cnn_k15__cnn_k15_20__polygon_179"/>
              <p:cNvSpPr/>
              <p:nvPr/>
            </p:nvSpPr>
            <p:spPr>
              <a:xfrm>
                <a:off x="3922558" y="252997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DAEDA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multiscale_cnn__cnn_k15__cnn_k15_20__polygon_180"/>
              <p:cNvSpPr/>
              <p:nvPr/>
            </p:nvSpPr>
            <p:spPr>
              <a:xfrm>
                <a:off x="4061087" y="251539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7BBE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multiscale_cnn__cnn_k15__cnn_k15_20__polygon_181"/>
              <p:cNvSpPr/>
              <p:nvPr/>
            </p:nvSpPr>
            <p:spPr>
              <a:xfrm>
                <a:off x="3645500" y="269037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1C7E6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multiscale_cnn__cnn_k15__cnn_k15_20__polygon_182"/>
              <p:cNvSpPr/>
              <p:nvPr/>
            </p:nvSpPr>
            <p:spPr>
              <a:xfrm>
                <a:off x="3784029" y="268308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CD3EC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multiscale_cnn__cnn_k15__cnn_k15_20__polygon_183"/>
              <p:cNvSpPr/>
              <p:nvPr/>
            </p:nvSpPr>
            <p:spPr>
              <a:xfrm>
                <a:off x="3922558" y="266850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multiscale_cnn__cnn_k15__cnn_k15_20__polygon_184"/>
              <p:cNvSpPr/>
              <p:nvPr/>
            </p:nvSpPr>
            <p:spPr>
              <a:xfrm>
                <a:off x="4061087" y="266121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multiscale_cnn__cnn_k15__cnn_k15_20__polygon_185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3" name="panel_a__multiscale_cnn__cnn_k15__polyline_018"/>
            <p:cNvSpPr/>
            <p:nvPr/>
          </p:nvSpPr>
          <p:spPr>
            <a:xfrm>
              <a:off x="4199616" y="258830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nel_a__multiscale_cnn__cnn_k15__polygon_186"/>
            <p:cNvSpPr/>
            <p:nvPr/>
          </p:nvSpPr>
          <p:spPr>
            <a:xfrm>
              <a:off x="4586039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5" name="module__pi_mscl_figure__panel_a__multiscale_cnn__cnn_k15__cnn_k15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multiscale_cnn__cnn_k15__cnn_k15_10__polygon_187"/>
              <p:cNvSpPr/>
              <p:nvPr/>
            </p:nvSpPr>
            <p:spPr>
              <a:xfrm>
                <a:off x="4564166" y="228937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>
                    <a:alpha val="30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multiscale_cnn__cnn_k15__cnn_k15_10__polygon_188"/>
              <p:cNvSpPr/>
              <p:nvPr/>
            </p:nvSpPr>
            <p:spPr>
              <a:xfrm>
                <a:off x="4600621" y="231124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>
                    <a:alpha val="43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multiscale_cnn__cnn_k15__cnn_k15_10__polygon_189"/>
              <p:cNvSpPr/>
              <p:nvPr/>
            </p:nvSpPr>
            <p:spPr>
              <a:xfrm>
                <a:off x="4637076" y="233312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>
                    <a:alpha val="5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multiscale_cnn__cnn_k15__cnn_k15_10__polygon_190"/>
              <p:cNvSpPr/>
              <p:nvPr/>
            </p:nvSpPr>
            <p:spPr>
              <a:xfrm>
                <a:off x="4673531" y="235499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>
                    <a:alpha val="69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multiscale_cnn__cnn_k15__cnn_k15_10__polygon_191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>
                    <a:alpha val="82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multiscale_cnn__cnn_k15__cnn_k15_10__polygon_192"/>
              <p:cNvSpPr/>
              <p:nvPr/>
            </p:nvSpPr>
            <p:spPr>
              <a:xfrm>
                <a:off x="4709986" y="239873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multiscale_cnn__cnn_k15__cnn_k15_10__polygon_193"/>
              <p:cNvSpPr/>
              <p:nvPr/>
            </p:nvSpPr>
            <p:spPr>
              <a:xfrm>
                <a:off x="4899552" y="237686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67FC2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multiscale_cnn__cnn_k15__cnn_k15_10__polygon_194"/>
              <p:cNvSpPr/>
              <p:nvPr/>
            </p:nvSpPr>
            <p:spPr>
              <a:xfrm>
                <a:off x="4709986" y="253726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AD9AD0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multiscale_cnn__cnn_k15__cnn_k15_10__polygon_195"/>
              <p:cNvSpPr/>
              <p:nvPr/>
            </p:nvSpPr>
            <p:spPr>
              <a:xfrm>
                <a:off x="4899552" y="251539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3B6DD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multiscale_cnn__cnn_k15__cnn_k15_10__polygon_196"/>
              <p:cNvSpPr/>
              <p:nvPr/>
            </p:nvSpPr>
            <p:spPr>
              <a:xfrm>
                <a:off x="4709986" y="268308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AD1EB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multiscale_cnn__cnn_k15__cnn_k15_10__polygon_197"/>
              <p:cNvSpPr/>
              <p:nvPr/>
            </p:nvSpPr>
            <p:spPr>
              <a:xfrm>
                <a:off x="4899552" y="266121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>
                    <a:alpha val="96000"/>
                  </a:srgbClr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ultiscale_cnn__cnn_k15__cnn_k15_10__polygon_198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8" name="panel_a__multiscale_cnn__cnn_k15__text_021"/>
            <p:cNvSpPr txBox="1"/>
            <p:nvPr/>
          </p:nvSpPr>
          <p:spPr>
            <a:xfrm>
              <a:off x="2821952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319" name="panel_a__multiscale_cnn__cnn_k15__text_022"/>
            <p:cNvSpPr txBox="1"/>
            <p:nvPr/>
          </p:nvSpPr>
          <p:spPr>
            <a:xfrm>
              <a:off x="386468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320" name="panel_a__multiscale_cnn__cnn_k15__text_023"/>
            <p:cNvSpPr txBox="1"/>
            <p:nvPr/>
          </p:nvSpPr>
          <p:spPr>
            <a:xfrm>
              <a:off x="484179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321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23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25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grpSp>
        <p:nvGrpSpPr>
          <p:cNvPr id="327" name="module__pi_mscl_figure__panel_a__fusion"/>
          <p:cNvGrpSpPr/>
          <p:nvPr/>
        </p:nvGrpSpPr>
        <p:grpSpPr>
          <a:xfrm>
            <a:off x="5702239" y="1268634"/>
            <a:ext cx="1515851" cy="1392896"/>
            <a:chOff x="5702239" y="1268634"/>
            <a:chExt cx="1515851" cy="1392896"/>
          </a:xfrm>
        </p:grpSpPr>
        <p:sp>
          <p:nvSpPr>
            <p:cNvPr id="328" name="pi_mscl_figure__panel_a__fusion__rect_068"/>
            <p:cNvSpPr/>
            <p:nvPr/>
          </p:nvSpPr>
          <p:spPr>
            <a:xfrm>
              <a:off x="5702239" y="1436497"/>
              <a:ext cx="729186" cy="998985"/>
            </a:xfrm>
            <a:prstGeom prst="roundRect">
              <a:avLst>
                <a:gd name="adj" fmla="val 10000"/>
              </a:avLst>
            </a:prstGeom>
            <a:solidFill>
              <a:srgbClr val="EDF4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i_mscl_figure__panel_a__fusion__text_027"/>
            <p:cNvSpPr txBox="1"/>
            <p:nvPr/>
          </p:nvSpPr>
          <p:spPr>
            <a:xfrm>
              <a:off x="5924641" y="1677129"/>
              <a:ext cx="28438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Fuse</a:t>
              </a:r>
            </a:p>
          </p:txBody>
        </p:sp>
        <p:sp>
          <p:nvSpPr>
            <p:cNvPr id="330" name="pi_mscl_figure__panel_a__fusion__text_028"/>
            <p:cNvSpPr txBox="1"/>
            <p:nvPr/>
          </p:nvSpPr>
          <p:spPr>
            <a:xfrm>
              <a:off x="5804325" y="1881301"/>
              <a:ext cx="52501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0">
                  <a:solidFill>
                    <a:srgbClr val="111111"/>
                  </a:solidFill>
                  <a:latin typeface="Arial"/>
                </a:rPr>
                <a:t>1 × 1 Conv</a:t>
              </a:r>
            </a:p>
          </p:txBody>
        </p:sp>
        <p:sp>
          <p:nvSpPr>
            <p:cNvPr id="331" name="pi_mscl_figure__panel_a__fusion__text_029"/>
            <p:cNvSpPr txBox="1"/>
            <p:nvPr/>
          </p:nvSpPr>
          <p:spPr>
            <a:xfrm>
              <a:off x="5844430" y="2078181"/>
              <a:ext cx="444803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0756A0"/>
                  </a:solidFill>
                  <a:latin typeface="Arial"/>
                </a:rPr>
                <a:t>(128 ch.)</a:t>
              </a:r>
            </a:p>
          </p:txBody>
        </p:sp>
        <p:sp>
          <p:nvSpPr>
            <p:cNvPr id="332" name="pi_mscl_figure__panel_a__fusion__polygon_199"/>
            <p:cNvSpPr/>
            <p:nvPr/>
          </p:nvSpPr>
          <p:spPr>
            <a:xfrm>
              <a:off x="6795212" y="1268634"/>
              <a:ext cx="422878" cy="167693"/>
            </a:xfrm>
            <a:custGeom>
              <a:avLst/>
              <a:gdLst/>
              <a:ahLst/>
              <a:cxnLst/>
              <a:rect l="l" t="t" r="r" b="b"/>
              <a:pathLst>
                <a:path w="58" h="23">
                  <a:moveTo>
                    <a:pt x="0" y="23"/>
                  </a:moveTo>
                  <a:lnTo>
                    <a:pt x="42" y="16"/>
                  </a:lnTo>
                  <a:lnTo>
                    <a:pt x="58" y="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rgbClr val="D7E8F4">
                <a:alpha val="86000"/>
              </a:srgbClr>
            </a:solidFill>
            <a:ln w="5833">
              <a:solidFill>
                <a:srgbClr val="6D8EA7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i_mscl_figure__panel_a__fusion__polygon_200"/>
            <p:cNvSpPr/>
            <p:nvPr/>
          </p:nvSpPr>
          <p:spPr>
            <a:xfrm>
              <a:off x="7101434" y="1268634"/>
              <a:ext cx="116656" cy="1166560"/>
            </a:xfrm>
            <a:custGeom>
              <a:avLst/>
              <a:gdLst/>
              <a:ahLst/>
              <a:cxnLst/>
              <a:rect l="l" t="t" r="r" b="b"/>
              <a:pathLst>
                <a:path w="16" h="160">
                  <a:moveTo>
                    <a:pt x="0" y="16"/>
                  </a:moveTo>
                  <a:lnTo>
                    <a:pt x="16" y="0"/>
                  </a:lnTo>
                  <a:lnTo>
                    <a:pt x="16" y="14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9EBBD0">
                <a:alpha val="72000"/>
              </a:srgbClr>
            </a:solidFill>
            <a:ln w="6562">
              <a:solidFill>
                <a:srgbClr val="557994">
                  <a:alpha val="72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i_mscl_figure__panel_a__fusion__polygon_201"/>
            <p:cNvSpPr/>
            <p:nvPr/>
          </p:nvSpPr>
          <p:spPr>
            <a:xfrm>
              <a:off x="6911868" y="1268634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34000"/>
              </a:srgbClr>
            </a:solidFill>
            <a:ln w="6927">
              <a:solidFill>
                <a:srgbClr val="557994">
                  <a:alpha val="34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i_mscl_figure__panel_a__fusion__polygon_202"/>
            <p:cNvSpPr/>
            <p:nvPr/>
          </p:nvSpPr>
          <p:spPr>
            <a:xfrm>
              <a:off x="6882704" y="1297798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47000"/>
              </a:srgbClr>
            </a:solidFill>
            <a:ln w="6927">
              <a:solidFill>
                <a:srgbClr val="557994">
                  <a:alpha val="47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i_mscl_figure__panel_a__fusion__polygon_203"/>
            <p:cNvSpPr/>
            <p:nvPr/>
          </p:nvSpPr>
          <p:spPr>
            <a:xfrm>
              <a:off x="6853540" y="1326962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60000"/>
              </a:srgbClr>
            </a:solidFill>
            <a:ln w="6927">
              <a:solidFill>
                <a:srgbClr val="557994">
                  <a:alpha val="60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i_mscl_figure__panel_a__fusion__polygon_204"/>
            <p:cNvSpPr/>
            <p:nvPr/>
          </p:nvSpPr>
          <p:spPr>
            <a:xfrm>
              <a:off x="6824376" y="1356126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73000"/>
              </a:srgbClr>
            </a:solidFill>
            <a:ln w="6927">
              <a:solidFill>
                <a:srgbClr val="557994">
                  <a:alpha val="73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i_mscl_figure__panel_a__fusion__polygon_205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86000"/>
              </a:srgbClr>
            </a:solidFill>
            <a:ln w="6927">
              <a:solidFill>
                <a:srgbClr val="557994">
                  <a:alpha val="86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i_mscl_figure__panel_a__fusion__polygon_206"/>
            <p:cNvSpPr/>
            <p:nvPr/>
          </p:nvSpPr>
          <p:spPr>
            <a:xfrm>
              <a:off x="6795212" y="141445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FC1DD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i_mscl_figure__panel_a__fusion__polygon_207"/>
            <p:cNvSpPr/>
            <p:nvPr/>
          </p:nvSpPr>
          <p:spPr>
            <a:xfrm>
              <a:off x="6948323" y="138529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3C4DE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i_mscl_figure__panel_a__fusion__polygon_208"/>
            <p:cNvSpPr/>
            <p:nvPr/>
          </p:nvSpPr>
          <p:spPr>
            <a:xfrm>
              <a:off x="6795212" y="152381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7C6E0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i_mscl_figure__panel_a__fusion__polygon_209"/>
            <p:cNvSpPr/>
            <p:nvPr/>
          </p:nvSpPr>
          <p:spPr>
            <a:xfrm>
              <a:off x="6948323" y="149465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BC9E1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i_mscl_figure__panel_a__fusion__polygon_210"/>
            <p:cNvSpPr/>
            <p:nvPr/>
          </p:nvSpPr>
          <p:spPr>
            <a:xfrm>
              <a:off x="6795212" y="163318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ECBE3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i_mscl_figure__panel_a__fusion__polygon_211"/>
            <p:cNvSpPr/>
            <p:nvPr/>
          </p:nvSpPr>
          <p:spPr>
            <a:xfrm>
              <a:off x="6948323" y="160402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2CEE4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i_mscl_figure__panel_a__fusion__polygon_212"/>
            <p:cNvSpPr/>
            <p:nvPr/>
          </p:nvSpPr>
          <p:spPr>
            <a:xfrm>
              <a:off x="6795212" y="174254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6D0E6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i_mscl_figure__panel_a__fusion__polygon_213"/>
            <p:cNvSpPr/>
            <p:nvPr/>
          </p:nvSpPr>
          <p:spPr>
            <a:xfrm>
              <a:off x="6948323" y="171338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AD3E7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i_mscl_figure__panel_a__fusion__polygon_214"/>
            <p:cNvSpPr/>
            <p:nvPr/>
          </p:nvSpPr>
          <p:spPr>
            <a:xfrm>
              <a:off x="6795212" y="185191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ED6E8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i_mscl_figure__panel_a__fusion__polygon_215"/>
            <p:cNvSpPr/>
            <p:nvPr/>
          </p:nvSpPr>
          <p:spPr>
            <a:xfrm>
              <a:off x="6948323" y="182275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6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2D8EA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i_mscl_figure__panel_a__fusion__polygon_216"/>
            <p:cNvSpPr/>
            <p:nvPr/>
          </p:nvSpPr>
          <p:spPr>
            <a:xfrm>
              <a:off x="6795212" y="196127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5DBEB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i_mscl_figure__panel_a__fusion__polygon_217"/>
            <p:cNvSpPr/>
            <p:nvPr/>
          </p:nvSpPr>
          <p:spPr>
            <a:xfrm>
              <a:off x="6948323" y="193940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9DDED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i_mscl_figure__panel_a__fusion__polygon_218"/>
            <p:cNvSpPr/>
            <p:nvPr/>
          </p:nvSpPr>
          <p:spPr>
            <a:xfrm>
              <a:off x="6795212" y="207064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DE0EE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i_mscl_figure__panel_a__fusion__polygon_219"/>
            <p:cNvSpPr/>
            <p:nvPr/>
          </p:nvSpPr>
          <p:spPr>
            <a:xfrm>
              <a:off x="6948323" y="204877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1E3EF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_mscl_figure__panel_a__fusion__polygon_220"/>
            <p:cNvSpPr/>
            <p:nvPr/>
          </p:nvSpPr>
          <p:spPr>
            <a:xfrm>
              <a:off x="6795212" y="218000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5E5F1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i_mscl_figure__panel_a__fusion__polygon_221"/>
            <p:cNvSpPr/>
            <p:nvPr/>
          </p:nvSpPr>
          <p:spPr>
            <a:xfrm>
              <a:off x="6948323" y="215813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9E8F2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_mscl_figure__panel_a__fusion__polygon_222"/>
            <p:cNvSpPr/>
            <p:nvPr/>
          </p:nvSpPr>
          <p:spPr>
            <a:xfrm>
              <a:off x="6795212" y="228937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CEAF4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i_mscl_figure__panel_a__fusion__polygon_223"/>
            <p:cNvSpPr/>
            <p:nvPr/>
          </p:nvSpPr>
          <p:spPr>
            <a:xfrm>
              <a:off x="6948323" y="226750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0EDF5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_mscl_figure__panel_a__fusion__polygon_224"/>
            <p:cNvSpPr/>
            <p:nvPr/>
          </p:nvSpPr>
          <p:spPr>
            <a:xfrm>
              <a:off x="6795212" y="239873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E4EFF7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i_mscl_figure__panel_a__fusion__polygon_225"/>
            <p:cNvSpPr/>
            <p:nvPr/>
          </p:nvSpPr>
          <p:spPr>
            <a:xfrm>
              <a:off x="6948323" y="237686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8F2F8">
                <a:alpha val="88000"/>
              </a:srgbClr>
            </a:solidFill>
            <a:ln w="3281">
              <a:solidFill>
                <a:srgbClr val="FFFFFF">
                  <a:alpha val="88000"/>
                </a:srgbClr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_mscl_figure__panel_a__fusion__polygon_226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noFill/>
            <a:ln w="9479">
              <a:solidFill>
                <a:srgbClr val="3F6F9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i_mscl_figure__panel_a__fusion__text_030"/>
            <p:cNvSpPr txBox="1"/>
            <p:nvPr/>
          </p:nvSpPr>
          <p:spPr>
            <a:xfrm>
              <a:off x="6882354" y="215110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361" name="pi_mscl_figure__panel_a__fusion__text_031"/>
            <p:cNvSpPr txBox="1"/>
            <p:nvPr/>
          </p:nvSpPr>
          <p:spPr>
            <a:xfrm>
              <a:off x="6941856" y="2552153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362" name="pi_mscl_figure__panel_a__fusion__rect_069"/>
            <p:cNvSpPr/>
            <p:nvPr/>
          </p:nvSpPr>
          <p:spPr>
            <a:xfrm>
              <a:off x="5707707" y="1441966"/>
              <a:ext cx="718248" cy="988047"/>
            </a:xfrm>
            <a:prstGeom prst="roundRect">
              <a:avLst>
                <a:gd name="adj" fmla="val 9137"/>
              </a:avLst>
            </a:prstGeom>
            <a:noFill/>
            <a:ln w="10937">
              <a:solidFill>
                <a:srgbClr val="2B69A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3" name="module__pi_mscl_figure__panel_a__lstm"/>
          <p:cNvGrpSpPr/>
          <p:nvPr/>
        </p:nvGrpSpPr>
        <p:grpSpPr>
          <a:xfrm>
            <a:off x="7496038" y="969818"/>
            <a:ext cx="2114641" cy="2063597"/>
            <a:chOff x="7496038" y="969818"/>
            <a:chExt cx="2114641" cy="2063597"/>
          </a:xfrm>
        </p:grpSpPr>
        <p:sp>
          <p:nvSpPr>
            <p:cNvPr id="364" name="pi_mscl_figure__panel_a__lstm__rect_070"/>
            <p:cNvSpPr/>
            <p:nvPr/>
          </p:nvSpPr>
          <p:spPr>
            <a:xfrm>
              <a:off x="7496038" y="1203157"/>
              <a:ext cx="2114641" cy="1596918"/>
            </a:xfrm>
            <a:prstGeom prst="roundRect">
              <a:avLst>
                <a:gd name="adj" fmla="val 5479"/>
              </a:avLst>
            </a:prstGeom>
            <a:solidFill>
              <a:srgbClr val="FFF9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_mscl_figure__panel_a__lstm__text_032"/>
            <p:cNvSpPr txBox="1"/>
            <p:nvPr/>
          </p:nvSpPr>
          <p:spPr>
            <a:xfrm>
              <a:off x="8134076" y="969818"/>
              <a:ext cx="838564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LSTM (2 layers)</a:t>
              </a:r>
            </a:p>
          </p:txBody>
        </p:sp>
        <p:sp>
          <p:nvSpPr>
            <p:cNvPr id="366" name="pi_mscl_figure__panel_a__lstm__rect_071"/>
            <p:cNvSpPr/>
            <p:nvPr/>
          </p:nvSpPr>
          <p:spPr>
            <a:xfrm>
              <a:off x="7641875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_mscl_figure__panel_a__lstm__text_033"/>
            <p:cNvSpPr txBox="1"/>
            <p:nvPr/>
          </p:nvSpPr>
          <p:spPr>
            <a:xfrm>
              <a:off x="7703856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68" name="pi_mscl_figure__panel_a__lstm__rect_072"/>
            <p:cNvSpPr/>
            <p:nvPr/>
          </p:nvSpPr>
          <p:spPr>
            <a:xfrm>
              <a:off x="8247100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_mscl_figure__panel_a__lstm__text_034"/>
            <p:cNvSpPr txBox="1"/>
            <p:nvPr/>
          </p:nvSpPr>
          <p:spPr>
            <a:xfrm>
              <a:off x="8309081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0" name="pi_mscl_figure__panel_a__lstm__rect_073"/>
            <p:cNvSpPr/>
            <p:nvPr/>
          </p:nvSpPr>
          <p:spPr>
            <a:xfrm>
              <a:off x="9143999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_mscl_figure__panel_a__lstm__text_035"/>
            <p:cNvSpPr txBox="1"/>
            <p:nvPr/>
          </p:nvSpPr>
          <p:spPr>
            <a:xfrm>
              <a:off x="9205980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2" name="pi_mscl_figure__panel_a__lstm__rect_074"/>
            <p:cNvSpPr/>
            <p:nvPr/>
          </p:nvSpPr>
          <p:spPr>
            <a:xfrm>
              <a:off x="7641875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_mscl_figure__panel_a__lstm__text_036"/>
            <p:cNvSpPr txBox="1"/>
            <p:nvPr/>
          </p:nvSpPr>
          <p:spPr>
            <a:xfrm>
              <a:off x="7703856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4" name="pi_mscl_figure__panel_a__lstm__rect_075"/>
            <p:cNvSpPr/>
            <p:nvPr/>
          </p:nvSpPr>
          <p:spPr>
            <a:xfrm>
              <a:off x="8247100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pi_mscl_figure__panel_a__lstm__text_037"/>
            <p:cNvSpPr txBox="1"/>
            <p:nvPr/>
          </p:nvSpPr>
          <p:spPr>
            <a:xfrm>
              <a:off x="8309081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6" name="pi_mscl_figure__panel_a__lstm__rect_076"/>
            <p:cNvSpPr/>
            <p:nvPr/>
          </p:nvSpPr>
          <p:spPr>
            <a:xfrm>
              <a:off x="9143999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i_mscl_figure__panel_a__lstm__text_038"/>
            <p:cNvSpPr txBox="1"/>
            <p:nvPr/>
          </p:nvSpPr>
          <p:spPr>
            <a:xfrm>
              <a:off x="9205980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8" name="pi_mscl_figure__panel_a__lstm__text_039"/>
            <p:cNvSpPr txBox="1"/>
            <p:nvPr/>
          </p:nvSpPr>
          <p:spPr>
            <a:xfrm>
              <a:off x="8746593" y="1575043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79" name="pi_mscl_figure__panel_a__lstm__text_040"/>
            <p:cNvSpPr txBox="1"/>
            <p:nvPr/>
          </p:nvSpPr>
          <p:spPr>
            <a:xfrm>
              <a:off x="8746593" y="2355272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80" name="pi_mscl_figure__panel_a__lstm__polyline_019"/>
            <p:cNvSpPr/>
            <p:nvPr/>
          </p:nvSpPr>
          <p:spPr>
            <a:xfrm>
              <a:off x="8012809" y="1633184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i_mscl_figure__panel_a__lstm__polygon_227"/>
            <p:cNvSpPr/>
            <p:nvPr/>
          </p:nvSpPr>
          <p:spPr>
            <a:xfrm>
              <a:off x="818050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i_mscl_figure__panel_a__lstm__polyline_020"/>
            <p:cNvSpPr/>
            <p:nvPr/>
          </p:nvSpPr>
          <p:spPr>
            <a:xfrm>
              <a:off x="8617962" y="1633184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i_mscl_figure__panel_a__lstm__polygon_228"/>
            <p:cNvSpPr/>
            <p:nvPr/>
          </p:nvSpPr>
          <p:spPr>
            <a:xfrm>
              <a:off x="905542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i_mscl_figure__panel_a__lstm__polyline_021"/>
            <p:cNvSpPr/>
            <p:nvPr/>
          </p:nvSpPr>
          <p:spPr>
            <a:xfrm>
              <a:off x="8012809" y="2413321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i_mscl_figure__panel_a__lstm__polygon_229"/>
            <p:cNvSpPr/>
            <p:nvPr/>
          </p:nvSpPr>
          <p:spPr>
            <a:xfrm>
              <a:off x="818050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i_mscl_figure__panel_a__lstm__polyline_022"/>
            <p:cNvSpPr/>
            <p:nvPr/>
          </p:nvSpPr>
          <p:spPr>
            <a:xfrm>
              <a:off x="8617962" y="2413321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i_mscl_figure__panel_a__lstm__polygon_230"/>
            <p:cNvSpPr/>
            <p:nvPr/>
          </p:nvSpPr>
          <p:spPr>
            <a:xfrm>
              <a:off x="905542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i_mscl_figure__panel_a__lstm__polyline_023"/>
            <p:cNvSpPr/>
            <p:nvPr/>
          </p:nvSpPr>
          <p:spPr>
            <a:xfrm>
              <a:off x="7830534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i_mscl_figure__panel_a__lstm__polygon_231"/>
            <p:cNvSpPr/>
            <p:nvPr/>
          </p:nvSpPr>
          <p:spPr>
            <a:xfrm>
              <a:off x="7801370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i_mscl_figure__panel_a__lstm__polyline_024"/>
            <p:cNvSpPr/>
            <p:nvPr/>
          </p:nvSpPr>
          <p:spPr>
            <a:xfrm>
              <a:off x="8435687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i_mscl_figure__panel_a__lstm__polygon_232"/>
            <p:cNvSpPr/>
            <p:nvPr/>
          </p:nvSpPr>
          <p:spPr>
            <a:xfrm>
              <a:off x="8413814" y="1822750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i_mscl_figure__panel_a__lstm__polyline_025"/>
            <p:cNvSpPr/>
            <p:nvPr/>
          </p:nvSpPr>
          <p:spPr>
            <a:xfrm>
              <a:off x="9332480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i_mscl_figure__panel_a__lstm__polygon_233"/>
            <p:cNvSpPr/>
            <p:nvPr/>
          </p:nvSpPr>
          <p:spPr>
            <a:xfrm>
              <a:off x="9303316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i_mscl_figure__panel_a__lstm__text_041"/>
            <p:cNvSpPr txBox="1"/>
            <p:nvPr/>
          </p:nvSpPr>
          <p:spPr>
            <a:xfrm>
              <a:off x="7619999" y="2909454"/>
              <a:ext cx="211464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</a:t>
              </a:r>
            </a:p>
          </p:txBody>
        </p:sp>
        <p:sp>
          <p:nvSpPr>
            <p:cNvPr id="395" name="pi_mscl_figure__panel_a__lstm__text_042"/>
            <p:cNvSpPr txBox="1"/>
            <p:nvPr/>
          </p:nvSpPr>
          <p:spPr>
            <a:xfrm>
              <a:off x="9129416" y="2909454"/>
              <a:ext cx="26250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10</a:t>
              </a:r>
            </a:p>
          </p:txBody>
        </p:sp>
        <p:sp>
          <p:nvSpPr>
            <p:cNvPr id="396" name="pi_mscl_figure__panel_a__lstm__rect_077"/>
            <p:cNvSpPr/>
            <p:nvPr/>
          </p:nvSpPr>
          <p:spPr>
            <a:xfrm>
              <a:off x="7501506" y="1208626"/>
              <a:ext cx="2103703" cy="1585980"/>
            </a:xfrm>
            <a:prstGeom prst="roundRect">
              <a:avLst>
                <a:gd name="adj" fmla="val 5057"/>
              </a:avLst>
            </a:prstGeom>
            <a:noFill/>
            <a:ln w="10937">
              <a:solidFill>
                <a:srgbClr val="EEA5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7" name="module__pi_mscl_figure__panel_a__regression"/>
          <p:cNvGrpSpPr/>
          <p:nvPr/>
        </p:nvGrpSpPr>
        <p:grpSpPr>
          <a:xfrm>
            <a:off x="9771100" y="991693"/>
            <a:ext cx="926066" cy="1808382"/>
            <a:chOff x="9771100" y="991693"/>
            <a:chExt cx="926066" cy="1808382"/>
          </a:xfrm>
        </p:grpSpPr>
        <p:sp>
          <p:nvSpPr>
            <p:cNvPr id="398" name="pi_mscl_figure__panel_a__regression__rect_078"/>
            <p:cNvSpPr/>
            <p:nvPr/>
          </p:nvSpPr>
          <p:spPr>
            <a:xfrm>
              <a:off x="9771100" y="991693"/>
              <a:ext cx="926066" cy="1808382"/>
            </a:xfrm>
            <a:prstGeom prst="roundRect">
              <a:avLst>
                <a:gd name="adj" fmla="val 7874"/>
              </a:avLst>
            </a:prstGeom>
            <a:solidFill>
              <a:srgbClr val="FFF2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pi_mscl_figure__panel_a__regression__text_043"/>
            <p:cNvSpPr txBox="1"/>
            <p:nvPr/>
          </p:nvSpPr>
          <p:spPr>
            <a:xfrm>
              <a:off x="9807559" y="1101071"/>
              <a:ext cx="853148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Regression head</a:t>
              </a:r>
            </a:p>
          </p:txBody>
        </p:sp>
        <p:sp>
          <p:nvSpPr>
            <p:cNvPr id="400" name="pi_mscl_figure__panel_a__regression__text_044"/>
            <p:cNvSpPr txBox="1"/>
            <p:nvPr/>
          </p:nvSpPr>
          <p:spPr>
            <a:xfrm>
              <a:off x="9887770" y="1261492"/>
              <a:ext cx="69272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1" i="0">
                  <a:solidFill>
                    <a:srgbClr val="111111"/>
                  </a:solidFill>
                  <a:latin typeface="Arial"/>
                </a:rPr>
                <a:t>(FC + Dropout)</a:t>
              </a:r>
            </a:p>
          </p:txBody>
        </p:sp>
        <p:sp>
          <p:nvSpPr>
            <p:cNvPr id="401" name="pi_mscl_figure__panel_a__regression__rect_079"/>
            <p:cNvSpPr/>
            <p:nvPr/>
          </p:nvSpPr>
          <p:spPr>
            <a:xfrm>
              <a:off x="10070066" y="1458373"/>
              <a:ext cx="342717" cy="1232325"/>
            </a:xfrm>
            <a:prstGeom prst="roundRect">
              <a:avLst>
                <a:gd name="adj" fmla="val 17021"/>
              </a:avLst>
            </a:prstGeom>
            <a:solidFill>
              <a:srgbClr val="FFFFFF"/>
            </a:solidFill>
            <a:ln w="8021">
              <a:solidFill>
                <a:srgbClr val="22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i_mscl_figure__panel_a__regression__circle_001"/>
            <p:cNvSpPr/>
            <p:nvPr/>
          </p:nvSpPr>
          <p:spPr>
            <a:xfrm>
              <a:off x="10157569" y="153129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i_mscl_figure__panel_a__regression__circle_002"/>
            <p:cNvSpPr/>
            <p:nvPr/>
          </p:nvSpPr>
          <p:spPr>
            <a:xfrm>
              <a:off x="10157569" y="176463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i_mscl_figure__panel_a__regression__circle_003"/>
            <p:cNvSpPr/>
            <p:nvPr/>
          </p:nvSpPr>
          <p:spPr>
            <a:xfrm>
              <a:off x="10157569" y="2165684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pi_mscl_figure__panel_a__regression__circle_004"/>
            <p:cNvSpPr/>
            <p:nvPr/>
          </p:nvSpPr>
          <p:spPr>
            <a:xfrm>
              <a:off x="10157569" y="2435483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i_mscl_figure__panel_a__regression__text_045"/>
            <p:cNvSpPr txBox="1"/>
            <p:nvPr/>
          </p:nvSpPr>
          <p:spPr>
            <a:xfrm>
              <a:off x="10178278" y="195422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407" name="pi_mscl_figure__panel_a__regression__rect_080"/>
            <p:cNvSpPr/>
            <p:nvPr/>
          </p:nvSpPr>
          <p:spPr>
            <a:xfrm>
              <a:off x="9776569" y="997162"/>
              <a:ext cx="915129" cy="1797444"/>
            </a:xfrm>
            <a:prstGeom prst="roundRect">
              <a:avLst>
                <a:gd name="adj" fmla="val 7171"/>
              </a:avLst>
            </a:prstGeom>
            <a:noFill/>
            <a:ln w="10937">
              <a:solidFill>
                <a:srgbClr val="E86C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module__pi_mscl_figure__panel_a__output_curve"/>
          <p:cNvGrpSpPr/>
          <p:nvPr/>
        </p:nvGrpSpPr>
        <p:grpSpPr>
          <a:xfrm>
            <a:off x="10872171" y="926066"/>
            <a:ext cx="1101071" cy="1961511"/>
            <a:chOff x="10872171" y="926066"/>
            <a:chExt cx="1101071" cy="1961511"/>
          </a:xfrm>
        </p:grpSpPr>
        <p:sp>
          <p:nvSpPr>
            <p:cNvPr id="409" name="pi_mscl_figure__panel_a__output_curve__text_046"/>
            <p:cNvSpPr txBox="1"/>
            <p:nvPr/>
          </p:nvSpPr>
          <p:spPr>
            <a:xfrm>
              <a:off x="11058114" y="926066"/>
              <a:ext cx="79481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410" name="pi_mscl_figure__panel_a__output_curve__text_047"/>
            <p:cNvSpPr txBox="1"/>
            <p:nvPr/>
          </p:nvSpPr>
          <p:spPr>
            <a:xfrm>
              <a:off x="11354164" y="1130239"/>
              <a:ext cx="202713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ŷᵢ,ₜ</a:t>
              </a:r>
            </a:p>
          </p:txBody>
        </p:sp>
        <p:cxnSp>
          <p:nvCxnSpPr>
            <p:cNvPr id="411" name="pi_mscl_figure__panel_a__output_curve__line_002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2" name="pi_mscl_figure__panel_a__output_curve__line_003"/>
            <p:cNvCxnSpPr/>
            <p:nvPr/>
          </p:nvCxnSpPr>
          <p:spPr>
            <a:xfrm>
              <a:off x="11061760" y="1451081"/>
              <a:ext cx="0" cy="1101072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3" name="pi_mscl_figure__panel_a__output_curve__line_004"/>
            <p:cNvCxnSpPr/>
            <p:nvPr/>
          </p:nvCxnSpPr>
          <p:spPr>
            <a:xfrm>
              <a:off x="11061760" y="148754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4" name="pi_mscl_figure__panel_a__output_curve__text_048"/>
            <p:cNvSpPr txBox="1"/>
            <p:nvPr/>
          </p:nvSpPr>
          <p:spPr>
            <a:xfrm>
              <a:off x="10872171" y="143649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1.0</a:t>
              </a:r>
            </a:p>
          </p:txBody>
        </p:sp>
        <p:cxnSp>
          <p:nvCxnSpPr>
            <p:cNvPr id="415" name="pi_mscl_figure__panel_a__output_curve__line_005"/>
            <p:cNvCxnSpPr/>
            <p:nvPr/>
          </p:nvCxnSpPr>
          <p:spPr>
            <a:xfrm>
              <a:off x="11061760" y="169900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6" name="pi_mscl_figure__panel_a__output_curve__text_049"/>
            <p:cNvSpPr txBox="1"/>
            <p:nvPr/>
          </p:nvSpPr>
          <p:spPr>
            <a:xfrm>
              <a:off x="10872171" y="164796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0.8</a:t>
              </a:r>
            </a:p>
          </p:txBody>
        </p:sp>
        <p:cxnSp>
          <p:nvCxnSpPr>
            <p:cNvPr id="417" name="pi_mscl_figure__panel_a__output_curve__line_006"/>
            <p:cNvCxnSpPr/>
            <p:nvPr/>
          </p:nvCxnSpPr>
          <p:spPr>
            <a:xfrm>
              <a:off x="11061760" y="191776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8" name="pi_mscl_figure__panel_a__output_curve__text_050"/>
            <p:cNvSpPr txBox="1"/>
            <p:nvPr/>
          </p:nvSpPr>
          <p:spPr>
            <a:xfrm>
              <a:off x="10872171" y="186671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0.6</a:t>
              </a:r>
            </a:p>
          </p:txBody>
        </p:sp>
        <p:cxnSp>
          <p:nvCxnSpPr>
            <p:cNvPr id="419" name="pi_mscl_figure__panel_a__output_curve__line_007"/>
            <p:cNvCxnSpPr/>
            <p:nvPr/>
          </p:nvCxnSpPr>
          <p:spPr>
            <a:xfrm>
              <a:off x="11061760" y="212922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0" name="pi_mscl_figure__panel_a__output_curve__text_051"/>
            <p:cNvSpPr txBox="1"/>
            <p:nvPr/>
          </p:nvSpPr>
          <p:spPr>
            <a:xfrm>
              <a:off x="10872171" y="207818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0.4</a:t>
              </a:r>
            </a:p>
          </p:txBody>
        </p:sp>
        <p:cxnSp>
          <p:nvCxnSpPr>
            <p:cNvPr id="421" name="pi_mscl_figure__panel_a__output_curve__line_008"/>
            <p:cNvCxnSpPr/>
            <p:nvPr/>
          </p:nvCxnSpPr>
          <p:spPr>
            <a:xfrm>
              <a:off x="11061760" y="2340688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2" name="pi_mscl_figure__panel_a__output_curve__text_052"/>
            <p:cNvSpPr txBox="1"/>
            <p:nvPr/>
          </p:nvSpPr>
          <p:spPr>
            <a:xfrm>
              <a:off x="10872171" y="2289645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0.2</a:t>
              </a:r>
            </a:p>
          </p:txBody>
        </p:sp>
        <p:cxnSp>
          <p:nvCxnSpPr>
            <p:cNvPr id="423" name="pi_mscl_figure__panel_a__output_curve__line_009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4" name="pi_mscl_figure__panel_a__output_curve__text_053"/>
            <p:cNvSpPr txBox="1"/>
            <p:nvPr/>
          </p:nvSpPr>
          <p:spPr>
            <a:xfrm>
              <a:off x="10872171" y="2501109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0.0</a:t>
              </a:r>
            </a:p>
          </p:txBody>
        </p:sp>
        <p:sp>
          <p:nvSpPr>
            <p:cNvPr id="425" name="pi_mscl_figure__panel_a__output_curve__polyline_026"/>
            <p:cNvSpPr/>
            <p:nvPr/>
          </p:nvSpPr>
          <p:spPr>
            <a:xfrm>
              <a:off x="11140648" y="1523819"/>
              <a:ext cx="772846" cy="955121"/>
            </a:xfrm>
            <a:custGeom>
              <a:avLst/>
              <a:gdLst/>
              <a:ahLst/>
              <a:cxnLst/>
              <a:rect l="l" t="t" r="r" b="b"/>
              <a:pathLst>
                <a:path w="106" h="131">
                  <a:moveTo>
                    <a:pt x="0" y="0"/>
                  </a:moveTo>
                  <a:lnTo>
                    <a:pt x="14" y="10"/>
                  </a:lnTo>
                  <a:lnTo>
                    <a:pt x="30" y="23"/>
                  </a:lnTo>
                  <a:lnTo>
                    <a:pt x="42" y="41"/>
                  </a:lnTo>
                  <a:lnTo>
                    <a:pt x="52" y="65"/>
                  </a:lnTo>
                  <a:lnTo>
                    <a:pt x="65" y="89"/>
                  </a:lnTo>
                  <a:lnTo>
                    <a:pt x="79" y="104"/>
                  </a:lnTo>
                  <a:lnTo>
                    <a:pt x="92" y="114"/>
                  </a:lnTo>
                  <a:lnTo>
                    <a:pt x="106" y="131"/>
                  </a:lnTo>
                </a:path>
              </a:pathLst>
            </a:custGeom>
            <a:noFill/>
            <a:ln w="14583">
              <a:solidFill>
                <a:srgbClr val="2F7D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_mscl_figure__panel_a__output_curve__circle_005"/>
            <p:cNvSpPr/>
            <p:nvPr/>
          </p:nvSpPr>
          <p:spPr>
            <a:xfrm>
              <a:off x="11112803" y="1494832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_mscl_figure__panel_a__output_curve__circle_006"/>
            <p:cNvSpPr/>
            <p:nvPr/>
          </p:nvSpPr>
          <p:spPr>
            <a:xfrm>
              <a:off x="11214889" y="1567751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_mscl_figure__panel_a__output_curve__circle_007"/>
            <p:cNvSpPr/>
            <p:nvPr/>
          </p:nvSpPr>
          <p:spPr>
            <a:xfrm>
              <a:off x="11331559" y="166254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_mscl_figure__panel_a__output_curve__circle_008"/>
            <p:cNvSpPr/>
            <p:nvPr/>
          </p:nvSpPr>
          <p:spPr>
            <a:xfrm>
              <a:off x="11419061" y="179379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_mscl_figure__panel_a__output_curve__circle_009"/>
            <p:cNvSpPr/>
            <p:nvPr/>
          </p:nvSpPr>
          <p:spPr>
            <a:xfrm>
              <a:off x="11491980" y="1968803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_mscl_figure__panel_a__output_curve__circle_010"/>
            <p:cNvSpPr/>
            <p:nvPr/>
          </p:nvSpPr>
          <p:spPr>
            <a:xfrm>
              <a:off x="11586774" y="214380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_mscl_figure__panel_a__output_curve__circle_011"/>
            <p:cNvSpPr/>
            <p:nvPr/>
          </p:nvSpPr>
          <p:spPr>
            <a:xfrm>
              <a:off x="11688860" y="225318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i_mscl_figure__panel_a__output_curve__circle_012"/>
            <p:cNvSpPr/>
            <p:nvPr/>
          </p:nvSpPr>
          <p:spPr>
            <a:xfrm>
              <a:off x="11783655" y="232610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i_mscl_figure__panel_a__output_curve__circle_013"/>
            <p:cNvSpPr/>
            <p:nvPr/>
          </p:nvSpPr>
          <p:spPr>
            <a:xfrm>
              <a:off x="11885741" y="245006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i_mscl_figure__panel_a__output_curve__text_054"/>
            <p:cNvSpPr txBox="1"/>
            <p:nvPr/>
          </p:nvSpPr>
          <p:spPr>
            <a:xfrm>
              <a:off x="11105511" y="260319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36" name="pi_mscl_figure__panel_a__output_curve__text_055"/>
            <p:cNvSpPr txBox="1"/>
            <p:nvPr/>
          </p:nvSpPr>
          <p:spPr>
            <a:xfrm>
              <a:off x="11856573" y="260319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37" name="pi_mscl_figure__panel_a__output_curve__text_056"/>
            <p:cNvSpPr txBox="1"/>
            <p:nvPr/>
          </p:nvSpPr>
          <p:spPr>
            <a:xfrm>
              <a:off x="11320621" y="277820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</p:grpSp>
      <p:sp>
        <p:nvSpPr>
          <p:cNvPr id="438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0" name="module__pi_mscl_figure__panel_b__training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1" name="pi_mscl_figure__panel_b__training_connectors__polyline_027"/>
            <p:cNvSpPr/>
            <p:nvPr/>
          </p:nvSpPr>
          <p:spPr>
            <a:xfrm>
              <a:off x="6824376" y="4221489"/>
              <a:ext cx="2311247" cy="874920"/>
            </a:xfrm>
            <a:custGeom>
              <a:avLst/>
              <a:gdLst/>
              <a:ahLst/>
              <a:cxnLst/>
              <a:rect l="l" t="t" r="r" b="b"/>
              <a:pathLst>
                <a:path w="317" h="120">
                  <a:moveTo>
                    <a:pt x="0" y="0"/>
                  </a:moveTo>
                  <a:lnTo>
                    <a:pt x="262" y="0"/>
                  </a:lnTo>
                  <a:lnTo>
                    <a:pt x="262" y="120"/>
                  </a:lnTo>
                  <a:lnTo>
                    <a:pt x="317" y="120"/>
                  </a:lnTo>
                </a:path>
              </a:pathLst>
            </a:custGeom>
            <a:noFill/>
            <a:ln w="1239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i_mscl_figure__panel_b__training_connectors__polygon_234"/>
            <p:cNvSpPr/>
            <p:nvPr/>
          </p:nvSpPr>
          <p:spPr>
            <a:xfrm>
              <a:off x="9077295" y="506724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i_mscl_figure__panel_b__training_connectors__polyline_028"/>
            <p:cNvSpPr/>
            <p:nvPr/>
          </p:nvSpPr>
          <p:spPr>
            <a:xfrm>
              <a:off x="7823243" y="5110991"/>
              <a:ext cx="1312380" cy="102074"/>
            </a:xfrm>
            <a:custGeom>
              <a:avLst/>
              <a:gdLst/>
              <a:ahLst/>
              <a:cxnLst/>
              <a:rect l="l" t="t" r="r" b="b"/>
              <a:pathLst>
                <a:path w="180" h="14">
                  <a:moveTo>
                    <a:pt x="0" y="0"/>
                  </a:moveTo>
                  <a:lnTo>
                    <a:pt x="125" y="0"/>
                  </a:lnTo>
                  <a:lnTo>
                    <a:pt x="125" y="14"/>
                  </a:lnTo>
                  <a:lnTo>
                    <a:pt x="180" y="14"/>
                  </a:lnTo>
                </a:path>
              </a:pathLst>
            </a:custGeom>
            <a:noFill/>
            <a:ln w="1239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i_mscl_figure__panel_b__training_connectors__polygon_235"/>
            <p:cNvSpPr/>
            <p:nvPr/>
          </p:nvSpPr>
          <p:spPr>
            <a:xfrm>
              <a:off x="9077295" y="5183901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i_mscl_figure__panel_b__training_connectors__polyline_029"/>
            <p:cNvSpPr/>
            <p:nvPr/>
          </p:nvSpPr>
          <p:spPr>
            <a:xfrm>
              <a:off x="6824376" y="5329721"/>
              <a:ext cx="2311247" cy="729100"/>
            </a:xfrm>
            <a:custGeom>
              <a:avLst/>
              <a:gdLst/>
              <a:ahLst/>
              <a:cxnLst/>
              <a:rect l="l" t="t" r="r" b="b"/>
              <a:pathLst>
                <a:path w="317" h="100">
                  <a:moveTo>
                    <a:pt x="0" y="100"/>
                  </a:moveTo>
                  <a:lnTo>
                    <a:pt x="262" y="100"/>
                  </a:lnTo>
                  <a:lnTo>
                    <a:pt x="262" y="0"/>
                  </a:lnTo>
                  <a:lnTo>
                    <a:pt x="317" y="0"/>
                  </a:lnTo>
                </a:path>
              </a:pathLst>
            </a:custGeom>
            <a:noFill/>
            <a:ln w="1239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i_mscl_figure__panel_b__training_connectors__polygon_236"/>
            <p:cNvSpPr/>
            <p:nvPr/>
          </p:nvSpPr>
          <p:spPr>
            <a:xfrm>
              <a:off x="9077295" y="53005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7" name="module__pi_mscl_figure__panel_b__panel_b_header"/>
          <p:cNvGrpSpPr/>
          <p:nvPr/>
        </p:nvGrpSpPr>
        <p:grpSpPr>
          <a:xfrm>
            <a:off x="167712" y="3740727"/>
            <a:ext cx="3385467" cy="234505"/>
            <a:chOff x="167712" y="3740727"/>
            <a:chExt cx="3385467" cy="234505"/>
          </a:xfrm>
        </p:grpSpPr>
        <p:sp>
          <p:nvSpPr>
            <p:cNvPr id="448" name="pi_mscl_figure__panel_b__panel_b_header__rect_083"/>
            <p:cNvSpPr/>
            <p:nvPr/>
          </p:nvSpPr>
          <p:spPr>
            <a:xfrm>
              <a:off x="167712" y="3740727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i_mscl_figure__panel_b__panel_b_header__text_057"/>
            <p:cNvSpPr txBox="1"/>
            <p:nvPr/>
          </p:nvSpPr>
          <p:spPr>
            <a:xfrm>
              <a:off x="221235" y="3777186"/>
              <a:ext cx="111711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b</a:t>
              </a:r>
            </a:p>
          </p:txBody>
        </p:sp>
        <p:sp>
          <p:nvSpPr>
            <p:cNvPr id="450" name="pi_mscl_figure__panel_b__panel_b_header__text_058"/>
            <p:cNvSpPr txBox="1"/>
            <p:nvPr/>
          </p:nvSpPr>
          <p:spPr>
            <a:xfrm>
              <a:off x="510430" y="3769894"/>
              <a:ext cx="3042749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Sparse-label physics-informed learning</a:t>
              </a:r>
            </a:p>
          </p:txBody>
        </p:sp>
      </p:grpSp>
      <p:grpSp>
        <p:nvGrpSpPr>
          <p:cNvPr id="451" name="module__pi_mscl_figure__panel_b__supervised_path"/>
          <p:cNvGrpSpPr/>
          <p:nvPr/>
        </p:nvGrpSpPr>
        <p:grpSpPr>
          <a:xfrm>
            <a:off x="473971" y="3944899"/>
            <a:ext cx="6351214" cy="816688"/>
            <a:chOff x="473971" y="3944899"/>
            <a:chExt cx="6351214" cy="816688"/>
          </a:xfrm>
        </p:grpSpPr>
        <p:sp>
          <p:nvSpPr>
            <p:cNvPr id="452" name="pi_mscl_figure__panel_b__supervised_path__text_059"/>
            <p:cNvSpPr txBox="1"/>
            <p:nvPr/>
          </p:nvSpPr>
          <p:spPr>
            <a:xfrm>
              <a:off x="473971" y="4127196"/>
              <a:ext cx="68543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Sparse labels</a:t>
              </a:r>
            </a:p>
          </p:txBody>
        </p:sp>
        <p:sp>
          <p:nvSpPr>
            <p:cNvPr id="453" name="pi_mscl_figure__panel_b__supervised_path__text_060"/>
            <p:cNvSpPr txBox="1"/>
            <p:nvPr/>
          </p:nvSpPr>
          <p:spPr>
            <a:xfrm>
              <a:off x="623454" y="4309492"/>
              <a:ext cx="386468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(one cell)</a:t>
              </a:r>
            </a:p>
          </p:txBody>
        </p:sp>
        <p:sp>
          <p:nvSpPr>
            <p:cNvPr id="454" name="pi_mscl_figure__panel_b__supervised_path__circle_014"/>
            <p:cNvSpPr/>
            <p:nvPr/>
          </p:nvSpPr>
          <p:spPr>
            <a:xfrm>
              <a:off x="142191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i_mscl_figure__panel_b__supervised_path__circle_015"/>
            <p:cNvSpPr/>
            <p:nvPr/>
          </p:nvSpPr>
          <p:spPr>
            <a:xfrm>
              <a:off x="1553167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pi_mscl_figure__panel_b__supervised_path__circle_016"/>
            <p:cNvSpPr/>
            <p:nvPr/>
          </p:nvSpPr>
          <p:spPr>
            <a:xfrm>
              <a:off x="168442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i_mscl_figure__panel_b__supervised_path__circle_017"/>
            <p:cNvSpPr/>
            <p:nvPr/>
          </p:nvSpPr>
          <p:spPr>
            <a:xfrm>
              <a:off x="181567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i_mscl_figure__panel_b__supervised_path__circle_018"/>
            <p:cNvSpPr/>
            <p:nvPr/>
          </p:nvSpPr>
          <p:spPr>
            <a:xfrm>
              <a:off x="194692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i_mscl_figure__panel_b__supervised_path__circle_019"/>
            <p:cNvSpPr/>
            <p:nvPr/>
          </p:nvSpPr>
          <p:spPr>
            <a:xfrm>
              <a:off x="207818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i_mscl_figure__panel_b__supervised_path__circle_020"/>
            <p:cNvSpPr/>
            <p:nvPr/>
          </p:nvSpPr>
          <p:spPr>
            <a:xfrm>
              <a:off x="220943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i_mscl_figure__panel_b__supervised_path__circle_021"/>
            <p:cNvSpPr/>
            <p:nvPr/>
          </p:nvSpPr>
          <p:spPr>
            <a:xfrm>
              <a:off x="234068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i_mscl_figure__panel_b__supervised_path__circle_022"/>
            <p:cNvSpPr/>
            <p:nvPr/>
          </p:nvSpPr>
          <p:spPr>
            <a:xfrm>
              <a:off x="2471942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i_mscl_figure__panel_b__supervised_path__circle_023"/>
            <p:cNvSpPr/>
            <p:nvPr/>
          </p:nvSpPr>
          <p:spPr>
            <a:xfrm>
              <a:off x="2603196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i_mscl_figure__panel_b__supervised_path__circle_024"/>
            <p:cNvSpPr/>
            <p:nvPr/>
          </p:nvSpPr>
          <p:spPr>
            <a:xfrm>
              <a:off x="273444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i_mscl_figure__panel_b__supervised_path__circle_025"/>
            <p:cNvSpPr/>
            <p:nvPr/>
          </p:nvSpPr>
          <p:spPr>
            <a:xfrm>
              <a:off x="286570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i_mscl_figure__panel_b__supervised_path__circle_026"/>
            <p:cNvSpPr/>
            <p:nvPr/>
          </p:nvSpPr>
          <p:spPr>
            <a:xfrm>
              <a:off x="299695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i_mscl_figure__panel_b__supervised_path__circle_027"/>
            <p:cNvSpPr/>
            <p:nvPr/>
          </p:nvSpPr>
          <p:spPr>
            <a:xfrm>
              <a:off x="3128210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i_mscl_figure__panel_b__supervised_path__circle_028"/>
            <p:cNvSpPr/>
            <p:nvPr/>
          </p:nvSpPr>
          <p:spPr>
            <a:xfrm>
              <a:off x="325946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i_mscl_figure__panel_b__supervised_path__circle_029"/>
            <p:cNvSpPr/>
            <p:nvPr/>
          </p:nvSpPr>
          <p:spPr>
            <a:xfrm>
              <a:off x="339071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i_mscl_figure__panel_b__supervised_path__circle_030"/>
            <p:cNvSpPr/>
            <p:nvPr/>
          </p:nvSpPr>
          <p:spPr>
            <a:xfrm>
              <a:off x="352197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i_mscl_figure__panel_b__supervised_path__circle_031"/>
            <p:cNvSpPr/>
            <p:nvPr/>
          </p:nvSpPr>
          <p:spPr>
            <a:xfrm>
              <a:off x="3653224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i_mscl_figure__panel_b__supervised_path__circle_032"/>
            <p:cNvSpPr/>
            <p:nvPr/>
          </p:nvSpPr>
          <p:spPr>
            <a:xfrm>
              <a:off x="378447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i_mscl_figure__panel_b__supervised_path__circle_033"/>
            <p:cNvSpPr/>
            <p:nvPr/>
          </p:nvSpPr>
          <p:spPr>
            <a:xfrm>
              <a:off x="391573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i_mscl_figure__panel_b__supervised_path__circle_034"/>
            <p:cNvSpPr/>
            <p:nvPr/>
          </p:nvSpPr>
          <p:spPr>
            <a:xfrm>
              <a:off x="404698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i_mscl_figure__panel_b__supervised_path__circle_035"/>
            <p:cNvSpPr/>
            <p:nvPr/>
          </p:nvSpPr>
          <p:spPr>
            <a:xfrm>
              <a:off x="417823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i_mscl_figure__panel_b__supervised_path__circle_036"/>
            <p:cNvSpPr/>
            <p:nvPr/>
          </p:nvSpPr>
          <p:spPr>
            <a:xfrm>
              <a:off x="4309492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i_mscl_figure__panel_b__supervised_path__circle_037"/>
            <p:cNvSpPr/>
            <p:nvPr/>
          </p:nvSpPr>
          <p:spPr>
            <a:xfrm>
              <a:off x="444074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i_mscl_figure__panel_b__supervised_path__circle_038"/>
            <p:cNvSpPr/>
            <p:nvPr/>
          </p:nvSpPr>
          <p:spPr>
            <a:xfrm>
              <a:off x="457199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i_mscl_figure__panel_b__supervised_path__circle_039"/>
            <p:cNvSpPr/>
            <p:nvPr/>
          </p:nvSpPr>
          <p:spPr>
            <a:xfrm>
              <a:off x="470325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i_mscl_figure__panel_b__supervised_path__circle_040"/>
            <p:cNvSpPr/>
            <p:nvPr/>
          </p:nvSpPr>
          <p:spPr>
            <a:xfrm>
              <a:off x="483450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1" name="pi_mscl_figure__panel_b__supervised_path__line_010"/>
            <p:cNvCxnSpPr/>
            <p:nvPr/>
          </p:nvCxnSpPr>
          <p:spPr>
            <a:xfrm>
              <a:off x="1421913" y="4418870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2" name="pi_mscl_figure__panel_b__supervised_path__line_011"/>
            <p:cNvCxnSpPr/>
            <p:nvPr/>
          </p:nvCxnSpPr>
          <p:spPr>
            <a:xfrm>
              <a:off x="159691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3" name="pi_mscl_figure__panel_b__supervised_path__line_012"/>
            <p:cNvCxnSpPr/>
            <p:nvPr/>
          </p:nvCxnSpPr>
          <p:spPr>
            <a:xfrm>
              <a:off x="2479234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4" name="pi_mscl_figure__panel_b__supervised_path__line_013"/>
            <p:cNvCxnSpPr/>
            <p:nvPr/>
          </p:nvCxnSpPr>
          <p:spPr>
            <a:xfrm>
              <a:off x="335425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5" name="pi_mscl_figure__panel_b__supervised_path__line_014"/>
            <p:cNvCxnSpPr/>
            <p:nvPr/>
          </p:nvCxnSpPr>
          <p:spPr>
            <a:xfrm>
              <a:off x="422928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6" name="pi_mscl_figure__panel_b__supervised_path__line_015"/>
            <p:cNvCxnSpPr/>
            <p:nvPr/>
          </p:nvCxnSpPr>
          <p:spPr>
            <a:xfrm>
              <a:off x="497305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487" name="pi_mscl_figure__panel_b__supervised_path__text_061"/>
            <p:cNvSpPr txBox="1"/>
            <p:nvPr/>
          </p:nvSpPr>
          <p:spPr>
            <a:xfrm>
              <a:off x="1560459" y="4491789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88" name="pi_mscl_figure__panel_b__supervised_path__text_062"/>
            <p:cNvSpPr txBox="1"/>
            <p:nvPr/>
          </p:nvSpPr>
          <p:spPr>
            <a:xfrm>
              <a:off x="2420899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89" name="pi_mscl_figure__panel_b__supervised_path__text_063"/>
            <p:cNvSpPr txBox="1"/>
            <p:nvPr/>
          </p:nvSpPr>
          <p:spPr>
            <a:xfrm>
              <a:off x="3295923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490" name="pi_mscl_figure__panel_b__supervised_path__text_064"/>
            <p:cNvSpPr txBox="1"/>
            <p:nvPr/>
          </p:nvSpPr>
          <p:spPr>
            <a:xfrm>
              <a:off x="417094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30</a:t>
              </a:r>
            </a:p>
          </p:txBody>
        </p:sp>
        <p:sp>
          <p:nvSpPr>
            <p:cNvPr id="491" name="pi_mscl_figure__panel_b__supervised_path__text_065"/>
            <p:cNvSpPr txBox="1"/>
            <p:nvPr/>
          </p:nvSpPr>
          <p:spPr>
            <a:xfrm>
              <a:off x="491471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492" name="pi_mscl_figure__panel_b__supervised_path__text_066"/>
            <p:cNvSpPr txBox="1"/>
            <p:nvPr/>
          </p:nvSpPr>
          <p:spPr>
            <a:xfrm>
              <a:off x="3029770" y="465221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493" name="pi_mscl_figure__panel_b__supervised_path__rect_084"/>
            <p:cNvSpPr/>
            <p:nvPr/>
          </p:nvSpPr>
          <p:spPr>
            <a:xfrm>
              <a:off x="5600152" y="3944899"/>
              <a:ext cx="1225033" cy="656267"/>
            </a:xfrm>
            <a:prstGeom prst="roundRect">
              <a:avLst>
                <a:gd name="adj" fmla="val 11111"/>
              </a:avLst>
            </a:prstGeom>
            <a:solidFill>
              <a:srgbClr val="FF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i_mscl_figure__panel_b__supervised_path__text_067"/>
            <p:cNvSpPr txBox="1"/>
            <p:nvPr/>
          </p:nvSpPr>
          <p:spPr>
            <a:xfrm>
              <a:off x="6012143" y="4039693"/>
              <a:ext cx="401052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Masked</a:t>
              </a:r>
            </a:p>
          </p:txBody>
        </p:sp>
        <p:sp>
          <p:nvSpPr>
            <p:cNvPr id="495" name="pi_mscl_figure__panel_b__supervised_path__text_068"/>
            <p:cNvSpPr txBox="1"/>
            <p:nvPr/>
          </p:nvSpPr>
          <p:spPr>
            <a:xfrm>
              <a:off x="5910057" y="4185530"/>
              <a:ext cx="60522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supervision</a:t>
              </a:r>
            </a:p>
          </p:txBody>
        </p:sp>
        <p:sp>
          <p:nvSpPr>
            <p:cNvPr id="496" name="pi_mscl_figure__panel_b__supervised_path__text_069"/>
            <p:cNvSpPr txBox="1"/>
            <p:nvPr/>
          </p:nvSpPr>
          <p:spPr>
            <a:xfrm>
              <a:off x="6085791" y="4353243"/>
              <a:ext cx="253756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ℒₛᵤₚ</a:t>
              </a:r>
            </a:p>
          </p:txBody>
        </p:sp>
        <p:sp>
          <p:nvSpPr>
            <p:cNvPr id="497" name="pi_mscl_figure__panel_b__supervised_path__rect_085"/>
            <p:cNvSpPr/>
            <p:nvPr/>
          </p:nvSpPr>
          <p:spPr>
            <a:xfrm>
              <a:off x="5605621" y="3950368"/>
              <a:ext cx="1214095" cy="645330"/>
            </a:xfrm>
            <a:prstGeom prst="roundRect">
              <a:avLst>
                <a:gd name="adj" fmla="val 10169"/>
              </a:avLst>
            </a:prstGeom>
            <a:noFill/>
            <a:ln w="10937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i_mscl_figure__panel_b__supervised_path__polyline_030"/>
            <p:cNvSpPr/>
            <p:nvPr/>
          </p:nvSpPr>
          <p:spPr>
            <a:xfrm>
              <a:off x="5147446" y="4221489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i_mscl_figure__panel_b__supervised_path__polygon_237"/>
            <p:cNvSpPr/>
            <p:nvPr/>
          </p:nvSpPr>
          <p:spPr>
            <a:xfrm>
              <a:off x="5453668" y="419232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module__pi_mscl_figure__panel_b__monotonic_path"/>
          <p:cNvGrpSpPr/>
          <p:nvPr/>
        </p:nvGrpSpPr>
        <p:grpSpPr>
          <a:xfrm>
            <a:off x="386468" y="4812631"/>
            <a:ext cx="7437703" cy="794812"/>
            <a:chOff x="386468" y="4812631"/>
            <a:chExt cx="7437703" cy="794812"/>
          </a:xfrm>
        </p:grpSpPr>
        <p:sp>
          <p:nvSpPr>
            <p:cNvPr id="501" name="pi_mscl_figure__panel_b__monotonic_path__text_070"/>
            <p:cNvSpPr txBox="1"/>
            <p:nvPr/>
          </p:nvSpPr>
          <p:spPr>
            <a:xfrm>
              <a:off x="386468" y="4929301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02" name="pi_mscl_figure__panel_b__monotonic_path__text_071"/>
            <p:cNvSpPr txBox="1"/>
            <p:nvPr/>
          </p:nvSpPr>
          <p:spPr>
            <a:xfrm>
              <a:off x="484909" y="5111597"/>
              <a:ext cx="546889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(ordered cell)</a:t>
              </a:r>
            </a:p>
          </p:txBody>
        </p:sp>
        <p:sp>
          <p:nvSpPr>
            <p:cNvPr id="503" name="pi_mscl_figure__panel_b__monotonic_path__polyline_031"/>
            <p:cNvSpPr/>
            <p:nvPr/>
          </p:nvSpPr>
          <p:spPr>
            <a:xfrm>
              <a:off x="1450909" y="4855806"/>
              <a:ext cx="3528844" cy="554116"/>
            </a:xfrm>
            <a:custGeom>
              <a:avLst/>
              <a:gdLst/>
              <a:ahLst/>
              <a:cxnLst/>
              <a:rect l="l" t="t" r="r" b="b"/>
              <a:pathLst>
                <a:path w="484" h="76">
                  <a:moveTo>
                    <a:pt x="0" y="0"/>
                  </a:moveTo>
                  <a:lnTo>
                    <a:pt x="28" y="6"/>
                  </a:lnTo>
                  <a:lnTo>
                    <a:pt x="57" y="16"/>
                  </a:lnTo>
                  <a:lnTo>
                    <a:pt x="85" y="25"/>
                  </a:lnTo>
                  <a:lnTo>
                    <a:pt x="113" y="34"/>
                  </a:lnTo>
                  <a:lnTo>
                    <a:pt x="141" y="40"/>
                  </a:lnTo>
                  <a:lnTo>
                    <a:pt x="169" y="46"/>
                  </a:lnTo>
                  <a:lnTo>
                    <a:pt x="197" y="52"/>
                  </a:lnTo>
                  <a:lnTo>
                    <a:pt x="225" y="33"/>
                  </a:lnTo>
                  <a:lnTo>
                    <a:pt x="253" y="25"/>
                  </a:lnTo>
                  <a:lnTo>
                    <a:pt x="281" y="33"/>
                  </a:lnTo>
                  <a:lnTo>
                    <a:pt x="311" y="40"/>
                  </a:lnTo>
                  <a:lnTo>
                    <a:pt x="340" y="47"/>
                  </a:lnTo>
                  <a:lnTo>
                    <a:pt x="369" y="54"/>
                  </a:lnTo>
                  <a:lnTo>
                    <a:pt x="398" y="60"/>
                  </a:lnTo>
                  <a:lnTo>
                    <a:pt x="427" y="66"/>
                  </a:lnTo>
                  <a:lnTo>
                    <a:pt x="455" y="71"/>
                  </a:lnTo>
                  <a:lnTo>
                    <a:pt x="484" y="76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i_mscl_figure__panel_b__monotonic_path__circle_041"/>
            <p:cNvSpPr/>
            <p:nvPr/>
          </p:nvSpPr>
          <p:spPr>
            <a:xfrm>
              <a:off x="1418267" y="482356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i_mscl_figure__panel_b__monotonic_path__circle_042"/>
            <p:cNvSpPr/>
            <p:nvPr/>
          </p:nvSpPr>
          <p:spPr>
            <a:xfrm>
              <a:off x="1622440" y="486732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i_mscl_figure__panel_b__monotonic_path__circle_043"/>
            <p:cNvSpPr/>
            <p:nvPr/>
          </p:nvSpPr>
          <p:spPr>
            <a:xfrm>
              <a:off x="1833904" y="494023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i_mscl_figure__panel_b__monotonic_path__circle_044"/>
            <p:cNvSpPr/>
            <p:nvPr/>
          </p:nvSpPr>
          <p:spPr>
            <a:xfrm>
              <a:off x="2038076" y="500586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i_mscl_figure__panel_b__monotonic_path__circle_045"/>
            <p:cNvSpPr/>
            <p:nvPr/>
          </p:nvSpPr>
          <p:spPr>
            <a:xfrm>
              <a:off x="2242248" y="507149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i_mscl_figure__panel_b__monotonic_path__circle_046"/>
            <p:cNvSpPr/>
            <p:nvPr/>
          </p:nvSpPr>
          <p:spPr>
            <a:xfrm>
              <a:off x="2446420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i_mscl_figure__panel_b__monotonic_path__circle_047"/>
            <p:cNvSpPr/>
            <p:nvPr/>
          </p:nvSpPr>
          <p:spPr>
            <a:xfrm>
              <a:off x="2650593" y="515899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i_mscl_figure__panel_b__monotonic_path__circle_048"/>
            <p:cNvSpPr/>
            <p:nvPr/>
          </p:nvSpPr>
          <p:spPr>
            <a:xfrm>
              <a:off x="2854765" y="5202746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i_mscl_figure__panel_b__monotonic_path__circle_049"/>
            <p:cNvSpPr/>
            <p:nvPr/>
          </p:nvSpPr>
          <p:spPr>
            <a:xfrm>
              <a:off x="3058937" y="5064200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i_mscl_figure__panel_b__monotonic_path__circle_050"/>
            <p:cNvSpPr/>
            <p:nvPr/>
          </p:nvSpPr>
          <p:spPr>
            <a:xfrm>
              <a:off x="3263109" y="5005865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i_mscl_figure__panel_b__monotonic_path__circle_051"/>
            <p:cNvSpPr/>
            <p:nvPr/>
          </p:nvSpPr>
          <p:spPr>
            <a:xfrm>
              <a:off x="3467282" y="506420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i_mscl_figure__panel_b__monotonic_path__circle_052"/>
            <p:cNvSpPr/>
            <p:nvPr/>
          </p:nvSpPr>
          <p:spPr>
            <a:xfrm>
              <a:off x="3686038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i_mscl_figure__panel_b__monotonic_path__circle_053"/>
            <p:cNvSpPr/>
            <p:nvPr/>
          </p:nvSpPr>
          <p:spPr>
            <a:xfrm>
              <a:off x="3897502" y="5166286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i_mscl_figure__panel_b__monotonic_path__circle_054"/>
            <p:cNvSpPr/>
            <p:nvPr/>
          </p:nvSpPr>
          <p:spPr>
            <a:xfrm>
              <a:off x="4108966" y="521733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i_mscl_figure__panel_b__monotonic_path__circle_055"/>
            <p:cNvSpPr/>
            <p:nvPr/>
          </p:nvSpPr>
          <p:spPr>
            <a:xfrm>
              <a:off x="4320430" y="526108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i_mscl_figure__panel_b__monotonic_path__circle_056"/>
            <p:cNvSpPr/>
            <p:nvPr/>
          </p:nvSpPr>
          <p:spPr>
            <a:xfrm>
              <a:off x="4531894" y="530483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i_mscl_figure__panel_b__monotonic_path__circle_057"/>
            <p:cNvSpPr/>
            <p:nvPr/>
          </p:nvSpPr>
          <p:spPr>
            <a:xfrm>
              <a:off x="4736066" y="534129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i_mscl_figure__panel_b__monotonic_path__circle_058"/>
            <p:cNvSpPr/>
            <p:nvPr/>
          </p:nvSpPr>
          <p:spPr>
            <a:xfrm>
              <a:off x="4947530" y="537775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i_mscl_figure__panel_b__monotonic_path__polyline_032"/>
            <p:cNvSpPr/>
            <p:nvPr/>
          </p:nvSpPr>
          <p:spPr>
            <a:xfrm>
              <a:off x="2887236" y="5038081"/>
              <a:ext cx="408296" cy="196857"/>
            </a:xfrm>
            <a:custGeom>
              <a:avLst/>
              <a:gdLst/>
              <a:ahLst/>
              <a:cxnLst/>
              <a:rect l="l" t="t" r="r" b="b"/>
              <a:pathLst>
                <a:path w="56" h="27">
                  <a:moveTo>
                    <a:pt x="0" y="27"/>
                  </a:moveTo>
                  <a:lnTo>
                    <a:pt x="28" y="8"/>
                  </a:lnTo>
                  <a:lnTo>
                    <a:pt x="56" y="0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i_mscl_figure__panel_b__monotonic_path__ellipse_001"/>
            <p:cNvSpPr/>
            <p:nvPr/>
          </p:nvSpPr>
          <p:spPr>
            <a:xfrm>
              <a:off x="2916746" y="4900133"/>
              <a:ext cx="554181" cy="466679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4" name="pi_mscl_figure__panel_b__monotonic_path__line_016"/>
            <p:cNvCxnSpPr/>
            <p:nvPr/>
          </p:nvCxnSpPr>
          <p:spPr>
            <a:xfrm>
              <a:off x="1421913" y="5410564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25" name="pi_mscl_figure__panel_b__monotonic_path__text_072"/>
            <p:cNvSpPr txBox="1"/>
            <p:nvPr/>
          </p:nvSpPr>
          <p:spPr>
            <a:xfrm>
              <a:off x="1414621" y="549806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526" name="pi_mscl_figure__panel_b__monotonic_path__text_073"/>
            <p:cNvSpPr txBox="1"/>
            <p:nvPr/>
          </p:nvSpPr>
          <p:spPr>
            <a:xfrm>
              <a:off x="4922009" y="549806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527" name="pi_mscl_figure__panel_b__monotonic_path__rect_086"/>
            <p:cNvSpPr/>
            <p:nvPr/>
          </p:nvSpPr>
          <p:spPr>
            <a:xfrm>
              <a:off x="5600152" y="4812631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DED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i_mscl_figure__panel_b__monotonic_path__text_074"/>
            <p:cNvSpPr txBox="1"/>
            <p:nvPr/>
          </p:nvSpPr>
          <p:spPr>
            <a:xfrm>
              <a:off x="5764219" y="4929301"/>
              <a:ext cx="896899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Soft monotonicity</a:t>
              </a:r>
            </a:p>
          </p:txBody>
        </p:sp>
        <p:sp>
          <p:nvSpPr>
            <p:cNvPr id="529" name="pi_mscl_figure__panel_b__monotonic_path__text_075"/>
            <p:cNvSpPr txBox="1"/>
            <p:nvPr/>
          </p:nvSpPr>
          <p:spPr>
            <a:xfrm>
              <a:off x="6049331" y="5126181"/>
              <a:ext cx="326675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ℒₘₒₙₒ</a:t>
              </a:r>
            </a:p>
          </p:txBody>
        </p:sp>
        <p:sp>
          <p:nvSpPr>
            <p:cNvPr id="530" name="pi_mscl_figure__panel_b__monotonic_path__rect_087"/>
            <p:cNvSpPr/>
            <p:nvPr/>
          </p:nvSpPr>
          <p:spPr>
            <a:xfrm>
              <a:off x="5605621" y="4818100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i_mscl_figure__panel_b__monotonic_path__polyline_033"/>
            <p:cNvSpPr/>
            <p:nvPr/>
          </p:nvSpPr>
          <p:spPr>
            <a:xfrm>
              <a:off x="5147446" y="5103700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i_mscl_figure__panel_b__monotonic_path__polygon_238"/>
            <p:cNvSpPr/>
            <p:nvPr/>
          </p:nvSpPr>
          <p:spPr>
            <a:xfrm>
              <a:off x="5453668" y="507453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i_mscl_figure__panel_b__monotonic_path__polyline_034"/>
            <p:cNvSpPr/>
            <p:nvPr/>
          </p:nvSpPr>
          <p:spPr>
            <a:xfrm>
              <a:off x="6824376" y="5110991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10208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i_mscl_figure__panel_b__monotonic_path__polygon_239"/>
            <p:cNvSpPr/>
            <p:nvPr/>
          </p:nvSpPr>
          <p:spPr>
            <a:xfrm>
              <a:off x="7101434" y="508911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i_mscl_figure__panel_b__monotonic_path__rect_088"/>
            <p:cNvSpPr/>
            <p:nvPr/>
          </p:nvSpPr>
          <p:spPr>
            <a:xfrm>
              <a:off x="7167904" y="4849090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i_mscl_figure__panel_b__monotonic_path__text_076"/>
            <p:cNvSpPr txBox="1"/>
            <p:nvPr/>
          </p:nvSpPr>
          <p:spPr>
            <a:xfrm>
              <a:off x="7321033" y="4914717"/>
              <a:ext cx="350009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Δc ≤ 40</a:t>
              </a:r>
            </a:p>
          </p:txBody>
        </p:sp>
        <p:sp>
          <p:nvSpPr>
            <p:cNvPr id="537" name="pi_mscl_figure__panel_b__monotonic_path__rect_089"/>
            <p:cNvSpPr/>
            <p:nvPr/>
          </p:nvSpPr>
          <p:spPr>
            <a:xfrm>
              <a:off x="7167904" y="5155349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i_mscl_figure__panel_b__monotonic_path__text_077"/>
            <p:cNvSpPr txBox="1"/>
            <p:nvPr/>
          </p:nvSpPr>
          <p:spPr>
            <a:xfrm>
              <a:off x="7328325" y="5228267"/>
              <a:ext cx="335425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c ≥ 300</a:t>
              </a:r>
            </a:p>
          </p:txBody>
        </p:sp>
      </p:grpSp>
      <p:grpSp>
        <p:nvGrpSpPr>
          <p:cNvPr id="539" name="module__pi_mscl_figure__panel_b__rate_path"/>
          <p:cNvGrpSpPr/>
          <p:nvPr/>
        </p:nvGrpSpPr>
        <p:grpSpPr>
          <a:xfrm>
            <a:off x="386468" y="5512650"/>
            <a:ext cx="6438717" cy="1130238"/>
            <a:chOff x="386468" y="5512650"/>
            <a:chExt cx="6438717" cy="1130238"/>
          </a:xfrm>
        </p:grpSpPr>
        <p:sp>
          <p:nvSpPr>
            <p:cNvPr id="540" name="pi_mscl_figure__panel_b__rate_path__text_078"/>
            <p:cNvSpPr txBox="1"/>
            <p:nvPr/>
          </p:nvSpPr>
          <p:spPr>
            <a:xfrm>
              <a:off x="386468" y="5848076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41" name="pi_mscl_figure__panel_b__rate_path__text_079"/>
            <p:cNvSpPr txBox="1"/>
            <p:nvPr/>
          </p:nvSpPr>
          <p:spPr>
            <a:xfrm>
              <a:off x="444803" y="6030373"/>
              <a:ext cx="627100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(local segment)</a:t>
              </a:r>
            </a:p>
          </p:txBody>
        </p:sp>
        <p:sp>
          <p:nvSpPr>
            <p:cNvPr id="542" name="pi_mscl_figure__panel_b__rate_path__polyline_035"/>
            <p:cNvSpPr/>
            <p:nvPr/>
          </p:nvSpPr>
          <p:spPr>
            <a:xfrm>
              <a:off x="1487364" y="5635943"/>
              <a:ext cx="1181142" cy="255185"/>
            </a:xfrm>
            <a:custGeom>
              <a:avLst/>
              <a:gdLst/>
              <a:ahLst/>
              <a:cxnLst/>
              <a:rect l="l" t="t" r="r" b="b"/>
              <a:pathLst>
                <a:path w="162" h="35">
                  <a:moveTo>
                    <a:pt x="0" y="35"/>
                  </a:moveTo>
                  <a:lnTo>
                    <a:pt x="24" y="30"/>
                  </a:lnTo>
                  <a:lnTo>
                    <a:pt x="48" y="24"/>
                  </a:lnTo>
                  <a:lnTo>
                    <a:pt x="73" y="18"/>
                  </a:lnTo>
                  <a:lnTo>
                    <a:pt x="98" y="13"/>
                  </a:lnTo>
                  <a:lnTo>
                    <a:pt x="122" y="7"/>
                  </a:lnTo>
                  <a:lnTo>
                    <a:pt x="146" y="0"/>
                  </a:lnTo>
                  <a:lnTo>
                    <a:pt x="162" y="5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i_mscl_figure__panel_b__rate_path__polyline_036"/>
            <p:cNvSpPr/>
            <p:nvPr/>
          </p:nvSpPr>
          <p:spPr>
            <a:xfrm>
              <a:off x="2668506" y="5672398"/>
              <a:ext cx="328095" cy="320804"/>
            </a:xfrm>
            <a:custGeom>
              <a:avLst/>
              <a:gdLst/>
              <a:ahLst/>
              <a:cxnLst/>
              <a:rect l="l" t="t" r="r" b="b"/>
              <a:pathLst>
                <a:path w="45" h="44">
                  <a:moveTo>
                    <a:pt x="0" y="0"/>
                  </a:moveTo>
                  <a:lnTo>
                    <a:pt x="14" y="26"/>
                  </a:lnTo>
                  <a:lnTo>
                    <a:pt x="29" y="36"/>
                  </a:lnTo>
                  <a:lnTo>
                    <a:pt x="45" y="44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i_mscl_figure__panel_b__rate_path__polyline_037"/>
            <p:cNvSpPr/>
            <p:nvPr/>
          </p:nvSpPr>
          <p:spPr>
            <a:xfrm>
              <a:off x="2996601" y="5978620"/>
              <a:ext cx="1990443" cy="189566"/>
            </a:xfrm>
            <a:custGeom>
              <a:avLst/>
              <a:gdLst/>
              <a:ahLst/>
              <a:cxnLst/>
              <a:rect l="l" t="t" r="r" b="b"/>
              <a:pathLst>
                <a:path w="273" h="26">
                  <a:moveTo>
                    <a:pt x="0" y="2"/>
                  </a:moveTo>
                  <a:lnTo>
                    <a:pt x="27" y="0"/>
                  </a:lnTo>
                  <a:lnTo>
                    <a:pt x="57" y="3"/>
                  </a:lnTo>
                  <a:lnTo>
                    <a:pt x="89" y="7"/>
                  </a:lnTo>
                  <a:lnTo>
                    <a:pt x="123" y="11"/>
                  </a:lnTo>
                  <a:lnTo>
                    <a:pt x="159" y="15"/>
                  </a:lnTo>
                  <a:lnTo>
                    <a:pt x="195" y="19"/>
                  </a:lnTo>
                  <a:lnTo>
                    <a:pt x="233" y="22"/>
                  </a:lnTo>
                  <a:lnTo>
                    <a:pt x="273" y="26"/>
                  </a:lnTo>
                </a:path>
              </a:pathLst>
            </a:custGeom>
            <a:noFill/>
            <a:ln w="14583">
              <a:solidFill>
                <a:srgbClr val="73A95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pi_mscl_figure__panel_b__rate_path__circle_059"/>
            <p:cNvSpPr/>
            <p:nvPr/>
          </p:nvSpPr>
          <p:spPr>
            <a:xfrm>
              <a:off x="1456914" y="586120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pi_mscl_figure__panel_b__rate_path__circle_060"/>
            <p:cNvSpPr/>
            <p:nvPr/>
          </p:nvSpPr>
          <p:spPr>
            <a:xfrm>
              <a:off x="1631919" y="5824742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pi_mscl_figure__panel_b__rate_path__circle_061"/>
            <p:cNvSpPr/>
            <p:nvPr/>
          </p:nvSpPr>
          <p:spPr>
            <a:xfrm>
              <a:off x="1806924" y="578099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pi_mscl_figure__panel_b__rate_path__circle_062"/>
            <p:cNvSpPr/>
            <p:nvPr/>
          </p:nvSpPr>
          <p:spPr>
            <a:xfrm>
              <a:off x="1989221" y="573724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pi_mscl_figure__panel_b__rate_path__circle_063"/>
            <p:cNvSpPr/>
            <p:nvPr/>
          </p:nvSpPr>
          <p:spPr>
            <a:xfrm>
              <a:off x="2171517" y="570078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pi_mscl_figure__panel_b__rate_path__circle_064"/>
            <p:cNvSpPr/>
            <p:nvPr/>
          </p:nvSpPr>
          <p:spPr>
            <a:xfrm>
              <a:off x="2346522" y="5657029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i_mscl_figure__panel_b__rate_path__circle_065"/>
            <p:cNvSpPr/>
            <p:nvPr/>
          </p:nvSpPr>
          <p:spPr>
            <a:xfrm>
              <a:off x="2521527" y="5605986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pi_mscl_figure__panel_b__rate_path__circle_066"/>
            <p:cNvSpPr/>
            <p:nvPr/>
          </p:nvSpPr>
          <p:spPr>
            <a:xfrm>
              <a:off x="2638197" y="5642445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pi_mscl_figure__panel_b__rate_path__circle_067"/>
            <p:cNvSpPr/>
            <p:nvPr/>
          </p:nvSpPr>
          <p:spPr>
            <a:xfrm>
              <a:off x="2740283" y="5832034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pi_mscl_figure__panel_b__rate_path__circle_068"/>
            <p:cNvSpPr/>
            <p:nvPr/>
          </p:nvSpPr>
          <p:spPr>
            <a:xfrm>
              <a:off x="2849661" y="5904952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pi_mscl_figure__panel_b__rate_path__circle_069"/>
            <p:cNvSpPr/>
            <p:nvPr/>
          </p:nvSpPr>
          <p:spPr>
            <a:xfrm>
              <a:off x="2966331" y="5963287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pi_mscl_figure__panel_b__rate_path__circle_070"/>
            <p:cNvSpPr/>
            <p:nvPr/>
          </p:nvSpPr>
          <p:spPr>
            <a:xfrm>
              <a:off x="3163211" y="594870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pi_mscl_figure__panel_b__rate_path__circle_071"/>
            <p:cNvSpPr/>
            <p:nvPr/>
          </p:nvSpPr>
          <p:spPr>
            <a:xfrm>
              <a:off x="3381967" y="597057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pi_mscl_figure__panel_b__rate_path__circle_072"/>
            <p:cNvSpPr/>
            <p:nvPr/>
          </p:nvSpPr>
          <p:spPr>
            <a:xfrm>
              <a:off x="3615307" y="5999747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pi_mscl_figure__panel_b__rate_path__circle_073"/>
            <p:cNvSpPr/>
            <p:nvPr/>
          </p:nvSpPr>
          <p:spPr>
            <a:xfrm>
              <a:off x="3863230" y="602891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pi_mscl_figure__panel_b__rate_path__circle_074"/>
            <p:cNvSpPr/>
            <p:nvPr/>
          </p:nvSpPr>
          <p:spPr>
            <a:xfrm>
              <a:off x="4125737" y="605808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i_mscl_figure__panel_b__rate_path__circle_075"/>
            <p:cNvSpPr/>
            <p:nvPr/>
          </p:nvSpPr>
          <p:spPr>
            <a:xfrm>
              <a:off x="4388244" y="608724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i_mscl_figure__panel_b__rate_path__circle_076"/>
            <p:cNvSpPr/>
            <p:nvPr/>
          </p:nvSpPr>
          <p:spPr>
            <a:xfrm>
              <a:off x="4665335" y="6109125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i_mscl_figure__panel_b__rate_path__circle_077"/>
            <p:cNvSpPr/>
            <p:nvPr/>
          </p:nvSpPr>
          <p:spPr>
            <a:xfrm>
              <a:off x="4957010" y="613829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i_mscl_figure__panel_b__rate_path__ellipse_002"/>
            <p:cNvSpPr/>
            <p:nvPr/>
          </p:nvSpPr>
          <p:spPr>
            <a:xfrm>
              <a:off x="2515693" y="5512650"/>
              <a:ext cx="568765" cy="685435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5" name="pi_mscl_figure__panel_b__rate_path__line_017"/>
            <p:cNvCxnSpPr/>
            <p:nvPr/>
          </p:nvCxnSpPr>
          <p:spPr>
            <a:xfrm>
              <a:off x="1421913" y="6278296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66" name="pi_mscl_figure__panel_b__rate_path__text_080"/>
            <p:cNvSpPr txBox="1"/>
            <p:nvPr/>
          </p:nvSpPr>
          <p:spPr>
            <a:xfrm>
              <a:off x="1348995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− w</a:t>
              </a:r>
            </a:p>
          </p:txBody>
        </p:sp>
        <p:sp>
          <p:nvSpPr>
            <p:cNvPr id="567" name="pi_mscl_figure__panel_b__rate_path__text_081"/>
            <p:cNvSpPr txBox="1"/>
            <p:nvPr/>
          </p:nvSpPr>
          <p:spPr>
            <a:xfrm>
              <a:off x="2654239" y="6373090"/>
              <a:ext cx="58334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</a:t>
              </a:r>
            </a:p>
          </p:txBody>
        </p:sp>
        <p:sp>
          <p:nvSpPr>
            <p:cNvPr id="568" name="pi_mscl_figure__panel_b__rate_path__text_082"/>
            <p:cNvSpPr txBox="1"/>
            <p:nvPr/>
          </p:nvSpPr>
          <p:spPr>
            <a:xfrm>
              <a:off x="4870966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+ w</a:t>
              </a:r>
            </a:p>
          </p:txBody>
        </p:sp>
        <p:sp>
          <p:nvSpPr>
            <p:cNvPr id="569" name="pi_mscl_figure__panel_b__rate_path__text_083"/>
            <p:cNvSpPr txBox="1"/>
            <p:nvPr/>
          </p:nvSpPr>
          <p:spPr>
            <a:xfrm>
              <a:off x="3022478" y="6533511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570" name="pi_mscl_figure__panel_b__rate_path__rect_090"/>
            <p:cNvSpPr/>
            <p:nvPr/>
          </p:nvSpPr>
          <p:spPr>
            <a:xfrm>
              <a:off x="5600152" y="5753282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3EF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i_mscl_figure__panel_b__rate_path__text_084"/>
            <p:cNvSpPr txBox="1"/>
            <p:nvPr/>
          </p:nvSpPr>
          <p:spPr>
            <a:xfrm>
              <a:off x="5829846" y="5869952"/>
              <a:ext cx="76564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Rate continuity</a:t>
              </a:r>
            </a:p>
          </p:txBody>
        </p:sp>
        <p:sp>
          <p:nvSpPr>
            <p:cNvPr id="572" name="pi_mscl_figure__panel_b__rate_path__text_085"/>
            <p:cNvSpPr txBox="1"/>
            <p:nvPr/>
          </p:nvSpPr>
          <p:spPr>
            <a:xfrm>
              <a:off x="6071207" y="6066832"/>
              <a:ext cx="282924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ℒᵣₐₜₑ</a:t>
              </a:r>
            </a:p>
          </p:txBody>
        </p:sp>
        <p:sp>
          <p:nvSpPr>
            <p:cNvPr id="573" name="pi_mscl_figure__panel_b__rate_path__rect_091"/>
            <p:cNvSpPr/>
            <p:nvPr/>
          </p:nvSpPr>
          <p:spPr>
            <a:xfrm>
              <a:off x="5605621" y="5758751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i_mscl_figure__panel_b__rate_path__polyline_038"/>
            <p:cNvSpPr/>
            <p:nvPr/>
          </p:nvSpPr>
          <p:spPr>
            <a:xfrm>
              <a:off x="5147446" y="6058821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i_mscl_figure__panel_b__rate_path__polygon_240"/>
            <p:cNvSpPr/>
            <p:nvPr/>
          </p:nvSpPr>
          <p:spPr>
            <a:xfrm>
              <a:off x="5453668" y="60296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module__pi_mscl_figure__panel_b__objective"/>
          <p:cNvGrpSpPr/>
          <p:nvPr/>
        </p:nvGrpSpPr>
        <p:grpSpPr>
          <a:xfrm>
            <a:off x="9151291" y="4834507"/>
            <a:ext cx="2625071" cy="751062"/>
            <a:chOff x="9151291" y="4834507"/>
            <a:chExt cx="2625071" cy="751062"/>
          </a:xfrm>
        </p:grpSpPr>
        <p:sp>
          <p:nvSpPr>
            <p:cNvPr id="577" name="pi_mscl_figure__panel_b__objective__rect_092"/>
            <p:cNvSpPr/>
            <p:nvPr/>
          </p:nvSpPr>
          <p:spPr>
            <a:xfrm>
              <a:off x="9151291" y="4834507"/>
              <a:ext cx="2625071" cy="751062"/>
            </a:xfrm>
            <a:prstGeom prst="roundRect">
              <a:avLst>
                <a:gd name="adj" fmla="val 9708"/>
              </a:avLst>
            </a:prstGeom>
            <a:solidFill>
              <a:srgbClr val="EEF5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i_mscl_figure__panel_b__objective__text_086"/>
            <p:cNvSpPr txBox="1"/>
            <p:nvPr/>
          </p:nvSpPr>
          <p:spPr>
            <a:xfrm>
              <a:off x="9982564" y="5016803"/>
              <a:ext cx="96252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Training objective</a:t>
              </a:r>
            </a:p>
          </p:txBody>
        </p:sp>
        <p:sp>
          <p:nvSpPr>
            <p:cNvPr id="579" name="pi_mscl_figure__panel_b__objective__text_087"/>
            <p:cNvSpPr txBox="1"/>
            <p:nvPr/>
          </p:nvSpPr>
          <p:spPr>
            <a:xfrm>
              <a:off x="9627742" y="5257435"/>
              <a:ext cx="1672170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1">
                  <a:solidFill>
                    <a:srgbClr val="111111"/>
                  </a:solidFill>
                  <a:latin typeface="Times New Roman"/>
                </a:rPr>
                <a:t>ℒ = ℒₛᵤₚ + λₘₒₙₒℒₘₒₙₒ + λᵣₐₜₑℒᵣₐₜₑ</a:t>
              </a:r>
            </a:p>
          </p:txBody>
        </p:sp>
        <p:sp>
          <p:nvSpPr>
            <p:cNvPr id="580" name="pi_mscl_figure__panel_b__objective__rect_093"/>
            <p:cNvSpPr/>
            <p:nvPr/>
          </p:nvSpPr>
          <p:spPr>
            <a:xfrm>
              <a:off x="9156760" y="4839975"/>
              <a:ext cx="2614133" cy="740124"/>
            </a:xfrm>
            <a:prstGeom prst="roundRect">
              <a:avLst>
                <a:gd name="adj" fmla="val 8866"/>
              </a:avLst>
            </a:prstGeom>
            <a:noFill/>
            <a:ln w="10937">
              <a:solidFill>
                <a:srgbClr val="1F5E9E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1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(grouped modules)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